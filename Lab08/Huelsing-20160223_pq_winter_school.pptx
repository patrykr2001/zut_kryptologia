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8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49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76.xml" ContentType="application/vnd.openxmlformats-officedocument.presentationml.slide+xml"/>
  <Override PartName="/ppt/slides/slide75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2.xml" ContentType="application/vnd.openxmlformats-officedocument.presentationml.slide+xml"/>
  <Override PartName="/ppt/slides/slide81.xml" ContentType="application/vnd.openxmlformats-officedocument.presentationml.slide+xml"/>
  <Override PartName="/ppt/slides/slide80.xml" ContentType="application/vnd.openxmlformats-officedocument.presentationml.slide+xml"/>
  <Override PartName="/ppt/slides/slide70.xml" ContentType="application/vnd.openxmlformats-officedocument.presentationml.slide+xml"/>
  <Override PartName="/ppt/slides/slide69.xml" ContentType="application/vnd.openxmlformats-officedocument.presentationml.slide+xml"/>
  <Override PartName="/ppt/slides/slide68.xml" ContentType="application/vnd.openxmlformats-officedocument.presentationml.slide+xml"/>
  <Override PartName="/ppt/slides/slide59.xml" ContentType="application/vnd.openxmlformats-officedocument.presentationml.slide+xml"/>
  <Override PartName="/ppt/slides/slide58.xml" ContentType="application/vnd.openxmlformats-officedocument.presentationml.slide+xml"/>
  <Override PartName="/ppt/slides/slide57.xml" ContentType="application/vnd.openxmlformats-officedocument.presentationml.slide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7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19.xml" ContentType="application/vnd.openxmlformats-officedocument.presentationml.slide+xml"/>
  <Override PartName="/ppt/slides/slide84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theme/theme2.xml" ContentType="application/vnd.openxmlformats-officedocument.them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8"/>
  </p:notesMasterIdLst>
  <p:sldIdLst>
    <p:sldId id="257" r:id="rId2"/>
    <p:sldId id="258" r:id="rId3"/>
    <p:sldId id="259" r:id="rId4"/>
    <p:sldId id="261" r:id="rId5"/>
    <p:sldId id="348" r:id="rId6"/>
    <p:sldId id="322" r:id="rId7"/>
    <p:sldId id="323" r:id="rId8"/>
    <p:sldId id="324" r:id="rId9"/>
    <p:sldId id="325" r:id="rId10"/>
    <p:sldId id="354" r:id="rId11"/>
    <p:sldId id="355" r:id="rId12"/>
    <p:sldId id="349" r:id="rId13"/>
    <p:sldId id="350" r:id="rId14"/>
    <p:sldId id="351" r:id="rId15"/>
    <p:sldId id="352" r:id="rId16"/>
    <p:sldId id="262" r:id="rId17"/>
    <p:sldId id="263" r:id="rId18"/>
    <p:sldId id="267" r:id="rId19"/>
    <p:sldId id="268" r:id="rId20"/>
    <p:sldId id="332" r:id="rId21"/>
    <p:sldId id="328" r:id="rId22"/>
    <p:sldId id="333" r:id="rId23"/>
    <p:sldId id="334" r:id="rId24"/>
    <p:sldId id="335" r:id="rId25"/>
    <p:sldId id="336" r:id="rId26"/>
    <p:sldId id="269" r:id="rId27"/>
    <p:sldId id="329" r:id="rId28"/>
    <p:sldId id="337" r:id="rId29"/>
    <p:sldId id="338" r:id="rId30"/>
    <p:sldId id="330" r:id="rId31"/>
    <p:sldId id="275" r:id="rId32"/>
    <p:sldId id="343" r:id="rId33"/>
    <p:sldId id="276" r:id="rId34"/>
    <p:sldId id="344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339" r:id="rId45"/>
    <p:sldId id="340" r:id="rId46"/>
    <p:sldId id="341" r:id="rId47"/>
    <p:sldId id="377" r:id="rId48"/>
    <p:sldId id="357" r:id="rId49"/>
    <p:sldId id="358" r:id="rId50"/>
    <p:sldId id="359" r:id="rId51"/>
    <p:sldId id="360" r:id="rId52"/>
    <p:sldId id="361" r:id="rId53"/>
    <p:sldId id="362" r:id="rId54"/>
    <p:sldId id="363" r:id="rId55"/>
    <p:sldId id="364" r:id="rId56"/>
    <p:sldId id="365" r:id="rId57"/>
    <p:sldId id="366" r:id="rId58"/>
    <p:sldId id="367" r:id="rId59"/>
    <p:sldId id="368" r:id="rId60"/>
    <p:sldId id="369" r:id="rId61"/>
    <p:sldId id="370" r:id="rId62"/>
    <p:sldId id="371" r:id="rId63"/>
    <p:sldId id="372" r:id="rId64"/>
    <p:sldId id="373" r:id="rId65"/>
    <p:sldId id="374" r:id="rId66"/>
    <p:sldId id="375" r:id="rId67"/>
    <p:sldId id="376" r:id="rId68"/>
    <p:sldId id="379" r:id="rId69"/>
    <p:sldId id="380" r:id="rId70"/>
    <p:sldId id="381" r:id="rId71"/>
    <p:sldId id="384" r:id="rId72"/>
    <p:sldId id="382" r:id="rId73"/>
    <p:sldId id="378" r:id="rId74"/>
    <p:sldId id="356" r:id="rId75"/>
    <p:sldId id="345" r:id="rId76"/>
    <p:sldId id="346" r:id="rId77"/>
    <p:sldId id="306" r:id="rId78"/>
    <p:sldId id="307" r:id="rId79"/>
    <p:sldId id="308" r:id="rId80"/>
    <p:sldId id="309" r:id="rId81"/>
    <p:sldId id="310" r:id="rId82"/>
    <p:sldId id="311" r:id="rId83"/>
    <p:sldId id="312" r:id="rId84"/>
    <p:sldId id="342" r:id="rId85"/>
    <p:sldId id="383" r:id="rId86"/>
    <p:sldId id="321" r:id="rId8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8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95" Type="http://schemas.openxmlformats.org/officeDocument/2006/relationships/customXml" Target="../customXml/item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DB81D0-1B2B-41DF-8D04-8E3B86ED5D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05B7FE56-DE2E-4545-B246-FC1C7663D6B1}">
      <dgm:prSet/>
      <dgm:spPr>
        <a:solidFill>
          <a:srgbClr val="00C800"/>
        </a:solidFill>
        <a:ln>
          <a:noFill/>
        </a:ln>
      </dgm:spPr>
      <dgm:t>
        <a:bodyPr/>
        <a:lstStyle/>
        <a:p>
          <a:pPr rtl="0"/>
          <a:r>
            <a:rPr lang="en-US" dirty="0" smtClean="0">
              <a:solidFill>
                <a:schemeClr val="tx1"/>
              </a:solidFill>
            </a:rPr>
            <a:t>Post quantum</a:t>
          </a:r>
          <a:endParaRPr lang="de-DE" dirty="0">
            <a:solidFill>
              <a:schemeClr val="tx1"/>
            </a:solidFill>
          </a:endParaRPr>
        </a:p>
      </dgm:t>
    </dgm:pt>
    <dgm:pt modelId="{230036BB-DDA8-4BBC-8BD9-F6F2A5758973}" type="sibTrans" cxnId="{EFF2FCDB-DC61-46D2-B767-38A651E6F100}">
      <dgm:prSet/>
      <dgm:spPr/>
      <dgm:t>
        <a:bodyPr/>
        <a:lstStyle/>
        <a:p>
          <a:endParaRPr lang="de-DE"/>
        </a:p>
      </dgm:t>
    </dgm:pt>
    <dgm:pt modelId="{2F3DA82B-D7B3-4EB4-9A55-2021AF94BD1A}" type="parTrans" cxnId="{EFF2FCDB-DC61-46D2-B767-38A651E6F100}">
      <dgm:prSet/>
      <dgm:spPr/>
      <dgm:t>
        <a:bodyPr/>
        <a:lstStyle/>
        <a:p>
          <a:endParaRPr lang="de-DE"/>
        </a:p>
      </dgm:t>
    </dgm:pt>
    <dgm:pt modelId="{4F2DD670-B497-4083-ABD1-7DE8ED43F049}">
      <dgm:prSet/>
      <dgm:spPr>
        <a:solidFill>
          <a:srgbClr val="00C800"/>
        </a:solidFill>
        <a:ln>
          <a:noFill/>
        </a:ln>
      </dgm:spPr>
      <dgm:t>
        <a:bodyPr/>
        <a:lstStyle/>
        <a:p>
          <a:pPr rtl="0"/>
          <a:r>
            <a:rPr lang="en-US" dirty="0" smtClean="0">
              <a:solidFill>
                <a:schemeClr val="tx1"/>
              </a:solidFill>
            </a:rPr>
            <a:t>Only secure hash function</a:t>
          </a:r>
          <a:endParaRPr lang="de-DE" dirty="0">
            <a:solidFill>
              <a:schemeClr val="tx1"/>
            </a:solidFill>
          </a:endParaRPr>
        </a:p>
      </dgm:t>
    </dgm:pt>
    <dgm:pt modelId="{5A5FA58D-F7C2-4E28-9F0E-43B0544D5593}" type="parTrans" cxnId="{A31BF2D4-02A5-4EC3-AEAC-0D9D60FAB0B8}">
      <dgm:prSet/>
      <dgm:spPr/>
      <dgm:t>
        <a:bodyPr/>
        <a:lstStyle/>
        <a:p>
          <a:endParaRPr lang="en-US"/>
        </a:p>
      </dgm:t>
    </dgm:pt>
    <dgm:pt modelId="{1AF4BEAD-F945-49B7-BDF2-51E496DB2CDB}" type="sibTrans" cxnId="{A31BF2D4-02A5-4EC3-AEAC-0D9D60FAB0B8}">
      <dgm:prSet/>
      <dgm:spPr/>
      <dgm:t>
        <a:bodyPr/>
        <a:lstStyle/>
        <a:p>
          <a:endParaRPr lang="en-US"/>
        </a:p>
      </dgm:t>
    </dgm:pt>
    <dgm:pt modelId="{A92A88D6-2727-4E75-A28A-5B04E4A3B624}">
      <dgm:prSet/>
      <dgm:spPr>
        <a:solidFill>
          <a:srgbClr val="00C800"/>
        </a:solidFill>
        <a:ln>
          <a:noFill/>
        </a:ln>
      </dgm:spPr>
      <dgm:t>
        <a:bodyPr/>
        <a:lstStyle/>
        <a:p>
          <a:pPr rtl="0"/>
          <a:r>
            <a:rPr lang="de-DE" dirty="0" smtClean="0">
              <a:solidFill>
                <a:schemeClr val="tx1"/>
              </a:solidFill>
            </a:rPr>
            <a:t>Security well understood</a:t>
          </a:r>
          <a:endParaRPr lang="de-DE" dirty="0">
            <a:solidFill>
              <a:schemeClr val="tx1"/>
            </a:solidFill>
          </a:endParaRPr>
        </a:p>
      </dgm:t>
    </dgm:pt>
    <dgm:pt modelId="{22E0D34C-E792-43F9-85F1-D3EA0A7B0BE3}" type="parTrans" cxnId="{F5C72B25-68DD-4967-A418-54EC51BB1B03}">
      <dgm:prSet/>
      <dgm:spPr/>
      <dgm:t>
        <a:bodyPr/>
        <a:lstStyle/>
        <a:p>
          <a:endParaRPr lang="en-US"/>
        </a:p>
      </dgm:t>
    </dgm:pt>
    <dgm:pt modelId="{025A8ED2-1E9C-4CC9-86CD-ADF7F4A57EB9}" type="sibTrans" cxnId="{F5C72B25-68DD-4967-A418-54EC51BB1B03}">
      <dgm:prSet/>
      <dgm:spPr/>
      <dgm:t>
        <a:bodyPr/>
        <a:lstStyle/>
        <a:p>
          <a:endParaRPr lang="en-US"/>
        </a:p>
      </dgm:t>
    </dgm:pt>
    <dgm:pt modelId="{56282E20-C5F6-49F7-B7B4-D3DE498565C1}">
      <dgm:prSet/>
      <dgm:spPr>
        <a:solidFill>
          <a:srgbClr val="00C800"/>
        </a:solidFill>
        <a:ln>
          <a:noFill/>
        </a:ln>
      </dgm:spPr>
      <dgm:t>
        <a:bodyPr/>
        <a:lstStyle/>
        <a:p>
          <a:pPr rtl="0"/>
          <a:r>
            <a:rPr lang="en-US" dirty="0" smtClean="0">
              <a:solidFill>
                <a:schemeClr val="tx1"/>
              </a:solidFill>
            </a:rPr>
            <a:t>Fast</a:t>
          </a:r>
          <a:endParaRPr lang="de-DE" dirty="0">
            <a:solidFill>
              <a:schemeClr val="tx1"/>
            </a:solidFill>
          </a:endParaRPr>
        </a:p>
      </dgm:t>
    </dgm:pt>
    <dgm:pt modelId="{3F9858D6-6C33-4DBE-8092-EB3BEF2FE718}" type="parTrans" cxnId="{B81755E0-BB68-4E5C-936E-567D47A7E4FE}">
      <dgm:prSet/>
      <dgm:spPr/>
      <dgm:t>
        <a:bodyPr/>
        <a:lstStyle/>
        <a:p>
          <a:endParaRPr lang="en-US"/>
        </a:p>
      </dgm:t>
    </dgm:pt>
    <dgm:pt modelId="{90E17BAE-0C98-4803-9534-D6E01A881274}" type="sibTrans" cxnId="{B81755E0-BB68-4E5C-936E-567D47A7E4FE}">
      <dgm:prSet/>
      <dgm:spPr/>
      <dgm:t>
        <a:bodyPr/>
        <a:lstStyle/>
        <a:p>
          <a:endParaRPr lang="en-US"/>
        </a:p>
      </dgm:t>
    </dgm:pt>
    <dgm:pt modelId="{9DE7437A-086B-4933-86C0-320C3C8FE8F4}" type="pres">
      <dgm:prSet presAssocID="{D0DB81D0-1B2B-41DF-8D04-8E3B86ED5DC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784D702B-B3BF-4A1D-9E4F-E6C0A9772EA4}" type="pres">
      <dgm:prSet presAssocID="{05B7FE56-DE2E-4545-B246-FC1C7663D6B1}" presName="parentText" presStyleLbl="node1" presStyleIdx="0" presStyleCnt="4" custLinFactNeighborY="-69293">
        <dgm:presLayoutVars>
          <dgm:chMax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7CCE156F-BD10-4E88-B2F2-62C1A709D7E4}" type="pres">
      <dgm:prSet presAssocID="{230036BB-DDA8-4BBC-8BD9-F6F2A5758973}" presName="spacer" presStyleCnt="0"/>
      <dgm:spPr/>
    </dgm:pt>
    <dgm:pt modelId="{A09E531A-CFF7-43A9-9417-B045988E5CC7}" type="pres">
      <dgm:prSet presAssocID="{4F2DD670-B497-4083-ABD1-7DE8ED43F049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BAB459-A713-4E7D-BE02-F48B2532712B}" type="pres">
      <dgm:prSet presAssocID="{1AF4BEAD-F945-49B7-BDF2-51E496DB2CDB}" presName="spacer" presStyleCnt="0"/>
      <dgm:spPr/>
    </dgm:pt>
    <dgm:pt modelId="{79D411ED-58C4-4018-8FC4-31BFB9A354AF}" type="pres">
      <dgm:prSet presAssocID="{A92A88D6-2727-4E75-A28A-5B04E4A3B624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8033A7-68B1-4E02-B4EF-F40129DFC12B}" type="pres">
      <dgm:prSet presAssocID="{025A8ED2-1E9C-4CC9-86CD-ADF7F4A57EB9}" presName="spacer" presStyleCnt="0"/>
      <dgm:spPr/>
    </dgm:pt>
    <dgm:pt modelId="{7037522A-AE69-42A5-BC12-F81D199B781D}" type="pres">
      <dgm:prSet presAssocID="{56282E20-C5F6-49F7-B7B4-D3DE498565C1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3C2052D-C521-43A4-99DB-896E4C575D97}" type="presOf" srcId="{A92A88D6-2727-4E75-A28A-5B04E4A3B624}" destId="{79D411ED-58C4-4018-8FC4-31BFB9A354AF}" srcOrd="0" destOrd="0" presId="urn:microsoft.com/office/officeart/2005/8/layout/vList2"/>
    <dgm:cxn modelId="{55879FA0-7FC8-4687-B6D3-B7138990A104}" type="presOf" srcId="{56282E20-C5F6-49F7-B7B4-D3DE498565C1}" destId="{7037522A-AE69-42A5-BC12-F81D199B781D}" srcOrd="0" destOrd="0" presId="urn:microsoft.com/office/officeart/2005/8/layout/vList2"/>
    <dgm:cxn modelId="{A31BF2D4-02A5-4EC3-AEAC-0D9D60FAB0B8}" srcId="{D0DB81D0-1B2B-41DF-8D04-8E3B86ED5DCA}" destId="{4F2DD670-B497-4083-ABD1-7DE8ED43F049}" srcOrd="1" destOrd="0" parTransId="{5A5FA58D-F7C2-4E28-9F0E-43B0544D5593}" sibTransId="{1AF4BEAD-F945-49B7-BDF2-51E496DB2CDB}"/>
    <dgm:cxn modelId="{CD7A6E51-1F57-426E-BCDC-75D7135864BB}" type="presOf" srcId="{05B7FE56-DE2E-4545-B246-FC1C7663D6B1}" destId="{784D702B-B3BF-4A1D-9E4F-E6C0A9772EA4}" srcOrd="0" destOrd="0" presId="urn:microsoft.com/office/officeart/2005/8/layout/vList2"/>
    <dgm:cxn modelId="{F5C72B25-68DD-4967-A418-54EC51BB1B03}" srcId="{D0DB81D0-1B2B-41DF-8D04-8E3B86ED5DCA}" destId="{A92A88D6-2727-4E75-A28A-5B04E4A3B624}" srcOrd="2" destOrd="0" parTransId="{22E0D34C-E792-43F9-85F1-D3EA0A7B0BE3}" sibTransId="{025A8ED2-1E9C-4CC9-86CD-ADF7F4A57EB9}"/>
    <dgm:cxn modelId="{EFF2FCDB-DC61-46D2-B767-38A651E6F100}" srcId="{D0DB81D0-1B2B-41DF-8D04-8E3B86ED5DCA}" destId="{05B7FE56-DE2E-4545-B246-FC1C7663D6B1}" srcOrd="0" destOrd="0" parTransId="{2F3DA82B-D7B3-4EB4-9A55-2021AF94BD1A}" sibTransId="{230036BB-DDA8-4BBC-8BD9-F6F2A5758973}"/>
    <dgm:cxn modelId="{6AAB99A3-F0A9-463A-A4C6-6186F9D997FB}" type="presOf" srcId="{4F2DD670-B497-4083-ABD1-7DE8ED43F049}" destId="{A09E531A-CFF7-43A9-9417-B045988E5CC7}" srcOrd="0" destOrd="0" presId="urn:microsoft.com/office/officeart/2005/8/layout/vList2"/>
    <dgm:cxn modelId="{B81755E0-BB68-4E5C-936E-567D47A7E4FE}" srcId="{D0DB81D0-1B2B-41DF-8D04-8E3B86ED5DCA}" destId="{56282E20-C5F6-49F7-B7B4-D3DE498565C1}" srcOrd="3" destOrd="0" parTransId="{3F9858D6-6C33-4DBE-8092-EB3BEF2FE718}" sibTransId="{90E17BAE-0C98-4803-9534-D6E01A881274}"/>
    <dgm:cxn modelId="{A1B4E524-785A-461A-B3D4-B41822B4335D}" type="presOf" srcId="{D0DB81D0-1B2B-41DF-8D04-8E3B86ED5DCA}" destId="{9DE7437A-086B-4933-86C0-320C3C8FE8F4}" srcOrd="0" destOrd="0" presId="urn:microsoft.com/office/officeart/2005/8/layout/vList2"/>
    <dgm:cxn modelId="{074BDA7E-F259-49D4-BDC3-E182FFC92192}" type="presParOf" srcId="{9DE7437A-086B-4933-86C0-320C3C8FE8F4}" destId="{784D702B-B3BF-4A1D-9E4F-E6C0A9772EA4}" srcOrd="0" destOrd="0" presId="urn:microsoft.com/office/officeart/2005/8/layout/vList2"/>
    <dgm:cxn modelId="{12D9CA3E-A0E2-4113-8EAE-54D89D76598B}" type="presParOf" srcId="{9DE7437A-086B-4933-86C0-320C3C8FE8F4}" destId="{7CCE156F-BD10-4E88-B2F2-62C1A709D7E4}" srcOrd="1" destOrd="0" presId="urn:microsoft.com/office/officeart/2005/8/layout/vList2"/>
    <dgm:cxn modelId="{5C249DF1-A67C-467C-A1C8-A74DFB70DC97}" type="presParOf" srcId="{9DE7437A-086B-4933-86C0-320C3C8FE8F4}" destId="{A09E531A-CFF7-43A9-9417-B045988E5CC7}" srcOrd="2" destOrd="0" presId="urn:microsoft.com/office/officeart/2005/8/layout/vList2"/>
    <dgm:cxn modelId="{1D1497B6-341E-41D5-8988-D401835497F3}" type="presParOf" srcId="{9DE7437A-086B-4933-86C0-320C3C8FE8F4}" destId="{B8BAB459-A713-4E7D-BE02-F48B2532712B}" srcOrd="3" destOrd="0" presId="urn:microsoft.com/office/officeart/2005/8/layout/vList2"/>
    <dgm:cxn modelId="{441F16BA-2B2A-4C5B-A282-A9CB04C739BD}" type="presParOf" srcId="{9DE7437A-086B-4933-86C0-320C3C8FE8F4}" destId="{79D411ED-58C4-4018-8FC4-31BFB9A354AF}" srcOrd="4" destOrd="0" presId="urn:microsoft.com/office/officeart/2005/8/layout/vList2"/>
    <dgm:cxn modelId="{6964C956-039C-406A-9946-4369E66F1A22}" type="presParOf" srcId="{9DE7437A-086B-4933-86C0-320C3C8FE8F4}" destId="{A98033A7-68B1-4E02-B4EF-F40129DFC12B}" srcOrd="5" destOrd="0" presId="urn:microsoft.com/office/officeart/2005/8/layout/vList2"/>
    <dgm:cxn modelId="{C94CB86C-5C91-4677-A56A-87061BA239B0}" type="presParOf" srcId="{9DE7437A-086B-4933-86C0-320C3C8FE8F4}" destId="{7037522A-AE69-42A5-BC12-F81D199B781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4D702B-B3BF-4A1D-9E4F-E6C0A9772EA4}">
      <dsp:nvSpPr>
        <dsp:cNvPr id="0" name=""/>
        <dsp:cNvSpPr/>
      </dsp:nvSpPr>
      <dsp:spPr>
        <a:xfrm>
          <a:off x="0" y="266968"/>
          <a:ext cx="3999104" cy="647595"/>
        </a:xfrm>
        <a:prstGeom prst="roundRect">
          <a:avLst/>
        </a:prstGeom>
        <a:solidFill>
          <a:srgbClr val="00C8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>
              <a:solidFill>
                <a:schemeClr val="tx1"/>
              </a:solidFill>
            </a:rPr>
            <a:t>Post quantum</a:t>
          </a:r>
          <a:endParaRPr lang="de-DE" sz="2700" kern="1200" dirty="0">
            <a:solidFill>
              <a:schemeClr val="tx1"/>
            </a:solidFill>
          </a:endParaRPr>
        </a:p>
      </dsp:txBody>
      <dsp:txXfrm>
        <a:off x="31613" y="298581"/>
        <a:ext cx="3935878" cy="584369"/>
      </dsp:txXfrm>
    </dsp:sp>
    <dsp:sp modelId="{A09E531A-CFF7-43A9-9417-B045988E5CC7}">
      <dsp:nvSpPr>
        <dsp:cNvPr id="0" name=""/>
        <dsp:cNvSpPr/>
      </dsp:nvSpPr>
      <dsp:spPr>
        <a:xfrm>
          <a:off x="0" y="1046205"/>
          <a:ext cx="3999104" cy="647595"/>
        </a:xfrm>
        <a:prstGeom prst="roundRect">
          <a:avLst/>
        </a:prstGeom>
        <a:solidFill>
          <a:srgbClr val="00C8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>
              <a:solidFill>
                <a:schemeClr val="tx1"/>
              </a:solidFill>
            </a:rPr>
            <a:t>Only secure hash function</a:t>
          </a:r>
          <a:endParaRPr lang="de-DE" sz="2700" kern="1200" dirty="0">
            <a:solidFill>
              <a:schemeClr val="tx1"/>
            </a:solidFill>
          </a:endParaRPr>
        </a:p>
      </dsp:txBody>
      <dsp:txXfrm>
        <a:off x="31613" y="1077818"/>
        <a:ext cx="3935878" cy="584369"/>
      </dsp:txXfrm>
    </dsp:sp>
    <dsp:sp modelId="{79D411ED-58C4-4018-8FC4-31BFB9A354AF}">
      <dsp:nvSpPr>
        <dsp:cNvPr id="0" name=""/>
        <dsp:cNvSpPr/>
      </dsp:nvSpPr>
      <dsp:spPr>
        <a:xfrm>
          <a:off x="0" y="1771560"/>
          <a:ext cx="3999104" cy="647595"/>
        </a:xfrm>
        <a:prstGeom prst="roundRect">
          <a:avLst/>
        </a:prstGeom>
        <a:solidFill>
          <a:srgbClr val="00C8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700" kern="1200" dirty="0" smtClean="0">
              <a:solidFill>
                <a:schemeClr val="tx1"/>
              </a:solidFill>
            </a:rPr>
            <a:t>Security well understood</a:t>
          </a:r>
          <a:endParaRPr lang="de-DE" sz="2700" kern="1200" dirty="0">
            <a:solidFill>
              <a:schemeClr val="tx1"/>
            </a:solidFill>
          </a:endParaRPr>
        </a:p>
      </dsp:txBody>
      <dsp:txXfrm>
        <a:off x="31613" y="1803173"/>
        <a:ext cx="3935878" cy="584369"/>
      </dsp:txXfrm>
    </dsp:sp>
    <dsp:sp modelId="{7037522A-AE69-42A5-BC12-F81D199B781D}">
      <dsp:nvSpPr>
        <dsp:cNvPr id="0" name=""/>
        <dsp:cNvSpPr/>
      </dsp:nvSpPr>
      <dsp:spPr>
        <a:xfrm>
          <a:off x="0" y="2496915"/>
          <a:ext cx="3999104" cy="647595"/>
        </a:xfrm>
        <a:prstGeom prst="roundRect">
          <a:avLst/>
        </a:prstGeom>
        <a:solidFill>
          <a:srgbClr val="00C8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>
              <a:solidFill>
                <a:schemeClr val="tx1"/>
              </a:solidFill>
            </a:rPr>
            <a:t>Fast</a:t>
          </a:r>
          <a:endParaRPr lang="de-DE" sz="2700" kern="1200" dirty="0">
            <a:solidFill>
              <a:schemeClr val="tx1"/>
            </a:solidFill>
          </a:endParaRPr>
        </a:p>
      </dsp:txBody>
      <dsp:txXfrm>
        <a:off x="31613" y="2528528"/>
        <a:ext cx="3935878" cy="584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C2159-CCE6-428D-9051-70EEC13CCBAC}" type="datetimeFigureOut">
              <a:rPr lang="en-US" smtClean="0"/>
              <a:t>2/23/2016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64366-B3B4-4934-B428-A9EE9BB7A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32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923925"/>
            <a:ext cx="4095750" cy="3071813"/>
          </a:xfrm>
          <a:ln/>
        </p:spPr>
      </p:sp>
      <p:sp>
        <p:nvSpPr>
          <p:cNvPr id="35843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smtClean="0"/>
          </a:p>
        </p:txBody>
      </p:sp>
      <p:sp>
        <p:nvSpPr>
          <p:cNvPr id="35844" name="Datumsplatzhalt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D849ACF-DDF3-4121-AB7A-CFA0EC7E0E9F}" type="datetime4">
              <a:rPr lang="de-DE" smtClean="0"/>
              <a:pPr/>
              <a:t>23. Februar 2016</a:t>
            </a:fld>
            <a:endParaRPr lang="de-DE" smtClean="0"/>
          </a:p>
        </p:txBody>
      </p:sp>
      <p:sp>
        <p:nvSpPr>
          <p:cNvPr id="35845" name="Fußzeilenplatzhalter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de-DE" smtClean="0"/>
              <a:t>|  </a:t>
            </a:r>
          </a:p>
        </p:txBody>
      </p:sp>
      <p:sp>
        <p:nvSpPr>
          <p:cNvPr id="35846" name="Foliennummernplatzhalter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de-DE" smtClean="0"/>
              <a:t>|  </a:t>
            </a:r>
            <a:fld id="{88C5ADFC-82A6-491F-814B-EDBEBED45A67}" type="slidenum">
              <a:rPr lang="de-DE" smtClean="0"/>
              <a:pPr/>
              <a:t>20</a:t>
            </a:fld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289633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923925"/>
            <a:ext cx="4095750" cy="3071813"/>
          </a:xfrm>
          <a:ln/>
        </p:spPr>
      </p:sp>
      <p:sp>
        <p:nvSpPr>
          <p:cNvPr id="31747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dirty="0" smtClean="0">
              <a:latin typeface="Bitstream Charter"/>
            </a:endParaRPr>
          </a:p>
        </p:txBody>
      </p:sp>
      <p:sp>
        <p:nvSpPr>
          <p:cNvPr id="31748" name="Datumsplatzhalt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175F93D-C2A7-40B5-B0C6-093000C39EA5}" type="datetime4">
              <a:rPr lang="de-DE" smtClean="0">
                <a:latin typeface="Stafford"/>
              </a:rPr>
              <a:pPr/>
              <a:t>23. Februar 2016</a:t>
            </a:fld>
            <a:endParaRPr lang="de-DE" smtClean="0">
              <a:latin typeface="Stafford"/>
            </a:endParaRPr>
          </a:p>
        </p:txBody>
      </p:sp>
      <p:sp>
        <p:nvSpPr>
          <p:cNvPr id="31749" name="Fußzeilenplatzhalter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de-DE" smtClean="0">
                <a:latin typeface="Stafford"/>
              </a:rPr>
              <a:t>|  </a:t>
            </a:r>
          </a:p>
        </p:txBody>
      </p:sp>
      <p:sp>
        <p:nvSpPr>
          <p:cNvPr id="31750" name="Foliennummernplatzhalter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de-DE" smtClean="0">
                <a:latin typeface="Stafford"/>
              </a:rPr>
              <a:t>|  </a:t>
            </a:r>
            <a:fld id="{D5A5CEAA-884E-4230-B43A-372554B37991}" type="slidenum">
              <a:rPr lang="de-DE" smtClean="0">
                <a:latin typeface="Stafford"/>
              </a:rPr>
              <a:pPr/>
              <a:t>37</a:t>
            </a:fld>
            <a:endParaRPr lang="de-DE" smtClean="0">
              <a:latin typeface="Stafford"/>
            </a:endParaRPr>
          </a:p>
        </p:txBody>
      </p:sp>
    </p:spTree>
    <p:extLst>
      <p:ext uri="{BB962C8B-B14F-4D97-AF65-F5344CB8AC3E}">
        <p14:creationId xmlns:p14="http://schemas.microsoft.com/office/powerpoint/2010/main" val="2455503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923925"/>
            <a:ext cx="4095750" cy="3071813"/>
          </a:xfrm>
          <a:ln/>
        </p:spPr>
      </p:sp>
      <p:sp>
        <p:nvSpPr>
          <p:cNvPr id="32771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de-DE" smtClean="0">
                <a:latin typeface="Bitstream Charter"/>
              </a:rPr>
              <a:t>One promissing group of candidates are hash-based signature schemes</a:t>
            </a:r>
          </a:p>
          <a:p>
            <a:endParaRPr lang="de-DE" smtClean="0">
              <a:latin typeface="Bitstream Charter"/>
            </a:endParaRPr>
          </a:p>
          <a:p>
            <a:r>
              <a:rPr lang="de-DE" smtClean="0">
                <a:latin typeface="Bitstream Charter"/>
              </a:rPr>
              <a:t>They start from an OTS – a signature scheme where a key pair can only be used for one signature.</a:t>
            </a:r>
          </a:p>
          <a:p>
            <a:endParaRPr lang="de-DE" smtClean="0">
              <a:latin typeface="Bitstream Charter"/>
            </a:endParaRPr>
          </a:p>
          <a:p>
            <a:r>
              <a:rPr lang="de-DE" smtClean="0">
                <a:latin typeface="Bitstream Charter"/>
              </a:rPr>
              <a:t>The central idea – proposed by Merkle - is to authenticate many OTS keypairs using a binary hash tree</a:t>
            </a:r>
          </a:p>
          <a:p>
            <a:endParaRPr lang="de-DE" smtClean="0">
              <a:latin typeface="Bitstream Charter"/>
            </a:endParaRPr>
          </a:p>
          <a:p>
            <a:endParaRPr lang="de-DE" smtClean="0">
              <a:latin typeface="Bitstream Charter"/>
            </a:endParaRPr>
          </a:p>
          <a:p>
            <a:r>
              <a:rPr lang="de-DE" smtClean="0">
                <a:latin typeface="Bitstream Charter"/>
              </a:rPr>
              <a:t>These schemes have many advantages over the beforementioned</a:t>
            </a:r>
          </a:p>
          <a:p>
            <a:pPr>
              <a:buFontTx/>
              <a:buChar char="-"/>
            </a:pPr>
            <a:r>
              <a:rPr lang="de-DE" smtClean="0">
                <a:latin typeface="Bitstream Charter"/>
              </a:rPr>
              <a:t>Quantum computers do not harm their security – the best known quantum attack is Grovers algorithm – allowing exhaustiv search in a set with n elements in time squareroot of n using log n space.</a:t>
            </a:r>
          </a:p>
          <a:p>
            <a:pPr>
              <a:buFontTx/>
              <a:buChar char="-"/>
            </a:pPr>
            <a:r>
              <a:rPr lang="de-DE" smtClean="0">
                <a:latin typeface="Bitstream Charter"/>
              </a:rPr>
              <a:t> They are provably secure in the standard model</a:t>
            </a:r>
          </a:p>
          <a:p>
            <a:pPr>
              <a:buFontTx/>
              <a:buChar char="-"/>
            </a:pPr>
            <a:r>
              <a:rPr lang="de-DE" smtClean="0">
                <a:latin typeface="Bitstream Charter"/>
              </a:rPr>
              <a:t> And they can be instantiated using any secure hash function.</a:t>
            </a:r>
          </a:p>
          <a:p>
            <a:pPr>
              <a:buFontTx/>
              <a:buChar char="-"/>
            </a:pPr>
            <a:endParaRPr lang="de-DE" smtClean="0">
              <a:latin typeface="Bitstream Charter"/>
            </a:endParaRPr>
          </a:p>
          <a:p>
            <a:pPr>
              <a:buFontTx/>
              <a:buChar char="-"/>
            </a:pPr>
            <a:r>
              <a:rPr lang="de-DE" smtClean="0">
                <a:latin typeface="Bitstream Charter"/>
              </a:rPr>
              <a:t>On the downside, they produce long signatures.</a:t>
            </a:r>
          </a:p>
        </p:txBody>
      </p:sp>
      <p:sp>
        <p:nvSpPr>
          <p:cNvPr id="32772" name="Datumsplatzhalt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C030B818-1B31-4AD7-815C-9B1ECF05D7DD}" type="datetime4">
              <a:rPr lang="de-DE" smtClean="0">
                <a:latin typeface="Stafford"/>
              </a:rPr>
              <a:pPr/>
              <a:t>23. Februar 2016</a:t>
            </a:fld>
            <a:endParaRPr lang="de-DE" smtClean="0">
              <a:latin typeface="Stafford"/>
            </a:endParaRPr>
          </a:p>
        </p:txBody>
      </p:sp>
      <p:sp>
        <p:nvSpPr>
          <p:cNvPr id="32773" name="Fußzeilenplatzhalter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de-DE" smtClean="0">
                <a:latin typeface="Stafford"/>
              </a:rPr>
              <a:t>|  </a:t>
            </a:r>
          </a:p>
        </p:txBody>
      </p:sp>
      <p:sp>
        <p:nvSpPr>
          <p:cNvPr id="32774" name="Foliennummernplatzhalter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de-DE" smtClean="0">
                <a:latin typeface="Stafford"/>
              </a:rPr>
              <a:t>|  </a:t>
            </a:r>
            <a:fld id="{90056CAC-5CBA-4E1D-B9BA-F784E5430E00}" type="slidenum">
              <a:rPr lang="de-DE" smtClean="0">
                <a:latin typeface="Stafford"/>
              </a:rPr>
              <a:pPr/>
              <a:t>38</a:t>
            </a:fld>
            <a:endParaRPr lang="de-DE" smtClean="0">
              <a:latin typeface="Stafford"/>
            </a:endParaRPr>
          </a:p>
        </p:txBody>
      </p:sp>
    </p:spTree>
    <p:extLst>
      <p:ext uri="{BB962C8B-B14F-4D97-AF65-F5344CB8AC3E}">
        <p14:creationId xmlns:p14="http://schemas.microsoft.com/office/powerpoint/2010/main" val="927009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923925"/>
            <a:ext cx="4095750" cy="3071813"/>
          </a:xfrm>
          <a:ln/>
        </p:spPr>
      </p:sp>
      <p:sp>
        <p:nvSpPr>
          <p:cNvPr id="33795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de-DE" smtClean="0">
                <a:latin typeface="Bitstream Charter"/>
              </a:rPr>
              <a:t>Well, this work is concerned with the OTS.</a:t>
            </a:r>
          </a:p>
          <a:p>
            <a:endParaRPr lang="de-DE" smtClean="0">
              <a:latin typeface="Bitstream Charter"/>
            </a:endParaRPr>
          </a:p>
          <a:p>
            <a:r>
              <a:rPr lang="de-DE" smtClean="0">
                <a:latin typeface="Bitstream Charter"/>
              </a:rPr>
              <a:t>There are several OTS schemes. LD, Merkle-OTS which is a specific instance of the W-OTS, the BM-OTS and Biba and HORS.</a:t>
            </a:r>
          </a:p>
          <a:p>
            <a:endParaRPr lang="de-DE" smtClean="0">
              <a:latin typeface="Bitstream Charter"/>
            </a:endParaRPr>
          </a:p>
          <a:p>
            <a:r>
              <a:rPr lang="de-DE" smtClean="0">
                <a:latin typeface="Bitstream Charter"/>
              </a:rPr>
              <a:t>The most interesting one is the Winternitz OTS as it allows for a time-memory trade-off and even more important </a:t>
            </a:r>
          </a:p>
          <a:p>
            <a:endParaRPr lang="de-DE" smtClean="0">
              <a:latin typeface="Bitstream Charter"/>
            </a:endParaRPr>
          </a:p>
          <a:p>
            <a:r>
              <a:rPr lang="de-DE" smtClean="0">
                <a:latin typeface="Bitstream Charter"/>
              </a:rPr>
              <a:t>- It is possible to compute the public verification key given a signature. This reduces the signature size of a hash based signature scheme as normaly the public key of the OTS has to be included in a signature of the scheme. Now for WOTS this isn‘t necessary anymore.</a:t>
            </a:r>
          </a:p>
          <a:p>
            <a:endParaRPr lang="de-DE" smtClean="0">
              <a:latin typeface="Bitstream Charter"/>
            </a:endParaRPr>
          </a:p>
          <a:p>
            <a:endParaRPr lang="de-DE" smtClean="0">
              <a:latin typeface="Bitstream Charter"/>
            </a:endParaRPr>
          </a:p>
        </p:txBody>
      </p:sp>
      <p:sp>
        <p:nvSpPr>
          <p:cNvPr id="33796" name="Datumsplatzhalt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0A9A423E-AF9F-4122-A3C5-8BD9F36D4B5E}" type="datetime4">
              <a:rPr lang="de-DE" smtClean="0">
                <a:latin typeface="Stafford"/>
              </a:rPr>
              <a:pPr/>
              <a:t>23. Februar 2016</a:t>
            </a:fld>
            <a:endParaRPr lang="de-DE" smtClean="0">
              <a:latin typeface="Stafford"/>
            </a:endParaRPr>
          </a:p>
        </p:txBody>
      </p:sp>
      <p:sp>
        <p:nvSpPr>
          <p:cNvPr id="33797" name="Fußzeilenplatzhalter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de-DE" smtClean="0">
                <a:latin typeface="Stafford"/>
              </a:rPr>
              <a:t>|  </a:t>
            </a:r>
          </a:p>
        </p:txBody>
      </p:sp>
      <p:sp>
        <p:nvSpPr>
          <p:cNvPr id="33798" name="Foliennummernplatzhalter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de-DE" smtClean="0">
                <a:latin typeface="Stafford"/>
              </a:rPr>
              <a:t>|  </a:t>
            </a:r>
            <a:fld id="{44393C98-EB1B-4BFF-9AAF-BD949F414638}" type="slidenum">
              <a:rPr lang="de-DE" smtClean="0">
                <a:latin typeface="Stafford"/>
              </a:rPr>
              <a:pPr/>
              <a:t>39</a:t>
            </a:fld>
            <a:endParaRPr lang="de-DE" smtClean="0">
              <a:latin typeface="Stafford"/>
            </a:endParaRPr>
          </a:p>
        </p:txBody>
      </p:sp>
    </p:spTree>
    <p:extLst>
      <p:ext uri="{BB962C8B-B14F-4D97-AF65-F5344CB8AC3E}">
        <p14:creationId xmlns:p14="http://schemas.microsoft.com/office/powerpoint/2010/main" val="1514830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923925"/>
            <a:ext cx="4095750" cy="3071813"/>
          </a:xfrm>
          <a:ln/>
        </p:spPr>
      </p:sp>
      <p:sp>
        <p:nvSpPr>
          <p:cNvPr id="33795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de-DE" smtClean="0">
                <a:latin typeface="Bitstream Charter"/>
              </a:rPr>
              <a:t>Well, this work is concerned with the OTS.</a:t>
            </a:r>
          </a:p>
          <a:p>
            <a:endParaRPr lang="de-DE" smtClean="0">
              <a:latin typeface="Bitstream Charter"/>
            </a:endParaRPr>
          </a:p>
          <a:p>
            <a:r>
              <a:rPr lang="de-DE" smtClean="0">
                <a:latin typeface="Bitstream Charter"/>
              </a:rPr>
              <a:t>There are several OTS schemes. LD, Merkle-OTS which is a specific instance of the W-OTS, the BM-OTS and Biba and HORS.</a:t>
            </a:r>
          </a:p>
          <a:p>
            <a:endParaRPr lang="de-DE" smtClean="0">
              <a:latin typeface="Bitstream Charter"/>
            </a:endParaRPr>
          </a:p>
          <a:p>
            <a:r>
              <a:rPr lang="de-DE" smtClean="0">
                <a:latin typeface="Bitstream Charter"/>
              </a:rPr>
              <a:t>The most interesting one is the Winternitz OTS as it allows for a time-memory trade-off and even more important </a:t>
            </a:r>
          </a:p>
          <a:p>
            <a:endParaRPr lang="de-DE" smtClean="0">
              <a:latin typeface="Bitstream Charter"/>
            </a:endParaRPr>
          </a:p>
          <a:p>
            <a:r>
              <a:rPr lang="de-DE" smtClean="0">
                <a:latin typeface="Bitstream Charter"/>
              </a:rPr>
              <a:t>- It is possible to compute the public verification key given a signature. This reduces the signature size of a hash based signature scheme as normaly the public key of the OTS has to be included in a signature of the scheme. Now for WOTS this isn‘t necessary anymore.</a:t>
            </a:r>
          </a:p>
          <a:p>
            <a:endParaRPr lang="de-DE" smtClean="0">
              <a:latin typeface="Bitstream Charter"/>
            </a:endParaRPr>
          </a:p>
          <a:p>
            <a:endParaRPr lang="de-DE" smtClean="0">
              <a:latin typeface="Bitstream Charter"/>
            </a:endParaRPr>
          </a:p>
        </p:txBody>
      </p:sp>
      <p:sp>
        <p:nvSpPr>
          <p:cNvPr id="33796" name="Datumsplatzhalt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3E6C2240-5D36-4531-8347-7E4AF070782D}" type="datetime4">
              <a:rPr lang="de-DE" smtClean="0">
                <a:latin typeface="Stafford"/>
              </a:rPr>
              <a:t>23. Februar 2016</a:t>
            </a:fld>
            <a:endParaRPr lang="de-DE" smtClean="0">
              <a:latin typeface="Stafford"/>
            </a:endParaRPr>
          </a:p>
        </p:txBody>
      </p:sp>
      <p:sp>
        <p:nvSpPr>
          <p:cNvPr id="33797" name="Fußzeilenplatzhalter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de-DE" smtClean="0">
                <a:latin typeface="Stafford"/>
              </a:rPr>
              <a:t>|  </a:t>
            </a:r>
          </a:p>
        </p:txBody>
      </p:sp>
      <p:sp>
        <p:nvSpPr>
          <p:cNvPr id="33798" name="Foliennummernplatzhalter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de-DE" smtClean="0">
                <a:latin typeface="Stafford"/>
              </a:rPr>
              <a:t>|  </a:t>
            </a:r>
            <a:fld id="{44393C98-EB1B-4BFF-9AAF-BD949F414638}" type="slidenum">
              <a:rPr lang="de-DE" smtClean="0">
                <a:latin typeface="Stafford"/>
              </a:rPr>
              <a:pPr/>
              <a:t>40</a:t>
            </a:fld>
            <a:endParaRPr lang="de-DE" smtClean="0">
              <a:latin typeface="Stafford"/>
            </a:endParaRPr>
          </a:p>
        </p:txBody>
      </p:sp>
    </p:spTree>
    <p:extLst>
      <p:ext uri="{BB962C8B-B14F-4D97-AF65-F5344CB8AC3E}">
        <p14:creationId xmlns:p14="http://schemas.microsoft.com/office/powerpoint/2010/main" val="1700987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923925"/>
            <a:ext cx="4095750" cy="3071813"/>
          </a:xfrm>
          <a:ln/>
        </p:spPr>
      </p:sp>
      <p:sp>
        <p:nvSpPr>
          <p:cNvPr id="34819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In our work we showed that we can slightly change the original WOTS construction, such that it uses a function family instead of the hash function family. The resulting scheme is existentially unforgeable under chosen message attacks, if the function family is pseudorandom.</a:t>
            </a:r>
          </a:p>
          <a:p>
            <a:endParaRPr lang="en-US" dirty="0" smtClean="0"/>
          </a:p>
          <a:p>
            <a:r>
              <a:rPr lang="en-US" dirty="0" smtClean="0"/>
              <a:t>This result has two implications:</a:t>
            </a:r>
          </a:p>
        </p:txBody>
      </p:sp>
      <p:sp>
        <p:nvSpPr>
          <p:cNvPr id="34820" name="Datumsplatzhalt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800611AE-B1B5-4071-AD8D-F4762D3CDDF1}" type="datetime4">
              <a:rPr lang="de-DE" smtClean="0"/>
              <a:t>23. Februar 2016</a:t>
            </a:fld>
            <a:endParaRPr lang="de-DE" smtClean="0"/>
          </a:p>
        </p:txBody>
      </p:sp>
      <p:sp>
        <p:nvSpPr>
          <p:cNvPr id="34821" name="Fußzeilenplatzhalter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de-DE" smtClean="0"/>
              <a:t>|  </a:t>
            </a:r>
          </a:p>
        </p:txBody>
      </p:sp>
      <p:sp>
        <p:nvSpPr>
          <p:cNvPr id="34822" name="Foliennummernplatzhalter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de-DE" smtClean="0"/>
              <a:t>|  </a:t>
            </a:r>
            <a:fld id="{BC0B5D5C-1D95-4E40-9877-EEE953B63505}" type="slidenum">
              <a:rPr lang="de-DE" smtClean="0"/>
              <a:pPr/>
              <a:t>42</a:t>
            </a:fld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293633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923925"/>
            <a:ext cx="4095750" cy="30718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5B3DFA8-D88A-4F5E-985B-6BABD3471361}" type="datetime4">
              <a:rPr lang="de-DE" smtClean="0"/>
              <a:t>23. Februar 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|  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|  </a:t>
            </a:r>
            <a:fld id="{7FB302AF-1BB9-480B-A46C-70041A6386BE}" type="slidenum">
              <a:rPr lang="de-DE" smtClean="0"/>
              <a:pPr>
                <a:defRPr/>
              </a:pPr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226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923925"/>
            <a:ext cx="4095750" cy="30718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4CCF9D2-5987-444D-B8B5-447AF5298644}" type="datetime4">
              <a:rPr lang="de-DE" smtClean="0"/>
              <a:t>23. Februar 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|  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|  </a:t>
            </a:r>
            <a:fld id="{7FB302AF-1BB9-480B-A46C-70041A6386BE}" type="slidenum">
              <a:rPr lang="de-DE" smtClean="0"/>
              <a:pPr>
                <a:defRPr/>
              </a:pPr>
              <a:t>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1940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923925"/>
            <a:ext cx="4095750" cy="30718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2013: 80 </a:t>
            </a:r>
            <a:r>
              <a:rPr lang="de-DE" dirty="0" err="1" smtClean="0"/>
              <a:t>bit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84 -&gt; 2019</a:t>
            </a:r>
          </a:p>
          <a:p>
            <a:r>
              <a:rPr lang="en-US" dirty="0" smtClean="0"/>
              <a:t>87 -&gt; 2022</a:t>
            </a:r>
            <a:endParaRPr lang="de-DE" dirty="0" smtClean="0"/>
          </a:p>
          <a:p>
            <a:r>
              <a:rPr lang="de-DE" dirty="0" smtClean="0"/>
              <a:t>157 -&gt; 2113 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801185EE-105C-462E-BCF2-2FE3BC5AEE4C}" type="datetime4">
              <a:rPr lang="de-DE" smtClean="0"/>
              <a:t>23. Februar 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|  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|  </a:t>
            </a:r>
            <a:fld id="{838F2133-9973-40F4-A88E-50FB2D15B987}" type="slidenum">
              <a:rPr lang="de-DE" smtClean="0"/>
              <a:pPr>
                <a:defRPr/>
              </a:pPr>
              <a:t>69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517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923925"/>
            <a:ext cx="4095750" cy="30718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2013: 80 </a:t>
            </a:r>
            <a:r>
              <a:rPr lang="de-DE" dirty="0" err="1" smtClean="0"/>
              <a:t>bit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84 -&gt; 2019</a:t>
            </a:r>
          </a:p>
          <a:p>
            <a:r>
              <a:rPr lang="en-US" dirty="0" smtClean="0"/>
              <a:t>87 -&gt; 2022</a:t>
            </a:r>
            <a:endParaRPr lang="de-DE" dirty="0" smtClean="0"/>
          </a:p>
          <a:p>
            <a:r>
              <a:rPr lang="de-DE" dirty="0" smtClean="0"/>
              <a:t>157 -&gt; 2113 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801185EE-105C-462E-BCF2-2FE3BC5AEE4C}" type="datetime4">
              <a:rPr lang="de-DE" smtClean="0"/>
              <a:t>23. Februar 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|  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|  </a:t>
            </a:r>
            <a:fld id="{838F2133-9973-40F4-A88E-50FB2D15B987}" type="slidenum">
              <a:rPr lang="de-DE" smtClean="0"/>
              <a:pPr>
                <a:defRPr/>
              </a:pPr>
              <a:t>71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9557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ED0F0-F5B4-4D85-B6CA-1C9AAD004ABF}" type="datetimeFigureOut">
              <a:rPr lang="en-US" smtClean="0"/>
              <a:t>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E1F5-1698-4894-8BC0-F9EFD9129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50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ED0F0-F5B4-4D85-B6CA-1C9AAD004ABF}" type="datetimeFigureOut">
              <a:rPr lang="en-US" smtClean="0"/>
              <a:t>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E1F5-1698-4894-8BC0-F9EFD9129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0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ED0F0-F5B4-4D85-B6CA-1C9AAD004ABF}" type="datetimeFigureOut">
              <a:rPr lang="en-US" smtClean="0"/>
              <a:t>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E1F5-1698-4894-8BC0-F9EFD9129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85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ED0F0-F5B4-4D85-B6CA-1C9AAD004ABF}" type="datetimeFigureOut">
              <a:rPr lang="en-US" smtClean="0"/>
              <a:t>2/23/2016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E1F5-1698-4894-8BC0-F9EFD9129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9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ED0F0-F5B4-4D85-B6CA-1C9AAD004ABF}" type="datetimeFigureOut">
              <a:rPr lang="en-US" smtClean="0"/>
              <a:t>2/23/2016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E1F5-1698-4894-8BC0-F9EFD9129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6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ED0F0-F5B4-4D85-B6CA-1C9AAD004ABF}" type="datetimeFigureOut">
              <a:rPr lang="en-US" smtClean="0"/>
              <a:t>2/23/2016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E1F5-1698-4894-8BC0-F9EFD9129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1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ED0F0-F5B4-4D85-B6CA-1C9AAD004ABF}" type="datetimeFigureOut">
              <a:rPr lang="en-US" smtClean="0"/>
              <a:t>2/23/2016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E1F5-1698-4894-8BC0-F9EFD9129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1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ED0F0-F5B4-4D85-B6CA-1C9AAD004ABF}" type="datetimeFigureOut">
              <a:rPr lang="en-US" smtClean="0"/>
              <a:t>2/23/2016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E1F5-1698-4894-8BC0-F9EFD9129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62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ED0F0-F5B4-4D85-B6CA-1C9AAD004ABF}" type="datetimeFigureOut">
              <a:rPr lang="en-US" smtClean="0"/>
              <a:t>2/23/2016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E1F5-1698-4894-8BC0-F9EFD9129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7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ED0F0-F5B4-4D85-B6CA-1C9AAD004ABF}" type="datetimeFigureOut">
              <a:rPr lang="en-US" smtClean="0"/>
              <a:t>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E1F5-1698-4894-8BC0-F9EFD9129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5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ED0F0-F5B4-4D85-B6CA-1C9AAD004ABF}" type="datetimeFigureOut">
              <a:rPr lang="en-US" smtClean="0"/>
              <a:t>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E1F5-1698-4894-8BC0-F9EFD9129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4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ED0F0-F5B4-4D85-B6CA-1C9AAD004ABF}" type="datetimeFigureOut">
              <a:rPr lang="en-US" smtClean="0"/>
              <a:t>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1E1F5-1698-4894-8BC0-F9EFD9129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44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1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0.png"/><Relationship Id="rId4" Type="http://schemas.openxmlformats.org/officeDocument/2006/relationships/image" Target="../media/image320.png"/><Relationship Id="rId9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48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4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56.wmf"/><Relationship Id="rId4" Type="http://schemas.openxmlformats.org/officeDocument/2006/relationships/oleObject" Target="../embeddings/oleObject7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57.w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0" y="1619252"/>
            <a:ext cx="9143999" cy="1470025"/>
          </a:xfrm>
        </p:spPr>
        <p:txBody>
          <a:bodyPr>
            <a:normAutofit/>
          </a:bodyPr>
          <a:lstStyle/>
          <a:p>
            <a:r>
              <a:rPr lang="en-US" dirty="0" smtClean="0"/>
              <a:t>Hash-based Signatures</a:t>
            </a:r>
            <a:br>
              <a:rPr lang="en-US" dirty="0" smtClean="0"/>
            </a:br>
            <a:r>
              <a:rPr lang="de-DE" sz="2000" dirty="0"/>
              <a:t/>
            </a:r>
            <a:br>
              <a:rPr lang="de-DE" sz="2000" dirty="0"/>
            </a:br>
            <a:endParaRPr lang="de-DE" sz="1800" dirty="0"/>
          </a:p>
        </p:txBody>
      </p:sp>
      <p:sp>
        <p:nvSpPr>
          <p:cNvPr id="5" name="Untertitel 4"/>
          <p:cNvSpPr>
            <a:spLocks noGrp="1"/>
          </p:cNvSpPr>
          <p:nvPr>
            <p:ph type="subTitle" idx="1"/>
          </p:nvPr>
        </p:nvSpPr>
        <p:spPr>
          <a:xfrm>
            <a:off x="1" y="2734123"/>
            <a:ext cx="9143998" cy="550863"/>
          </a:xfrm>
        </p:spPr>
        <p:txBody>
          <a:bodyPr/>
          <a:lstStyle/>
          <a:p>
            <a:r>
              <a:rPr lang="de-DE" dirty="0" smtClean="0"/>
              <a:t>Andreas Hülsing</a:t>
            </a:r>
          </a:p>
        </p:txBody>
      </p:sp>
    </p:spTree>
    <p:extLst>
      <p:ext uri="{BB962C8B-B14F-4D97-AF65-F5344CB8AC3E}">
        <p14:creationId xmlns:p14="http://schemas.microsoft.com/office/powerpoint/2010/main" val="428163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Post-Quantum </a:t>
            </a:r>
            <a:r>
              <a:rPr lang="de-DE" dirty="0" err="1" smtClean="0"/>
              <a:t>Signatures</a:t>
            </a:r>
            <a:endParaRPr lang="en-US" dirty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50827" y="1592263"/>
            <a:ext cx="8640763" cy="45005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b="1" dirty="0" smtClean="0"/>
              <a:t>Lattice, MQ, Coding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	Signature and/or key sizes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	Runtimes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	Secure parameters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2</a:t>
            </a:fld>
            <a:endParaRPr lang="nl-NL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3665" y="4560890"/>
            <a:ext cx="2130425" cy="153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Grafik 8" descr="cfs-sig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5100" y="1592265"/>
            <a:ext cx="2376488" cy="138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6443663" y="3284540"/>
          <a:ext cx="2622550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Formel" r:id="rId5" imgW="1726920" imgH="723600" progId="Equation.3">
                  <p:embed/>
                </p:oleObj>
              </mc:Choice>
              <mc:Fallback>
                <p:oleObj name="Formel" r:id="rId5" imgW="172692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3284540"/>
                        <a:ext cx="2622550" cy="1100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2" descr="https://lh4.ggpht.com/x_qopwzCAxbAyUupeqSUVo___0GNnnSF_9mXnYXZSFyne5myOT3F1EHiQwr8awMBwBF-=w30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5444" y="3024259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2" descr="https://lh4.ggpht.com/x_qopwzCAxbAyUupeqSUVo___0GNnnSF_9mXnYXZSFyne5myOT3F1EHiQwr8awMBwBF-=w30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5444" y="4021116"/>
            <a:ext cx="504056" cy="504056"/>
          </a:xfrm>
          <a:prstGeom prst="rect">
            <a:avLst/>
          </a:prstGeom>
          <a:noFill/>
        </p:spPr>
      </p:pic>
      <p:pic>
        <p:nvPicPr>
          <p:cNvPr id="14" name="Picture 2" descr="https://lh4.ggpht.com/x_qopwzCAxbAyUupeqSUVo___0GNnnSF_9mXnYXZSFyne5myOT3F1EHiQwr8awMBwBF-=w30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4799" y="5096735"/>
            <a:ext cx="504056" cy="5040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4176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Hash-</a:t>
            </a:r>
            <a:r>
              <a:rPr lang="de-DE" dirty="0" err="1" smtClean="0"/>
              <a:t>based</a:t>
            </a:r>
            <a:r>
              <a:rPr lang="de-DE" dirty="0" smtClean="0"/>
              <a:t> </a:t>
            </a:r>
            <a:r>
              <a:rPr lang="de-DE" dirty="0" err="1" smtClean="0"/>
              <a:t>Signature</a:t>
            </a:r>
            <a:r>
              <a:rPr lang="de-DE" dirty="0" smtClean="0"/>
              <a:t> </a:t>
            </a:r>
            <a:r>
              <a:rPr lang="de-DE" dirty="0" err="1" smtClean="0"/>
              <a:t>Schemes</a:t>
            </a:r>
            <a:r>
              <a:rPr lang="de-DE" dirty="0" smtClean="0"/>
              <a:t> </a:t>
            </a:r>
            <a:r>
              <a:rPr lang="de-DE" sz="2000" dirty="0"/>
              <a:t>[Mer89]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3</a:t>
            </a:fld>
            <a:endParaRPr lang="nl-NL"/>
          </a:p>
        </p:txBody>
      </p:sp>
      <p:pic>
        <p:nvPicPr>
          <p:cNvPr id="8" name="Picture 136" descr="Merkle tree (Diss)"/>
          <p:cNvPicPr>
            <a:picLocks noChangeAspect="1" noChangeArrowheads="1"/>
          </p:cNvPicPr>
          <p:nvPr/>
        </p:nvPicPr>
        <p:blipFill>
          <a:blip r:embed="rId2" cstate="print"/>
          <a:srcRect l="6985" t="9598" b="11301"/>
          <a:stretch>
            <a:fillRect/>
          </a:stretch>
        </p:blipFill>
        <p:spPr bwMode="auto">
          <a:xfrm>
            <a:off x="4724400" y="2348882"/>
            <a:ext cx="3956532" cy="260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Inhaltsplatzhalt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7958155"/>
              </p:ext>
            </p:extLst>
          </p:nvPr>
        </p:nvGraphicFramePr>
        <p:xfrm>
          <a:off x="558741" y="1811358"/>
          <a:ext cx="3999104" cy="3465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287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84D702B-B3BF-4A1D-9E4F-E6C0A9772E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graphicEl>
                                              <a:dgm id="{784D702B-B3BF-4A1D-9E4F-E6C0A9772E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graphicEl>
                                              <a:dgm id="{784D702B-B3BF-4A1D-9E4F-E6C0A9772E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09E531A-CFF7-43A9-9417-B045988E5C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graphicEl>
                                              <a:dgm id="{A09E531A-CFF7-43A9-9417-B045988E5C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graphicEl>
                                              <a:dgm id="{A09E531A-CFF7-43A9-9417-B045988E5C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9D411ED-58C4-4018-8FC4-31BFB9A35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graphicEl>
                                              <a:dgm id="{79D411ED-58C4-4018-8FC4-31BFB9A35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graphicEl>
                                              <a:dgm id="{79D411ED-58C4-4018-8FC4-31BFB9A35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037522A-AE69-42A5-BC12-F81D199B78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graphicEl>
                                              <a:dgm id="{7037522A-AE69-42A5-BC12-F81D199B78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graphicEl>
                                              <a:dgm id="{7037522A-AE69-42A5-BC12-F81D199B78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RSA – DSA – EC-DSA...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4</a:t>
            </a:fld>
            <a:endParaRPr lang="nl-NL"/>
          </a:p>
        </p:txBody>
      </p:sp>
      <p:sp>
        <p:nvSpPr>
          <p:cNvPr id="6" name="Rechteck 24"/>
          <p:cNvSpPr/>
          <p:nvPr/>
        </p:nvSpPr>
        <p:spPr>
          <a:xfrm>
            <a:off x="2924203" y="1682791"/>
            <a:ext cx="1728191" cy="648072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Intractability Assumption</a:t>
            </a:r>
          </a:p>
        </p:txBody>
      </p:sp>
      <p:sp>
        <p:nvSpPr>
          <p:cNvPr id="7" name="Rechteck 26"/>
          <p:cNvSpPr/>
          <p:nvPr/>
        </p:nvSpPr>
        <p:spPr>
          <a:xfrm>
            <a:off x="4058868" y="4923152"/>
            <a:ext cx="1296839" cy="648072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Digital signature scheme</a:t>
            </a:r>
          </a:p>
        </p:txBody>
      </p:sp>
      <p:cxnSp>
        <p:nvCxnSpPr>
          <p:cNvPr id="8" name="Gerade Verbindung mit Pfeil 27"/>
          <p:cNvCxnSpPr>
            <a:endCxn id="7" idx="0"/>
          </p:cNvCxnSpPr>
          <p:nvPr/>
        </p:nvCxnSpPr>
        <p:spPr>
          <a:xfrm rot="5400000">
            <a:off x="3915198" y="4131064"/>
            <a:ext cx="1584176" cy="1588"/>
          </a:xfrm>
          <a:prstGeom prst="straightConnector1">
            <a:avLst/>
          </a:prstGeom>
          <a:ln w="31750">
            <a:solidFill>
              <a:schemeClr val="tx1"/>
            </a:solidFill>
            <a:prstDash val="sys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hteck 32"/>
          <p:cNvSpPr/>
          <p:nvPr/>
        </p:nvSpPr>
        <p:spPr>
          <a:xfrm>
            <a:off x="5004051" y="1682792"/>
            <a:ext cx="1728191" cy="648072"/>
          </a:xfrm>
          <a:prstGeom prst="rect">
            <a:avLst/>
          </a:prstGeom>
          <a:solidFill>
            <a:srgbClr val="00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Cryptographic </a:t>
            </a:r>
            <a:br>
              <a:rPr lang="en-US" sz="1400" dirty="0" smtClean="0"/>
            </a:br>
            <a:r>
              <a:rPr lang="en-US" sz="1400" dirty="0" smtClean="0"/>
              <a:t>hash </a:t>
            </a:r>
            <a:r>
              <a:rPr lang="en-US" sz="1400" dirty="0"/>
              <a:t>function</a:t>
            </a:r>
          </a:p>
        </p:txBody>
      </p:sp>
      <p:cxnSp>
        <p:nvCxnSpPr>
          <p:cNvPr id="10" name="Gewinkelte Verbindung 25"/>
          <p:cNvCxnSpPr>
            <a:stCxn id="6" idx="2"/>
          </p:cNvCxnSpPr>
          <p:nvPr/>
        </p:nvCxnSpPr>
        <p:spPr>
          <a:xfrm rot="16200000" flipH="1">
            <a:off x="3743734" y="2375427"/>
            <a:ext cx="1008908" cy="919783"/>
          </a:xfrm>
          <a:prstGeom prst="bentConnector3">
            <a:avLst>
              <a:gd name="adj1" fmla="val 100037"/>
            </a:avLst>
          </a:prstGeom>
          <a:ln w="31750">
            <a:solidFill>
              <a:schemeClr val="tx1"/>
            </a:solidFill>
            <a:prstDash val="sys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Form 31"/>
          <p:cNvCxnSpPr>
            <a:stCxn id="9" idx="2"/>
          </p:cNvCxnSpPr>
          <p:nvPr/>
        </p:nvCxnSpPr>
        <p:spPr>
          <a:xfrm rot="5400000">
            <a:off x="4782866" y="2254493"/>
            <a:ext cx="1008906" cy="1161653"/>
          </a:xfrm>
          <a:prstGeom prst="bentConnector2">
            <a:avLst/>
          </a:prstGeom>
          <a:ln w="31750">
            <a:solidFill>
              <a:schemeClr val="tx1"/>
            </a:solidFill>
            <a:prstDash val="sys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lipse 9"/>
          <p:cNvSpPr/>
          <p:nvPr/>
        </p:nvSpPr>
        <p:spPr>
          <a:xfrm>
            <a:off x="943226" y="2690904"/>
            <a:ext cx="2485033" cy="1080120"/>
          </a:xfrm>
          <a:prstGeom prst="ellipse">
            <a:avLst/>
          </a:prstGeom>
          <a:solidFill>
            <a:srgbClr val="FB800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RSA, DH, SVP, MQ, …</a:t>
            </a:r>
          </a:p>
        </p:txBody>
      </p:sp>
      <p:cxnSp>
        <p:nvCxnSpPr>
          <p:cNvPr id="13" name="Gerade Verbindung mit Pfeil 11"/>
          <p:cNvCxnSpPr/>
          <p:nvPr/>
        </p:nvCxnSpPr>
        <p:spPr>
          <a:xfrm flipV="1">
            <a:off x="2764945" y="2402870"/>
            <a:ext cx="504056" cy="360042"/>
          </a:xfrm>
          <a:prstGeom prst="straightConnector1">
            <a:avLst/>
          </a:prstGeom>
          <a:ln w="28575">
            <a:solidFill>
              <a:srgbClr val="00090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pieren 12"/>
          <p:cNvGrpSpPr/>
          <p:nvPr/>
        </p:nvGrpSpPr>
        <p:grpSpPr>
          <a:xfrm>
            <a:off x="2259360" y="1340770"/>
            <a:ext cx="1664568" cy="2556255"/>
            <a:chOff x="4131568" y="3429000"/>
            <a:chExt cx="656458" cy="1008114"/>
          </a:xfrm>
        </p:grpSpPr>
        <p:cxnSp>
          <p:nvCxnSpPr>
            <p:cNvPr id="15" name="Gerade Verbindung 13"/>
            <p:cNvCxnSpPr/>
            <p:nvPr/>
          </p:nvCxnSpPr>
          <p:spPr>
            <a:xfrm rot="16200000" flipH="1">
              <a:off x="4063751" y="3640833"/>
              <a:ext cx="792092" cy="656458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14"/>
            <p:cNvCxnSpPr/>
            <p:nvPr/>
          </p:nvCxnSpPr>
          <p:spPr>
            <a:xfrm rot="5400000">
              <a:off x="3928120" y="3712841"/>
              <a:ext cx="1008114" cy="440432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371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0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3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Hash function families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4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(Hash) function families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{0,1}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{0,1}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de-DE" b="0" dirty="0" smtClean="0"/>
              </a:p>
              <a:p>
                <a:endParaRPr lang="de-DE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)≥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de-DE" dirty="0" smtClean="0"/>
              </a:p>
              <a:p>
                <a:r>
                  <a:rPr lang="de-DE" dirty="0" smtClean="0"/>
                  <a:t>„efficient“</a:t>
                </a:r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rapezoid 3"/>
              <p:cNvSpPr/>
              <p:nvPr/>
            </p:nvSpPr>
            <p:spPr>
              <a:xfrm>
                <a:off x="7031945" y="3982569"/>
                <a:ext cx="1056418" cy="731160"/>
              </a:xfrm>
              <a:prstGeom prst="trapezoid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e-DE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de-DE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rapezoi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945" y="3982569"/>
                <a:ext cx="1056418" cy="731160"/>
              </a:xfrm>
              <a:prstGeom prst="trapezoid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erade Verbindung mit Pfeil 6"/>
          <p:cNvCxnSpPr>
            <a:endCxn id="4" idx="2"/>
          </p:cNvCxnSpPr>
          <p:nvPr/>
        </p:nvCxnSpPr>
        <p:spPr>
          <a:xfrm flipV="1">
            <a:off x="7560154" y="4713729"/>
            <a:ext cx="0" cy="57631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8"/>
          <p:cNvCxnSpPr>
            <a:stCxn id="4" idx="0"/>
          </p:cNvCxnSpPr>
          <p:nvPr/>
        </p:nvCxnSpPr>
        <p:spPr>
          <a:xfrm flipV="1">
            <a:off x="7560154" y="3517579"/>
            <a:ext cx="0" cy="46499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17"/>
              <p:cNvSpPr txBox="1"/>
              <p:nvPr/>
            </p:nvSpPr>
            <p:spPr>
              <a:xfrm>
                <a:off x="7070688" y="5290041"/>
                <a:ext cx="1408037" cy="586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/>
                            <m:t>{0,1}</m:t>
                          </m:r>
                        </m:e>
                        <m:sup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de-DE" sz="2800" baseline="30000" dirty="0"/>
              </a:p>
            </p:txBody>
          </p:sp>
        </mc:Choice>
        <mc:Fallback xmlns="">
          <p:sp>
            <p:nvSpPr>
              <p:cNvPr id="7" name="Textfeld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688" y="5290041"/>
                <a:ext cx="1408037" cy="5869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18"/>
              <p:cNvSpPr txBox="1"/>
              <p:nvPr/>
            </p:nvSpPr>
            <p:spPr>
              <a:xfrm>
                <a:off x="6927588" y="2996026"/>
                <a:ext cx="1408038" cy="521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/>
                            <m:t>{0,1}</m:t>
                          </m:r>
                        </m:e>
                        <m:sup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de-DE" sz="2800" baseline="30000" dirty="0"/>
              </a:p>
            </p:txBody>
          </p:sp>
        </mc:Choice>
        <mc:Fallback xmlns="">
          <p:sp>
            <p:nvSpPr>
              <p:cNvPr id="8" name="Textfeld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588" y="2996026"/>
                <a:ext cx="1408038" cy="52155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1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One-wayness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: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dirty="0"/>
                                <m:t>{0,1}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dirty="0"/>
                                <m:t>{0,1}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de-DE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$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𝑥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$</m:t>
                          </m:r>
                        </m:e>
                      </m:groupCh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dirty="0"/>
                            <m:t>{0,1}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de-DE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endParaRPr lang="de-DE" dirty="0" smtClean="0"/>
              </a:p>
              <a:p>
                <a:pPr marL="0" indent="0">
                  <a:buNone/>
                </a:pPr>
                <a:r>
                  <a:rPr lang="de-DE" dirty="0" smtClean="0"/>
                  <a:t>Success 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de-DE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t="46284" r="81213" b="23967"/>
          <a:stretch>
            <a:fillRect/>
          </a:stretch>
        </p:blipFill>
        <p:spPr bwMode="auto">
          <a:xfrm>
            <a:off x="7134898" y="3037779"/>
            <a:ext cx="1425587" cy="1224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8"/>
              <p:cNvSpPr txBox="1">
                <a:spLocks noChangeArrowheads="1"/>
              </p:cNvSpPr>
              <p:nvPr/>
            </p:nvSpPr>
            <p:spPr bwMode="auto">
              <a:xfrm>
                <a:off x="6673784" y="1825625"/>
                <a:ext cx="234781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73784" y="1825625"/>
                <a:ext cx="2347816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05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21"/>
          <p:cNvCxnSpPr>
            <a:stCxn id="4" idx="2"/>
          </p:cNvCxnSpPr>
          <p:nvPr/>
        </p:nvCxnSpPr>
        <p:spPr bwMode="auto">
          <a:xfrm flipH="1">
            <a:off x="7847691" y="4261968"/>
            <a:ext cx="1" cy="59454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22"/>
              <p:cNvSpPr txBox="1">
                <a:spLocks noChangeArrowheads="1"/>
              </p:cNvSpPr>
              <p:nvPr/>
            </p:nvSpPr>
            <p:spPr bwMode="auto">
              <a:xfrm>
                <a:off x="7398074" y="4991448"/>
                <a:ext cx="103823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Textfeld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8074" y="4991448"/>
                <a:ext cx="1038234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Gerade Verbindung mit Pfeil 21"/>
          <p:cNvCxnSpPr/>
          <p:nvPr/>
        </p:nvCxnSpPr>
        <p:spPr bwMode="auto">
          <a:xfrm flipH="1">
            <a:off x="7847690" y="2375767"/>
            <a:ext cx="1" cy="59454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4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Collision resistance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628650" y="1825625"/>
                <a:ext cx="78867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: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dirty="0"/>
                                <m:t>{0,1}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dirty="0"/>
                                <m:t>{0,1}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de-DE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$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dirty="0" smtClean="0"/>
              </a:p>
              <a:p>
                <a:pPr marL="0" indent="0">
                  <a:buNone/>
                </a:pPr>
                <a:r>
                  <a:rPr lang="de-DE" dirty="0" smtClean="0"/>
                  <a:t>Success if  </a:t>
                </a: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de-DE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 smtClean="0"/>
                  <a:t> and</a:t>
                </a:r>
                <a:br>
                  <a:rPr lang="en-US" dirty="0" smtClean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de-D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Sup>
                        <m:sSub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825625"/>
                <a:ext cx="7886700" cy="4351338"/>
              </a:xfrm>
              <a:prstGeom prst="rect">
                <a:avLst/>
              </a:prstGeom>
              <a:blipFill rotWithShape="0"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t="46284" r="81213" b="23967"/>
          <a:stretch>
            <a:fillRect/>
          </a:stretch>
        </p:blipFill>
        <p:spPr bwMode="auto">
          <a:xfrm>
            <a:off x="7134898" y="3037779"/>
            <a:ext cx="1425587" cy="1224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8"/>
              <p:cNvSpPr txBox="1">
                <a:spLocks noChangeArrowheads="1"/>
              </p:cNvSpPr>
              <p:nvPr/>
            </p:nvSpPr>
            <p:spPr bwMode="auto">
              <a:xfrm>
                <a:off x="6673784" y="1825625"/>
                <a:ext cx="234781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73784" y="1825625"/>
                <a:ext cx="2347816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21"/>
          <p:cNvCxnSpPr>
            <a:stCxn id="5" idx="2"/>
          </p:cNvCxnSpPr>
          <p:nvPr/>
        </p:nvCxnSpPr>
        <p:spPr bwMode="auto">
          <a:xfrm flipH="1">
            <a:off x="7847691" y="4261968"/>
            <a:ext cx="1" cy="59454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22"/>
              <p:cNvSpPr txBox="1">
                <a:spLocks noChangeArrowheads="1"/>
              </p:cNvSpPr>
              <p:nvPr/>
            </p:nvSpPr>
            <p:spPr bwMode="auto">
              <a:xfrm>
                <a:off x="7249886" y="4991448"/>
                <a:ext cx="118642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de-DE" sz="2400" dirty="0" smtClean="0"/>
                  <a:t>)</a:t>
                </a:r>
                <a:endParaRPr lang="de-DE" sz="2400" dirty="0"/>
              </a:p>
            </p:txBody>
          </p:sp>
        </mc:Choice>
        <mc:Fallback xmlns="">
          <p:sp>
            <p:nvSpPr>
              <p:cNvPr id="8" name="Textfeld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49886" y="4991448"/>
                <a:ext cx="1186422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4103" t="-10526" r="-2051" b="-2894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Gerade Verbindung mit Pfeil 21"/>
          <p:cNvCxnSpPr/>
          <p:nvPr/>
        </p:nvCxnSpPr>
        <p:spPr bwMode="auto">
          <a:xfrm flipH="1">
            <a:off x="7847690" y="2375767"/>
            <a:ext cx="1" cy="59454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Second-preimage resistance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: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dirty="0"/>
                                <m:t>{0,1}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dirty="0"/>
                                <m:t>{0,1}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$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$</m:t>
                          </m:r>
                        </m:e>
                      </m:groupCh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dirty="0"/>
                            <m:t>{0,1}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Success if  </a:t>
                </a: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de-D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 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/>
                      </m:sSubSup>
                      <m:r>
                        <a:rPr lang="de-D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Sup>
                        <m:sSub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/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t="46284" r="81213" b="23967"/>
          <a:stretch>
            <a:fillRect/>
          </a:stretch>
        </p:blipFill>
        <p:spPr bwMode="auto">
          <a:xfrm>
            <a:off x="7125567" y="3037779"/>
            <a:ext cx="1425587" cy="1224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8"/>
              <p:cNvSpPr txBox="1">
                <a:spLocks noChangeArrowheads="1"/>
              </p:cNvSpPr>
              <p:nvPr/>
            </p:nvSpPr>
            <p:spPr bwMode="auto">
              <a:xfrm>
                <a:off x="6664453" y="1825625"/>
                <a:ext cx="234781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64453" y="1825625"/>
                <a:ext cx="2347816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erade Verbindung mit Pfeil 21"/>
          <p:cNvCxnSpPr>
            <a:stCxn id="4" idx="2"/>
          </p:cNvCxnSpPr>
          <p:nvPr/>
        </p:nvCxnSpPr>
        <p:spPr bwMode="auto">
          <a:xfrm flipH="1">
            <a:off x="7838360" y="4261968"/>
            <a:ext cx="1" cy="59454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22"/>
              <p:cNvSpPr txBox="1">
                <a:spLocks noChangeArrowheads="1"/>
              </p:cNvSpPr>
              <p:nvPr/>
            </p:nvSpPr>
            <p:spPr bwMode="auto">
              <a:xfrm>
                <a:off x="7388743" y="4991448"/>
                <a:ext cx="103823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88743" y="4991448"/>
                <a:ext cx="1038234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Gerade Verbindung mit Pfeil 21"/>
          <p:cNvCxnSpPr/>
          <p:nvPr/>
        </p:nvCxnSpPr>
        <p:spPr bwMode="auto">
          <a:xfrm flipH="1">
            <a:off x="7838359" y="2375767"/>
            <a:ext cx="1" cy="59454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33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/>
          <p:cNvSpPr/>
          <p:nvPr/>
        </p:nvSpPr>
        <p:spPr>
          <a:xfrm>
            <a:off x="447869" y="3498977"/>
            <a:ext cx="3433666" cy="155821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Undetectability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: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dirty="0"/>
                                <m:t>{0,1}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dirty="0"/>
                                <m:t>{0,1}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$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𝑏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$</m:t>
                          </m:r>
                        </m:e>
                      </m:groupCh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{0,1}</m:t>
                      </m:r>
                    </m:oMath>
                  </m:oMathPara>
                </a14:m>
                <a:endParaRPr lang="de-DE" dirty="0" smtClean="0"/>
              </a:p>
              <a:p>
                <a:pPr marL="0" indent="0">
                  <a:buNone/>
                </a:pPr>
                <a:r>
                  <a:rPr lang="de-DE" dirty="0" smtClean="0"/>
                  <a:t>If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de-DE" b="0" dirty="0" smtClean="0"/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groupChr>
                      <m:groupChrPr>
                        <m:chr m:val="←"/>
                        <m:vertJc m:val="bot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$</m:t>
                        </m:r>
                      </m:e>
                    </m:groupCh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{0,1}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</m:oMath>
                </a14:m>
                <a:endParaRPr lang="de-DE" dirty="0" smtClean="0"/>
              </a:p>
              <a:p>
                <a:pPr marL="0" indent="0">
                  <a:buNone/>
                </a:pPr>
                <a:r>
                  <a:rPr lang="de-DE" b="0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b="0" dirty="0" smtClean="0"/>
              </a:p>
              <a:p>
                <a:pPr marL="0" indent="0">
                  <a:buNone/>
                </a:pPr>
                <a:r>
                  <a:rPr lang="de-DE" dirty="0" smtClean="0"/>
                  <a:t>else</a:t>
                </a:r>
              </a:p>
              <a:p>
                <a:pPr marL="0" indent="0">
                  <a:buNone/>
                </a:pPr>
                <a:r>
                  <a:rPr lang="de-DE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$</m:t>
                        </m:r>
                      </m:e>
                    </m:groupCh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{0,1}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 cstate="print"/>
          <a:srcRect t="46284" r="81213" b="23967"/>
          <a:stretch>
            <a:fillRect/>
          </a:stretch>
        </p:blipFill>
        <p:spPr bwMode="auto">
          <a:xfrm>
            <a:off x="7125567" y="3037779"/>
            <a:ext cx="1425587" cy="1224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8"/>
              <p:cNvSpPr txBox="1">
                <a:spLocks noChangeArrowheads="1"/>
              </p:cNvSpPr>
              <p:nvPr/>
            </p:nvSpPr>
            <p:spPr bwMode="auto">
              <a:xfrm>
                <a:off x="6664453" y="1825625"/>
                <a:ext cx="234781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64453" y="1825625"/>
                <a:ext cx="2347816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05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 Verbindung mit Pfeil 21"/>
          <p:cNvCxnSpPr>
            <a:stCxn id="19" idx="2"/>
          </p:cNvCxnSpPr>
          <p:nvPr/>
        </p:nvCxnSpPr>
        <p:spPr bwMode="auto">
          <a:xfrm flipH="1">
            <a:off x="7838360" y="4261968"/>
            <a:ext cx="1" cy="59454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2"/>
              <p:cNvSpPr txBox="1">
                <a:spLocks noChangeArrowheads="1"/>
              </p:cNvSpPr>
              <p:nvPr/>
            </p:nvSpPr>
            <p:spPr bwMode="auto">
              <a:xfrm>
                <a:off x="7388743" y="4991448"/>
                <a:ext cx="103823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de-DE" sz="2400" dirty="0" smtClean="0"/>
                  <a:t>*</a:t>
                </a:r>
                <a:endParaRPr lang="de-DE" sz="2400" dirty="0"/>
              </a:p>
            </p:txBody>
          </p:sp>
        </mc:Choice>
        <mc:Fallback xmlns="">
          <p:sp>
            <p:nvSpPr>
              <p:cNvPr id="22" name="Textfeld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88743" y="4991448"/>
                <a:ext cx="1038234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10526" b="-2894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Gerade Verbindung mit Pfeil 21"/>
          <p:cNvCxnSpPr/>
          <p:nvPr/>
        </p:nvCxnSpPr>
        <p:spPr bwMode="auto">
          <a:xfrm flipH="1">
            <a:off x="7838359" y="2375767"/>
            <a:ext cx="1" cy="59454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67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59259E-6 L -0.00104 0.22894 " pathEditMode="relative" rAng="0" ptsTypes="AA">
                                      <p:cBhvr>
                                        <p:cTn id="1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6509020" y="4062091"/>
            <a:ext cx="2006329" cy="64619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Pseudorandomness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: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dirty="0"/>
                                <m:t>{0,1}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dirty="0"/>
                                <m:t>{0,1}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284" r="81213" b="23967"/>
          <a:stretch>
            <a:fillRect/>
          </a:stretch>
        </p:blipFill>
        <p:spPr bwMode="auto">
          <a:xfrm>
            <a:off x="2116084" y="3743865"/>
            <a:ext cx="1425575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erade Verbindung mit Pfeil 23"/>
          <p:cNvCxnSpPr/>
          <p:nvPr/>
        </p:nvCxnSpPr>
        <p:spPr>
          <a:xfrm rot="5400000">
            <a:off x="2642341" y="3527983"/>
            <a:ext cx="647700" cy="1587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8"/>
              <p:cNvSpPr txBox="1">
                <a:spLocks noChangeArrowheads="1"/>
              </p:cNvSpPr>
              <p:nvPr/>
            </p:nvSpPr>
            <p:spPr bwMode="auto">
              <a:xfrm>
                <a:off x="2717747" y="2773127"/>
                <a:ext cx="503237" cy="453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de-DE" altLang="en-US" sz="2400" baseline="30000"/>
              </a:p>
            </p:txBody>
          </p:sp>
        </mc:Choice>
        <mc:Fallback xmlns="">
          <p:sp>
            <p:nvSpPr>
              <p:cNvPr id="6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7747" y="2773127"/>
                <a:ext cx="50323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6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25"/>
          <p:cNvSpPr/>
          <p:nvPr/>
        </p:nvSpPr>
        <p:spPr>
          <a:xfrm>
            <a:off x="5213297" y="3781189"/>
            <a:ext cx="1263650" cy="122396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2400" dirty="0"/>
              <a:t>g</a:t>
            </a:r>
          </a:p>
        </p:txBody>
      </p:sp>
      <p:cxnSp>
        <p:nvCxnSpPr>
          <p:cNvPr id="8" name="Gerade Verbindung mit Pfeil 26"/>
          <p:cNvCxnSpPr/>
          <p:nvPr/>
        </p:nvCxnSpPr>
        <p:spPr>
          <a:xfrm rot="5400000">
            <a:off x="5579216" y="3420033"/>
            <a:ext cx="431800" cy="1587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14"/>
              <p:cNvSpPr txBox="1">
                <a:spLocks noChangeArrowheads="1"/>
              </p:cNvSpPr>
              <p:nvPr/>
            </p:nvSpPr>
            <p:spPr bwMode="auto">
              <a:xfrm>
                <a:off x="5550199" y="2726278"/>
                <a:ext cx="50482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alt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de-DE" altLang="en-US" sz="2400" dirty="0"/>
              </a:p>
            </p:txBody>
          </p:sp>
        </mc:Choice>
        <mc:Fallback xmlns="">
          <p:sp>
            <p:nvSpPr>
              <p:cNvPr id="9" name="Textfeld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0199" y="2726278"/>
                <a:ext cx="504825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28"/>
          <p:cNvCxnSpPr/>
          <p:nvPr/>
        </p:nvCxnSpPr>
        <p:spPr>
          <a:xfrm>
            <a:off x="3541659" y="4005027"/>
            <a:ext cx="1598613" cy="1587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8"/>
              <p:cNvSpPr txBox="1">
                <a:spLocks noChangeArrowheads="1"/>
              </p:cNvSpPr>
              <p:nvPr/>
            </p:nvSpPr>
            <p:spPr bwMode="auto">
              <a:xfrm>
                <a:off x="4062359" y="3627202"/>
                <a:ext cx="50482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alt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altLang="en-US" sz="2400" dirty="0"/>
              </a:p>
            </p:txBody>
          </p:sp>
        </mc:Choice>
        <mc:Fallback xmlns="">
          <p:sp>
            <p:nvSpPr>
              <p:cNvPr id="11" name="Textfeld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2359" y="3627202"/>
                <a:ext cx="504825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30"/>
          <p:cNvCxnSpPr/>
          <p:nvPr/>
        </p:nvCxnSpPr>
        <p:spPr>
          <a:xfrm flipV="1">
            <a:off x="3541659" y="4708289"/>
            <a:ext cx="1598613" cy="7938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20"/>
              <p:cNvSpPr txBox="1">
                <a:spLocks noChangeArrowheads="1"/>
              </p:cNvSpPr>
              <p:nvPr/>
            </p:nvSpPr>
            <p:spPr bwMode="auto">
              <a:xfrm>
                <a:off x="3512043" y="4310409"/>
                <a:ext cx="160101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altLang="en-US" sz="24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altLang="en-US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de-DE" altLang="en-US" sz="24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de-DE" alt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alt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alt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altLang="en-US" sz="2400" dirty="0"/>
              </a:p>
            </p:txBody>
          </p:sp>
        </mc:Choice>
        <mc:Fallback xmlns="">
          <p:sp>
            <p:nvSpPr>
              <p:cNvPr id="13" name="Textfeld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2043" y="4310409"/>
                <a:ext cx="1601019" cy="461665"/>
              </a:xfrm>
              <a:prstGeom prst="rect">
                <a:avLst/>
              </a:prstGeom>
              <a:blipFill rotWithShape="0">
                <a:blip r:embed="rId7"/>
                <a:stretch>
                  <a:fillRect r="-380" b="-197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Gerade Verbindung mit Pfeil 32"/>
          <p:cNvCxnSpPr/>
          <p:nvPr/>
        </p:nvCxnSpPr>
        <p:spPr>
          <a:xfrm rot="5400000">
            <a:off x="2647103" y="5328208"/>
            <a:ext cx="6477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22"/>
              <p:cNvSpPr txBox="1">
                <a:spLocks noChangeArrowheads="1"/>
              </p:cNvSpPr>
              <p:nvPr/>
            </p:nvSpPr>
            <p:spPr bwMode="auto">
              <a:xfrm>
                <a:off x="2798709" y="5797314"/>
                <a:ext cx="49499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lang="de-DE" alt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de-DE" altLang="en-US" sz="2400" dirty="0" smtClean="0"/>
                  <a:t>*</a:t>
                </a:r>
                <a:endParaRPr lang="de-DE" altLang="en-US" sz="2400" dirty="0"/>
              </a:p>
            </p:txBody>
          </p:sp>
        </mc:Choice>
        <mc:Fallback xmlns="">
          <p:sp>
            <p:nvSpPr>
              <p:cNvPr id="15" name="Textfeld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8709" y="5797314"/>
                <a:ext cx="494997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3704" t="-9211" r="-14815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41"/>
              <p:cNvSpPr txBox="1">
                <a:spLocks noChangeArrowheads="1"/>
              </p:cNvSpPr>
              <p:nvPr/>
            </p:nvSpPr>
            <p:spPr bwMode="auto">
              <a:xfrm>
                <a:off x="6510284" y="3636727"/>
                <a:ext cx="1784630" cy="2316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de-DE" altLang="en-US" sz="2400" dirty="0" smtClean="0"/>
                  <a:t>If </a:t>
                </a:r>
                <a14:m>
                  <m:oMath xmlns:m="http://schemas.openxmlformats.org/officeDocument/2006/math">
                    <m:r>
                      <a:rPr lang="de-DE" alt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altLang="en-US" sz="2400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endParaRPr lang="de-DE" altLang="en-US" sz="2400" dirty="0"/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𝑔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de-DE" sz="2400" i="1">
                              <a:latin typeface="Cambria Math" panose="02040503050406030204" pitchFamily="18" charset="0"/>
                            </a:rPr>
                            <m:t>$</m:t>
                          </m:r>
                        </m:e>
                      </m:groupCh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altLang="en-US" sz="2400" dirty="0"/>
              </a:p>
              <a:p>
                <a:pPr eaLnBrk="1" hangingPunct="1"/>
                <a:r>
                  <a:rPr lang="de-DE" altLang="en-US" sz="2400" dirty="0" smtClean="0"/>
                  <a:t>else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de-DE" sz="2400" i="1">
                              <a:latin typeface="Cambria Math" panose="02040503050406030204" pitchFamily="18" charset="0"/>
                            </a:rPr>
                            <m:t>$</m:t>
                          </m:r>
                        </m:e>
                      </m:groupCh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altLang="en-US" sz="2400" dirty="0"/>
              </a:p>
              <a:p>
                <a:pPr eaLnBrk="1" hangingPunct="1"/>
                <a:endParaRPr lang="de-DE" altLang="en-US" sz="2400" dirty="0"/>
              </a:p>
            </p:txBody>
          </p:sp>
        </mc:Choice>
        <mc:Fallback xmlns="">
          <p:sp>
            <p:nvSpPr>
              <p:cNvPr id="17" name="Textfeld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10284" y="3636727"/>
                <a:ext cx="1784630" cy="2316596"/>
              </a:xfrm>
              <a:prstGeom prst="rect">
                <a:avLst/>
              </a:prstGeom>
              <a:blipFill rotWithShape="0">
                <a:blip r:embed="rId9"/>
                <a:stretch>
                  <a:fillRect l="-5461" t="-18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Bogen 29"/>
          <p:cNvSpPr/>
          <p:nvPr/>
        </p:nvSpPr>
        <p:spPr>
          <a:xfrm>
            <a:off x="3917897" y="3195402"/>
            <a:ext cx="649287" cy="2087562"/>
          </a:xfrm>
          <a:prstGeom prst="arc">
            <a:avLst>
              <a:gd name="adj1" fmla="val 11892651"/>
              <a:gd name="adj2" fmla="val 1004975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de-DE" sz="2400"/>
          </a:p>
        </p:txBody>
      </p:sp>
    </p:spTree>
    <p:extLst>
      <p:ext uri="{BB962C8B-B14F-4D97-AF65-F5344CB8AC3E}">
        <p14:creationId xmlns:p14="http://schemas.microsoft.com/office/powerpoint/2010/main" val="118419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1.85185E-6 L -0.00139 0.13102 " pathEditMode="relative" rAng="0" ptsTypes="AA">
                                      <p:cBhvr>
                                        <p:cTn id="4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6" grpId="0"/>
      <p:bldP spid="7" grpId="0" animBg="1"/>
      <p:bldP spid="9" grpId="0"/>
      <p:bldP spid="11" grpId="0"/>
      <p:bldP spid="13" grpId="0"/>
      <p:bldP spid="15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Generic security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„Black Box“ security (best we can do without looking at internals</a:t>
            </a:r>
            <a:r>
              <a:rPr lang="de-DE" dirty="0" smtClean="0"/>
              <a:t>)</a:t>
            </a:r>
          </a:p>
          <a:p>
            <a:pPr lvl="1"/>
            <a:r>
              <a:rPr lang="de-DE" dirty="0" smtClean="0"/>
              <a:t>For hash functions: Security of random function family</a:t>
            </a:r>
            <a:endParaRPr lang="de-DE" dirty="0" smtClean="0"/>
          </a:p>
          <a:p>
            <a:endParaRPr lang="de-DE" dirty="0"/>
          </a:p>
          <a:p>
            <a:r>
              <a:rPr lang="de-DE" dirty="0" smtClean="0"/>
              <a:t>(Often) expressed in #queries (query complexity)</a:t>
            </a:r>
          </a:p>
          <a:p>
            <a:endParaRPr lang="de-DE" dirty="0"/>
          </a:p>
          <a:p>
            <a:r>
              <a:rPr lang="de-DE" dirty="0" smtClean="0"/>
              <a:t>Hash functions not meeting generic security considered insecure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52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Generic Security - OWF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 smtClean="0"/>
                  <a:t>Classically:</a:t>
                </a:r>
              </a:p>
              <a:p>
                <a:r>
                  <a:rPr lang="de-DE" dirty="0" smtClean="0"/>
                  <a:t>No query: Output random guess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𝑆𝑢𝑐𝑐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𝑂𝑊</m:t>
                          </m:r>
                        </m:sup>
                      </m:sSub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b="0" dirty="0" smtClean="0"/>
              </a:p>
              <a:p>
                <a:r>
                  <a:rPr lang="de-DE" dirty="0" smtClean="0"/>
                  <a:t>One </a:t>
                </a:r>
                <a:r>
                  <a:rPr lang="de-DE" dirty="0"/>
                  <a:t>query: </a:t>
                </a:r>
                <a:r>
                  <a:rPr lang="de-DE" dirty="0" smtClean="0"/>
                  <a:t>Guess, check, output new guess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:r>
                  <a:rPr lang="de-DE" dirty="0" smtClean="0"/>
                  <a:t>		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𝑆𝑢𝑐𝑐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𝑂𝑊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lang="de-DE" dirty="0" smtClean="0"/>
              </a:p>
              <a:p>
                <a:r>
                  <a:rPr lang="de-DE" dirty="0" smtClean="0"/>
                  <a:t>q-queries: Guess, check, repeat q-times, output new guess</a:t>
                </a:r>
              </a:p>
              <a:p>
                <a:pPr marL="0" indent="0">
                  <a:buNone/>
                </a:pPr>
                <a:r>
                  <a:rPr lang="de-DE" dirty="0" smtClean="0"/>
                  <a:t>			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𝑆𝑢𝑐𝑐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𝑂𝑊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de-DE" dirty="0" smtClean="0"/>
                  <a:t> </a:t>
                </a:r>
              </a:p>
              <a:p>
                <a:r>
                  <a:rPr lang="de-DE" dirty="0" smtClean="0"/>
                  <a:t>Query bound:	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 smtClean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80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42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Generic Security - OWF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 smtClean="0"/>
                  <a:t>Quantum:</a:t>
                </a:r>
              </a:p>
              <a:p>
                <a:r>
                  <a:rPr lang="de-DE" dirty="0" smtClean="0"/>
                  <a:t>More complex</a:t>
                </a:r>
              </a:p>
              <a:p>
                <a:r>
                  <a:rPr lang="de-DE" dirty="0" smtClean="0"/>
                  <a:t>Reduction from quantum search for random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de-DE" dirty="0" smtClean="0"/>
              </a:p>
              <a:p>
                <a:r>
                  <a:rPr lang="de-DE" dirty="0" smtClean="0"/>
                  <a:t>Know lower &amp; upper bounds for quantum search!</a:t>
                </a:r>
              </a:p>
              <a:p>
                <a:endParaRPr lang="de-DE" dirty="0" smtClean="0"/>
              </a:p>
              <a:p>
                <a:r>
                  <a:rPr lang="de-DE" dirty="0" smtClean="0"/>
                  <a:t>Query bound:	</a:t>
                </a:r>
                <a:r>
                  <a:rPr lang="el-GR" dirty="0">
                    <a:ea typeface="Cambria Math" panose="02040503050406030204" pitchFamily="18" charset="0"/>
                  </a:rPr>
                  <a:t> </a:t>
                </a:r>
                <a:r>
                  <a:rPr lang="de-DE" dirty="0" smtClean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dirty="0" smtClean="0"/>
                  <a:t>)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de-DE" dirty="0" smtClean="0"/>
                  <a:t>Upper bound uses variant of Grover</a:t>
                </a:r>
                <a:endParaRPr lang="en-US" dirty="0" smtClean="0"/>
              </a:p>
              <a:p>
                <a:pPr marL="0" indent="0">
                  <a:buNone/>
                </a:pPr>
                <a:endParaRPr lang="de-DE" dirty="0" smtClean="0"/>
              </a:p>
              <a:p>
                <a:pPr marL="0" indent="0">
                  <a:buNone/>
                </a:pPr>
                <a:r>
                  <a:rPr lang="de-DE" dirty="0" smtClean="0"/>
                  <a:t>(Disclaimer: Currently only proof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≫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de-DE" dirty="0" smtClean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745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Generic Security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0835389"/>
                  </p:ext>
                </p:extLst>
              </p:nvPr>
            </p:nvGraphicFramePr>
            <p:xfrm>
              <a:off x="628650" y="2777347"/>
              <a:ext cx="7886700" cy="19439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6762"/>
                    <a:gridCol w="1242138"/>
                    <a:gridCol w="1314450"/>
                    <a:gridCol w="1314450"/>
                    <a:gridCol w="1314450"/>
                    <a:gridCol w="1314450"/>
                  </a:tblGrid>
                  <a:tr h="642043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400" dirty="0" smtClean="0"/>
                            <a:t>OW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400" dirty="0" smtClean="0"/>
                            <a:t>SPR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400" dirty="0" smtClean="0"/>
                            <a:t>CR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400" dirty="0" smtClean="0"/>
                            <a:t>UD*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400" dirty="0" smtClean="0"/>
                            <a:t>PRF*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  <a:tr h="650949">
                    <a:tc>
                      <a:txBody>
                        <a:bodyPr/>
                        <a:lstStyle/>
                        <a:p>
                          <a:r>
                            <a:rPr lang="de-DE" sz="2400" dirty="0" smtClean="0"/>
                            <a:t>Classical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 smtClean="0"/>
                            <a:t>)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 smtClean="0"/>
                            <a:t>)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 smtClean="0"/>
                            <a:t>)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 smtClean="0"/>
                            <a:t>)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 smtClean="0"/>
                            <a:t>)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  <a:tr h="650949">
                    <a:tc>
                      <a:txBody>
                        <a:bodyPr/>
                        <a:lstStyle/>
                        <a:p>
                          <a:r>
                            <a:rPr lang="de-DE" sz="2400" dirty="0" smtClean="0"/>
                            <a:t>Quantum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 smtClean="0"/>
                            <a:t>)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 smtClean="0"/>
                            <a:t>)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/3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 smtClean="0"/>
                            <a:t>)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 smtClean="0"/>
                            <a:t>)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 smtClean="0"/>
                            <a:t>)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0835389"/>
                  </p:ext>
                </p:extLst>
              </p:nvPr>
            </p:nvGraphicFramePr>
            <p:xfrm>
              <a:off x="628650" y="2777347"/>
              <a:ext cx="7886700" cy="19439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6762"/>
                    <a:gridCol w="1242138"/>
                    <a:gridCol w="1314450"/>
                    <a:gridCol w="1314450"/>
                    <a:gridCol w="1314450"/>
                    <a:gridCol w="1314450"/>
                  </a:tblGrid>
                  <a:tr h="642043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400" dirty="0" smtClean="0"/>
                            <a:t>OW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400" dirty="0" smtClean="0"/>
                            <a:t>SPR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400" dirty="0" smtClean="0"/>
                            <a:t>CR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400" dirty="0" smtClean="0"/>
                            <a:t>UD*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400" dirty="0" smtClean="0"/>
                            <a:t>PRF*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  <a:tr h="650949">
                    <a:tc>
                      <a:txBody>
                        <a:bodyPr/>
                        <a:lstStyle/>
                        <a:p>
                          <a:r>
                            <a:rPr lang="de-DE" sz="2400" dirty="0" smtClean="0"/>
                            <a:t>Classical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12808" t="-105607" r="-427586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0000" t="-105607" r="-301852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000" t="-105607" r="-201852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401860" t="-105607" r="-102791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499537" t="-105607" r="-2315" b="-101869"/>
                          </a:stretch>
                        </a:blipFill>
                      </a:tcPr>
                    </a:tc>
                  </a:tr>
                  <a:tr h="650949">
                    <a:tc>
                      <a:txBody>
                        <a:bodyPr/>
                        <a:lstStyle/>
                        <a:p>
                          <a:r>
                            <a:rPr lang="de-DE" sz="2400" dirty="0" smtClean="0"/>
                            <a:t>Quantum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12808" t="-205607" r="-427586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0000" t="-205607" r="-301852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000" t="-205607" r="-201852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401860" t="-205607" r="-102791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499537" t="-205607" r="-2315" b="-186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628650" y="5066522"/>
            <a:ext cx="5333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* conjectured, no proof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94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 smtClean="0"/>
              <a:t>Hash-function </a:t>
            </a:r>
            <a:r>
              <a:rPr lang="de-DE" sz="4000" dirty="0"/>
              <a:t>properties </a:t>
            </a:r>
            <a:endParaRPr lang="en-US" sz="4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16</a:t>
            </a:fld>
            <a:endParaRPr lang="nl-NL"/>
          </a:p>
        </p:txBody>
      </p:sp>
      <p:sp>
        <p:nvSpPr>
          <p:cNvPr id="6" name="Rechteck 7"/>
          <p:cNvSpPr/>
          <p:nvPr/>
        </p:nvSpPr>
        <p:spPr>
          <a:xfrm>
            <a:off x="2819448" y="2060848"/>
            <a:ext cx="2376264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Collision-Resistance</a:t>
            </a:r>
          </a:p>
        </p:txBody>
      </p:sp>
      <p:sp>
        <p:nvSpPr>
          <p:cNvPr id="7" name="Rechteck 8"/>
          <p:cNvSpPr/>
          <p:nvPr/>
        </p:nvSpPr>
        <p:spPr>
          <a:xfrm>
            <a:off x="2819448" y="3501008"/>
            <a:ext cx="2376264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cs typeface="Arial"/>
              </a:rPr>
              <a:t>2</a:t>
            </a:r>
            <a:r>
              <a:rPr lang="de-DE" baseline="30000" dirty="0">
                <a:cs typeface="Arial"/>
              </a:rPr>
              <a:t>nd</a:t>
            </a:r>
            <a:r>
              <a:rPr lang="de-DE" dirty="0">
                <a:cs typeface="Arial"/>
              </a:rPr>
              <a:t>-Preimage-Resistance</a:t>
            </a:r>
            <a:endParaRPr lang="de-DE" dirty="0"/>
          </a:p>
        </p:txBody>
      </p:sp>
      <p:sp>
        <p:nvSpPr>
          <p:cNvPr id="8" name="Rechteck 9"/>
          <p:cNvSpPr/>
          <p:nvPr/>
        </p:nvSpPr>
        <p:spPr>
          <a:xfrm>
            <a:off x="2819448" y="4948706"/>
            <a:ext cx="2376264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One-way</a:t>
            </a:r>
          </a:p>
        </p:txBody>
      </p:sp>
      <p:sp>
        <p:nvSpPr>
          <p:cNvPr id="9" name="Rechteck 10"/>
          <p:cNvSpPr/>
          <p:nvPr/>
        </p:nvSpPr>
        <p:spPr>
          <a:xfrm>
            <a:off x="6012160" y="4941168"/>
            <a:ext cx="2256608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Pseudorandom</a:t>
            </a:r>
          </a:p>
        </p:txBody>
      </p:sp>
      <p:cxnSp>
        <p:nvCxnSpPr>
          <p:cNvPr id="10" name="Gerade Verbindung mit Pfeil 12"/>
          <p:cNvCxnSpPr>
            <a:stCxn id="6" idx="2"/>
            <a:endCxn id="7" idx="0"/>
          </p:cNvCxnSpPr>
          <p:nvPr/>
        </p:nvCxnSpPr>
        <p:spPr>
          <a:xfrm>
            <a:off x="4007580" y="2708920"/>
            <a:ext cx="0" cy="792088"/>
          </a:xfrm>
          <a:prstGeom prst="straightConnector1">
            <a:avLst/>
          </a:prstGeom>
          <a:ln w="25400" cmpd="dbl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3"/>
          <p:cNvCxnSpPr>
            <a:stCxn id="7" idx="2"/>
            <a:endCxn id="8" idx="0"/>
          </p:cNvCxnSpPr>
          <p:nvPr/>
        </p:nvCxnSpPr>
        <p:spPr>
          <a:xfrm>
            <a:off x="4007580" y="4149080"/>
            <a:ext cx="0" cy="799626"/>
          </a:xfrm>
          <a:prstGeom prst="straightConnector1">
            <a:avLst/>
          </a:prstGeom>
          <a:ln w="25400" cmpd="dbl">
            <a:solidFill>
              <a:schemeClr val="tx1"/>
            </a:solidFill>
            <a:prstDash val="sysDot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6"/>
          <p:cNvCxnSpPr/>
          <p:nvPr/>
        </p:nvCxnSpPr>
        <p:spPr>
          <a:xfrm flipV="1">
            <a:off x="4259608" y="4149080"/>
            <a:ext cx="0" cy="799626"/>
          </a:xfrm>
          <a:prstGeom prst="straightConnector1">
            <a:avLst/>
          </a:prstGeom>
          <a:ln w="25400" cmpd="dbl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9"/>
          <p:cNvCxnSpPr>
            <a:stCxn id="8" idx="3"/>
            <a:endCxn id="9" idx="1"/>
          </p:cNvCxnSpPr>
          <p:nvPr/>
        </p:nvCxnSpPr>
        <p:spPr>
          <a:xfrm flipV="1">
            <a:off x="5195712" y="5265204"/>
            <a:ext cx="816448" cy="7538"/>
          </a:xfrm>
          <a:prstGeom prst="straightConnector1">
            <a:avLst/>
          </a:prstGeom>
          <a:ln w="25400" cmpd="dbl">
            <a:solidFill>
              <a:srgbClr val="FF0000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41"/>
          <p:cNvCxnSpPr/>
          <p:nvPr/>
        </p:nvCxnSpPr>
        <p:spPr>
          <a:xfrm flipV="1">
            <a:off x="2171376" y="1844824"/>
            <a:ext cx="0" cy="3744416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42"/>
          <p:cNvSpPr txBox="1"/>
          <p:nvPr/>
        </p:nvSpPr>
        <p:spPr>
          <a:xfrm rot="16200000">
            <a:off x="730115" y="3524729"/>
            <a:ext cx="1692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chemeClr val="accent1">
                    <a:lumMod val="75000"/>
                  </a:schemeClr>
                </a:solidFill>
              </a:rPr>
              <a:t>Assumption / Attacks</a:t>
            </a:r>
          </a:p>
        </p:txBody>
      </p:sp>
      <p:sp>
        <p:nvSpPr>
          <p:cNvPr id="16" name="Textfeld 43"/>
          <p:cNvSpPr txBox="1"/>
          <p:nvPr/>
        </p:nvSpPr>
        <p:spPr>
          <a:xfrm>
            <a:off x="574570" y="1844824"/>
            <a:ext cx="129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1">
                    <a:lumMod val="75000"/>
                  </a:schemeClr>
                </a:solidFill>
              </a:rPr>
              <a:t>stronger / easier to break</a:t>
            </a:r>
          </a:p>
        </p:txBody>
      </p:sp>
      <p:sp>
        <p:nvSpPr>
          <p:cNvPr id="17" name="Textfeld 44"/>
          <p:cNvSpPr txBox="1"/>
          <p:nvPr/>
        </p:nvSpPr>
        <p:spPr>
          <a:xfrm>
            <a:off x="851944" y="5373216"/>
            <a:ext cx="1343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1">
                    <a:lumMod val="75000"/>
                  </a:schemeClr>
                </a:solidFill>
              </a:rPr>
              <a:t>weaker /</a:t>
            </a:r>
          </a:p>
          <a:p>
            <a:r>
              <a:rPr lang="de-DE" b="1" dirty="0">
                <a:solidFill>
                  <a:schemeClr val="accent1">
                    <a:lumMod val="75000"/>
                  </a:schemeClr>
                </a:solidFill>
              </a:rPr>
              <a:t>harder to break</a:t>
            </a:r>
          </a:p>
        </p:txBody>
      </p:sp>
    </p:spTree>
    <p:extLst>
      <p:ext uri="{BB962C8B-B14F-4D97-AF65-F5344CB8AC3E}">
        <p14:creationId xmlns:p14="http://schemas.microsoft.com/office/powerpoint/2010/main" val="204829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 smtClean="0"/>
              <a:t>Attacks </a:t>
            </a:r>
            <a:r>
              <a:rPr lang="de-DE" sz="4000" dirty="0"/>
              <a:t>on Hash Functions</a:t>
            </a:r>
            <a:endParaRPr lang="en-US" sz="4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17</a:t>
            </a:fld>
            <a:endParaRPr lang="nl-NL"/>
          </a:p>
        </p:txBody>
      </p:sp>
      <p:cxnSp>
        <p:nvCxnSpPr>
          <p:cNvPr id="6" name="Gerade Verbindung mit Pfeil 5"/>
          <p:cNvCxnSpPr/>
          <p:nvPr/>
        </p:nvCxnSpPr>
        <p:spPr>
          <a:xfrm>
            <a:off x="250827" y="4869160"/>
            <a:ext cx="8569647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9"/>
          <p:cNvCxnSpPr/>
          <p:nvPr/>
        </p:nvCxnSpPr>
        <p:spPr>
          <a:xfrm>
            <a:off x="957086" y="4869160"/>
            <a:ext cx="0" cy="288032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12"/>
          <p:cNvCxnSpPr/>
          <p:nvPr/>
        </p:nvCxnSpPr>
        <p:spPr>
          <a:xfrm>
            <a:off x="3131840" y="4869160"/>
            <a:ext cx="0" cy="288032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13"/>
          <p:cNvCxnSpPr/>
          <p:nvPr/>
        </p:nvCxnSpPr>
        <p:spPr>
          <a:xfrm>
            <a:off x="5292080" y="4869160"/>
            <a:ext cx="0" cy="288032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14"/>
          <p:cNvSpPr txBox="1"/>
          <p:nvPr/>
        </p:nvSpPr>
        <p:spPr>
          <a:xfrm>
            <a:off x="611562" y="5157192"/>
            <a:ext cx="828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1">
                    <a:lumMod val="50000"/>
                  </a:schemeClr>
                </a:solidFill>
              </a:rPr>
              <a:t>2004</a:t>
            </a:r>
          </a:p>
        </p:txBody>
      </p:sp>
      <p:sp>
        <p:nvSpPr>
          <p:cNvPr id="11" name="Textfeld 15"/>
          <p:cNvSpPr txBox="1"/>
          <p:nvPr/>
        </p:nvSpPr>
        <p:spPr>
          <a:xfrm>
            <a:off x="2771802" y="5157192"/>
            <a:ext cx="828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1">
                    <a:lumMod val="50000"/>
                  </a:schemeClr>
                </a:solidFill>
              </a:rPr>
              <a:t>2005</a:t>
            </a:r>
          </a:p>
        </p:txBody>
      </p:sp>
      <p:sp>
        <p:nvSpPr>
          <p:cNvPr id="12" name="Textfeld 16"/>
          <p:cNvSpPr txBox="1"/>
          <p:nvPr/>
        </p:nvSpPr>
        <p:spPr>
          <a:xfrm>
            <a:off x="4967289" y="5229200"/>
            <a:ext cx="828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1">
                    <a:lumMod val="50000"/>
                  </a:schemeClr>
                </a:solidFill>
              </a:rPr>
              <a:t>2008</a:t>
            </a:r>
          </a:p>
        </p:txBody>
      </p:sp>
      <p:sp>
        <p:nvSpPr>
          <p:cNvPr id="13" name="Textfeld 17"/>
          <p:cNvSpPr txBox="1"/>
          <p:nvPr/>
        </p:nvSpPr>
        <p:spPr>
          <a:xfrm>
            <a:off x="250827" y="2570421"/>
            <a:ext cx="1440855" cy="923330"/>
          </a:xfrm>
          <a:prstGeom prst="rect">
            <a:avLst/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1600" b="1" dirty="0"/>
              <a:t>MD5</a:t>
            </a:r>
            <a:r>
              <a:rPr lang="de-DE" dirty="0"/>
              <a:t> </a:t>
            </a:r>
          </a:p>
          <a:p>
            <a:pPr algn="ctr"/>
            <a:r>
              <a:rPr lang="de-DE" dirty="0"/>
              <a:t>Collisions</a:t>
            </a:r>
          </a:p>
          <a:p>
            <a:pPr algn="ctr"/>
            <a:r>
              <a:rPr lang="de-DE" dirty="0"/>
              <a:t>(</a:t>
            </a:r>
            <a:r>
              <a:rPr lang="de-DE" dirty="0" err="1"/>
              <a:t>theo</a:t>
            </a:r>
            <a:r>
              <a:rPr lang="de-DE" dirty="0"/>
              <a:t>.)</a:t>
            </a:r>
          </a:p>
        </p:txBody>
      </p:sp>
      <p:sp>
        <p:nvSpPr>
          <p:cNvPr id="14" name="Textfeld 18"/>
          <p:cNvSpPr txBox="1"/>
          <p:nvPr/>
        </p:nvSpPr>
        <p:spPr>
          <a:xfrm>
            <a:off x="2425019" y="3609302"/>
            <a:ext cx="1440855" cy="923330"/>
          </a:xfrm>
          <a:prstGeom prst="rect">
            <a:avLst/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1600" b="1" dirty="0"/>
              <a:t>SHA-1</a:t>
            </a:r>
            <a:r>
              <a:rPr lang="de-DE" dirty="0"/>
              <a:t> </a:t>
            </a:r>
          </a:p>
          <a:p>
            <a:pPr algn="ctr"/>
            <a:r>
              <a:rPr lang="de-DE" dirty="0"/>
              <a:t>Collisions</a:t>
            </a:r>
          </a:p>
          <a:p>
            <a:pPr algn="ctr"/>
            <a:r>
              <a:rPr lang="de-DE" dirty="0"/>
              <a:t>(</a:t>
            </a:r>
            <a:r>
              <a:rPr lang="de-DE" dirty="0" err="1"/>
              <a:t>theo</a:t>
            </a:r>
            <a:r>
              <a:rPr lang="de-DE" dirty="0"/>
              <a:t>.)</a:t>
            </a:r>
          </a:p>
        </p:txBody>
      </p:sp>
      <p:sp>
        <p:nvSpPr>
          <p:cNvPr id="15" name="Textfeld 19"/>
          <p:cNvSpPr txBox="1"/>
          <p:nvPr/>
        </p:nvSpPr>
        <p:spPr>
          <a:xfrm>
            <a:off x="4571654" y="2570421"/>
            <a:ext cx="1440855" cy="9233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1600" b="1" dirty="0"/>
              <a:t>MD5 </a:t>
            </a:r>
          </a:p>
          <a:p>
            <a:pPr algn="ctr"/>
            <a:r>
              <a:rPr lang="de-DE" dirty="0"/>
              <a:t>Collisions</a:t>
            </a:r>
          </a:p>
          <a:p>
            <a:pPr algn="ctr"/>
            <a:r>
              <a:rPr lang="de-DE" dirty="0"/>
              <a:t>(practical!)</a:t>
            </a:r>
          </a:p>
        </p:txBody>
      </p:sp>
      <p:cxnSp>
        <p:nvCxnSpPr>
          <p:cNvPr id="16" name="Gerade Verbindung 20"/>
          <p:cNvCxnSpPr/>
          <p:nvPr/>
        </p:nvCxnSpPr>
        <p:spPr>
          <a:xfrm>
            <a:off x="7452320" y="4869160"/>
            <a:ext cx="0" cy="288032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21"/>
          <p:cNvSpPr txBox="1"/>
          <p:nvPr/>
        </p:nvSpPr>
        <p:spPr>
          <a:xfrm>
            <a:off x="7055521" y="5229200"/>
            <a:ext cx="828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1">
                    <a:lumMod val="50000"/>
                  </a:schemeClr>
                </a:solidFill>
              </a:rPr>
              <a:t>2015</a:t>
            </a:r>
          </a:p>
        </p:txBody>
      </p:sp>
      <p:sp>
        <p:nvSpPr>
          <p:cNvPr id="18" name="Ellipse 22"/>
          <p:cNvSpPr/>
          <p:nvPr/>
        </p:nvSpPr>
        <p:spPr>
          <a:xfrm>
            <a:off x="5580112" y="3493753"/>
            <a:ext cx="3528392" cy="1290627"/>
          </a:xfrm>
          <a:prstGeom prst="ellipse">
            <a:avLst/>
          </a:prstGeom>
          <a:noFill/>
          <a:ln w="3492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MD5 &amp; SHA-1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No (Second-) Preimage Attacks!</a:t>
            </a:r>
          </a:p>
        </p:txBody>
      </p:sp>
    </p:spTree>
    <p:extLst>
      <p:ext uri="{BB962C8B-B14F-4D97-AF65-F5344CB8AC3E}">
        <p14:creationId xmlns:p14="http://schemas.microsoft.com/office/powerpoint/2010/main" val="144403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188" y="2636913"/>
            <a:ext cx="7993062" cy="3101901"/>
          </a:xfrm>
        </p:spPr>
        <p:txBody>
          <a:bodyPr/>
          <a:lstStyle/>
          <a:p>
            <a:pPr marL="0" indent="0" algn="ctr">
              <a:buNone/>
            </a:pPr>
            <a:r>
              <a:rPr lang="de-DE" sz="5400" dirty="0"/>
              <a:t>Basic Construction</a:t>
            </a:r>
            <a:endParaRPr lang="en-US" sz="5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18</a:t>
            </a:fld>
            <a:endParaRPr lang="nl-NL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5409" y="3645024"/>
            <a:ext cx="3333750" cy="2381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7808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Lamport-Diffie</a:t>
            </a:r>
            <a:r>
              <a:rPr lang="en-US" dirty="0" smtClean="0"/>
              <a:t> OTS </a:t>
            </a:r>
            <a:r>
              <a:rPr lang="en-US" sz="2400" dirty="0"/>
              <a:t>[Lam79]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Message M = b1,…,</a:t>
            </a:r>
            <a:r>
              <a:rPr lang="en-US" dirty="0" err="1" smtClean="0"/>
              <a:t>bm</a:t>
            </a:r>
            <a:r>
              <a:rPr lang="en-US" dirty="0" smtClean="0"/>
              <a:t>, OWF H                     = n bit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SK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r>
              <a:rPr lang="en-US" dirty="0" smtClean="0"/>
              <a:t>PK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Sig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19</a:t>
            </a:fld>
            <a:endParaRPr lang="nl-NL"/>
          </a:p>
        </p:txBody>
      </p:sp>
      <p:pic>
        <p:nvPicPr>
          <p:cNvPr id="6" name="Picture 18" descr="C:\Users\huelsing\AppData\Local\Microsoft\Windows\Temporary Internet Files\Content.IE5\OYDSBIUA\MC900333394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2250" y="2538138"/>
            <a:ext cx="389327" cy="552424"/>
          </a:xfrm>
          <a:prstGeom prst="rect">
            <a:avLst/>
          </a:prstGeom>
          <a:noFill/>
        </p:spPr>
      </p:pic>
      <p:sp>
        <p:nvSpPr>
          <p:cNvPr id="7" name="Rechteck 6"/>
          <p:cNvSpPr/>
          <p:nvPr/>
        </p:nvSpPr>
        <p:spPr>
          <a:xfrm>
            <a:off x="1321848" y="3330226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8" name="Rechteck 7"/>
          <p:cNvSpPr/>
          <p:nvPr/>
        </p:nvSpPr>
        <p:spPr>
          <a:xfrm>
            <a:off x="2257952" y="3330226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9" name="Rechteck 8"/>
          <p:cNvSpPr/>
          <p:nvPr/>
        </p:nvSpPr>
        <p:spPr>
          <a:xfrm>
            <a:off x="3194056" y="3330226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2" name="Rechteck 11"/>
          <p:cNvSpPr/>
          <p:nvPr/>
        </p:nvSpPr>
        <p:spPr>
          <a:xfrm>
            <a:off x="6002368" y="3330226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3" name="Rechteck 12"/>
          <p:cNvSpPr/>
          <p:nvPr/>
        </p:nvSpPr>
        <p:spPr>
          <a:xfrm>
            <a:off x="6938472" y="3330226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m,0</a:t>
            </a:r>
            <a:endParaRPr lang="en-US" dirty="0"/>
          </a:p>
        </p:txBody>
      </p:sp>
      <p:sp>
        <p:nvSpPr>
          <p:cNvPr id="14" name="Rechteck 13"/>
          <p:cNvSpPr/>
          <p:nvPr/>
        </p:nvSpPr>
        <p:spPr>
          <a:xfrm>
            <a:off x="7874576" y="3330226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m,1</a:t>
            </a:r>
          </a:p>
        </p:txBody>
      </p:sp>
      <p:sp>
        <p:nvSpPr>
          <p:cNvPr id="15" name="Rechteck 14"/>
          <p:cNvSpPr/>
          <p:nvPr/>
        </p:nvSpPr>
        <p:spPr>
          <a:xfrm>
            <a:off x="1321848" y="4410346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16" name="Rechteck 15"/>
          <p:cNvSpPr/>
          <p:nvPr/>
        </p:nvSpPr>
        <p:spPr>
          <a:xfrm>
            <a:off x="2257952" y="4410346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17" name="Rechteck 16"/>
          <p:cNvSpPr/>
          <p:nvPr/>
        </p:nvSpPr>
        <p:spPr>
          <a:xfrm>
            <a:off x="3194056" y="4410346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0" name="Rechteck 19"/>
          <p:cNvSpPr/>
          <p:nvPr/>
        </p:nvSpPr>
        <p:spPr>
          <a:xfrm>
            <a:off x="6002368" y="4410346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1" name="Rechteck 20"/>
          <p:cNvSpPr/>
          <p:nvPr/>
        </p:nvSpPr>
        <p:spPr>
          <a:xfrm>
            <a:off x="6938472" y="4410346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m,0</a:t>
            </a:r>
            <a:endParaRPr lang="en-US" dirty="0"/>
          </a:p>
        </p:txBody>
      </p:sp>
      <p:sp>
        <p:nvSpPr>
          <p:cNvPr id="22" name="Rechteck 21"/>
          <p:cNvSpPr/>
          <p:nvPr/>
        </p:nvSpPr>
        <p:spPr>
          <a:xfrm>
            <a:off x="7874576" y="4410346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m,1</a:t>
            </a:r>
          </a:p>
        </p:txBody>
      </p:sp>
      <p:cxnSp>
        <p:nvCxnSpPr>
          <p:cNvPr id="24" name="Gerade Verbindung mit Pfeil 23"/>
          <p:cNvCxnSpPr>
            <a:stCxn id="7" idx="2"/>
            <a:endCxn id="15" idx="0"/>
          </p:cNvCxnSpPr>
          <p:nvPr/>
        </p:nvCxnSpPr>
        <p:spPr>
          <a:xfrm>
            <a:off x="1789900" y="3546250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>
            <a:stCxn id="8" idx="2"/>
            <a:endCxn id="16" idx="0"/>
          </p:cNvCxnSpPr>
          <p:nvPr/>
        </p:nvCxnSpPr>
        <p:spPr>
          <a:xfrm>
            <a:off x="2726004" y="3546250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/>
          <p:cNvCxnSpPr>
            <a:stCxn id="9" idx="2"/>
            <a:endCxn id="17" idx="0"/>
          </p:cNvCxnSpPr>
          <p:nvPr/>
        </p:nvCxnSpPr>
        <p:spPr>
          <a:xfrm>
            <a:off x="3662108" y="3546250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lipse 32"/>
          <p:cNvSpPr/>
          <p:nvPr/>
        </p:nvSpPr>
        <p:spPr>
          <a:xfrm>
            <a:off x="4490200" y="3402234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34" name="Ellipse 33"/>
          <p:cNvSpPr/>
          <p:nvPr/>
        </p:nvSpPr>
        <p:spPr>
          <a:xfrm>
            <a:off x="4994256" y="3402234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35" name="Ellipse 34"/>
          <p:cNvSpPr/>
          <p:nvPr/>
        </p:nvSpPr>
        <p:spPr>
          <a:xfrm>
            <a:off x="5498312" y="3402234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36" name="Ellipse 35"/>
          <p:cNvSpPr/>
          <p:nvPr/>
        </p:nvSpPr>
        <p:spPr>
          <a:xfrm>
            <a:off x="4515367" y="4482354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37" name="Ellipse 36"/>
          <p:cNvSpPr/>
          <p:nvPr/>
        </p:nvSpPr>
        <p:spPr>
          <a:xfrm>
            <a:off x="5019423" y="4482354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38" name="Ellipse 37"/>
          <p:cNvSpPr/>
          <p:nvPr/>
        </p:nvSpPr>
        <p:spPr>
          <a:xfrm>
            <a:off x="5523479" y="4482354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cxnSp>
        <p:nvCxnSpPr>
          <p:cNvPr id="39" name="Gerade Verbindung mit Pfeil 38"/>
          <p:cNvCxnSpPr>
            <a:stCxn id="12" idx="2"/>
            <a:endCxn id="20" idx="0"/>
          </p:cNvCxnSpPr>
          <p:nvPr/>
        </p:nvCxnSpPr>
        <p:spPr>
          <a:xfrm>
            <a:off x="6470420" y="3546250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/>
          <p:cNvCxnSpPr>
            <a:stCxn id="13" idx="2"/>
            <a:endCxn id="21" idx="0"/>
          </p:cNvCxnSpPr>
          <p:nvPr/>
        </p:nvCxnSpPr>
        <p:spPr>
          <a:xfrm>
            <a:off x="7406524" y="3546250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>
            <a:stCxn id="14" idx="2"/>
            <a:endCxn id="22" idx="0"/>
          </p:cNvCxnSpPr>
          <p:nvPr/>
        </p:nvCxnSpPr>
        <p:spPr>
          <a:xfrm>
            <a:off x="8342628" y="3546250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/>
          <p:cNvSpPr txBox="1"/>
          <p:nvPr/>
        </p:nvSpPr>
        <p:spPr>
          <a:xfrm>
            <a:off x="1825904" y="3762276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1" name="Textfeld 50"/>
          <p:cNvSpPr txBox="1"/>
          <p:nvPr/>
        </p:nvSpPr>
        <p:spPr>
          <a:xfrm>
            <a:off x="2762008" y="3762276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2" name="Textfeld 51"/>
          <p:cNvSpPr txBox="1"/>
          <p:nvPr/>
        </p:nvSpPr>
        <p:spPr>
          <a:xfrm>
            <a:off x="3698112" y="3762276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3" name="Textfeld 52"/>
          <p:cNvSpPr txBox="1"/>
          <p:nvPr/>
        </p:nvSpPr>
        <p:spPr>
          <a:xfrm>
            <a:off x="6506424" y="3762276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4" name="Textfeld 53"/>
          <p:cNvSpPr txBox="1"/>
          <p:nvPr/>
        </p:nvSpPr>
        <p:spPr>
          <a:xfrm>
            <a:off x="7442528" y="3762276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5" name="Textfeld 54"/>
          <p:cNvSpPr txBox="1"/>
          <p:nvPr/>
        </p:nvSpPr>
        <p:spPr>
          <a:xfrm>
            <a:off x="8378632" y="3762276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cxnSp>
        <p:nvCxnSpPr>
          <p:cNvPr id="56" name="Gerade Verbindung mit Pfeil 55"/>
          <p:cNvCxnSpPr>
            <a:stCxn id="6" idx="1"/>
            <a:endCxn id="7" idx="0"/>
          </p:cNvCxnSpPr>
          <p:nvPr/>
        </p:nvCxnSpPr>
        <p:spPr>
          <a:xfrm flipH="1">
            <a:off x="1789900" y="2814350"/>
            <a:ext cx="3132348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>
            <a:stCxn id="6" idx="1"/>
            <a:endCxn id="8" idx="0"/>
          </p:cNvCxnSpPr>
          <p:nvPr/>
        </p:nvCxnSpPr>
        <p:spPr>
          <a:xfrm flipH="1">
            <a:off x="2726004" y="2814350"/>
            <a:ext cx="2196244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/>
          <p:cNvCxnSpPr>
            <a:stCxn id="6" idx="1"/>
            <a:endCxn id="9" idx="0"/>
          </p:cNvCxnSpPr>
          <p:nvPr/>
        </p:nvCxnSpPr>
        <p:spPr>
          <a:xfrm flipH="1">
            <a:off x="3662108" y="2814350"/>
            <a:ext cx="1260140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stCxn id="6" idx="3"/>
            <a:endCxn id="12" idx="0"/>
          </p:cNvCxnSpPr>
          <p:nvPr/>
        </p:nvCxnSpPr>
        <p:spPr>
          <a:xfrm>
            <a:off x="5311577" y="2814350"/>
            <a:ext cx="1158845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6" idx="3"/>
            <a:endCxn id="13" idx="0"/>
          </p:cNvCxnSpPr>
          <p:nvPr/>
        </p:nvCxnSpPr>
        <p:spPr>
          <a:xfrm>
            <a:off x="5311577" y="2814350"/>
            <a:ext cx="2094949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/>
          <p:cNvCxnSpPr>
            <a:stCxn id="6" idx="3"/>
            <a:endCxn id="14" idx="0"/>
          </p:cNvCxnSpPr>
          <p:nvPr/>
        </p:nvCxnSpPr>
        <p:spPr>
          <a:xfrm>
            <a:off x="5311577" y="2814350"/>
            <a:ext cx="3031053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hteck 73"/>
          <p:cNvSpPr/>
          <p:nvPr/>
        </p:nvSpPr>
        <p:spPr>
          <a:xfrm>
            <a:off x="1869252" y="5731657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1,b1</a:t>
            </a:r>
          </a:p>
        </p:txBody>
      </p:sp>
      <p:sp>
        <p:nvSpPr>
          <p:cNvPr id="75" name="Rechteck 74"/>
          <p:cNvSpPr/>
          <p:nvPr/>
        </p:nvSpPr>
        <p:spPr>
          <a:xfrm>
            <a:off x="3754745" y="5731657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76" name="Rechteck 75"/>
          <p:cNvSpPr/>
          <p:nvPr/>
        </p:nvSpPr>
        <p:spPr>
          <a:xfrm>
            <a:off x="7524328" y="5731657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 err="1">
                <a:solidFill>
                  <a:srgbClr val="101073"/>
                </a:solidFill>
              </a:rPr>
              <a:t>sk</a:t>
            </a:r>
            <a:r>
              <a:rPr lang="en-US" sz="1400" b="1" baseline="-25000" dirty="0" err="1">
                <a:solidFill>
                  <a:srgbClr val="101073"/>
                </a:solidFill>
              </a:rPr>
              <a:t>m,bm</a:t>
            </a:r>
            <a:endParaRPr lang="en-US" sz="1400" b="1" baseline="-25000" dirty="0">
              <a:solidFill>
                <a:srgbClr val="101073"/>
              </a:solidFill>
            </a:endParaRPr>
          </a:p>
        </p:txBody>
      </p:sp>
      <p:sp>
        <p:nvSpPr>
          <p:cNvPr id="77" name="Ellipse 76"/>
          <p:cNvSpPr/>
          <p:nvPr/>
        </p:nvSpPr>
        <p:spPr>
          <a:xfrm>
            <a:off x="5436096" y="5803665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78" name="Ellipse 77"/>
          <p:cNvSpPr/>
          <p:nvPr/>
        </p:nvSpPr>
        <p:spPr>
          <a:xfrm>
            <a:off x="5940152" y="5803665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79" name="Ellipse 78"/>
          <p:cNvSpPr/>
          <p:nvPr/>
        </p:nvSpPr>
        <p:spPr>
          <a:xfrm>
            <a:off x="6444208" y="5803665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80" name="Rechteck 79"/>
          <p:cNvSpPr/>
          <p:nvPr/>
        </p:nvSpPr>
        <p:spPr>
          <a:xfrm>
            <a:off x="5754759" y="1921900"/>
            <a:ext cx="936104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*</a:t>
            </a:r>
            <a:endParaRPr lang="en-US" sz="1400" b="1" baseline="-25000" dirty="0">
              <a:solidFill>
                <a:schemeClr val="tx1"/>
              </a:solidFill>
            </a:endParaRPr>
          </a:p>
        </p:txBody>
      </p:sp>
      <p:grpSp>
        <p:nvGrpSpPr>
          <p:cNvPr id="100" name="Gruppieren 99"/>
          <p:cNvGrpSpPr/>
          <p:nvPr/>
        </p:nvGrpSpPr>
        <p:grpSpPr>
          <a:xfrm>
            <a:off x="1115616" y="3546250"/>
            <a:ext cx="1656184" cy="2176076"/>
            <a:chOff x="1115616" y="2827767"/>
            <a:chExt cx="1656184" cy="2176076"/>
          </a:xfrm>
        </p:grpSpPr>
        <p:sp>
          <p:nvSpPr>
            <p:cNvPr id="81" name="Flussdiagramm: Manuelle Verarbeitung 80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Mux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Gerade Verbindung mit Pfeil 81"/>
            <p:cNvCxnSpPr>
              <a:stCxn id="7" idx="2"/>
            </p:cNvCxnSpPr>
            <p:nvPr/>
          </p:nvCxnSpPr>
          <p:spPr>
            <a:xfrm>
              <a:off x="1789900" y="2827767"/>
              <a:ext cx="318818" cy="146532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mit Pfeil 84"/>
            <p:cNvCxnSpPr/>
            <p:nvPr/>
          </p:nvCxnSpPr>
          <p:spPr>
            <a:xfrm flipH="1">
              <a:off x="2545984" y="2827767"/>
              <a:ext cx="180020" cy="146532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 Verbindung mit Pfeil 88"/>
            <p:cNvCxnSpPr>
              <a:stCxn id="93" idx="3"/>
              <a:endCxn id="81" idx="1"/>
            </p:cNvCxnSpPr>
            <p:nvPr/>
          </p:nvCxnSpPr>
          <p:spPr>
            <a:xfrm>
              <a:off x="1547664" y="4544160"/>
              <a:ext cx="446450" cy="9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feld 92"/>
            <p:cNvSpPr txBox="1"/>
            <p:nvPr/>
          </p:nvSpPr>
          <p:spPr>
            <a:xfrm>
              <a:off x="1115616" y="439027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b1</a:t>
              </a:r>
            </a:p>
          </p:txBody>
        </p:sp>
        <p:cxnSp>
          <p:nvCxnSpPr>
            <p:cNvPr id="97" name="Gerade Verbindung mit Pfeil 96"/>
            <p:cNvCxnSpPr>
              <a:stCxn id="81" idx="2"/>
              <a:endCxn id="74" idx="0"/>
            </p:cNvCxnSpPr>
            <p:nvPr/>
          </p:nvCxnSpPr>
          <p:spPr>
            <a:xfrm flipH="1">
              <a:off x="2337304" y="4797152"/>
              <a:ext cx="2448" cy="20669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uppieren 100"/>
          <p:cNvGrpSpPr/>
          <p:nvPr/>
        </p:nvGrpSpPr>
        <p:grpSpPr>
          <a:xfrm>
            <a:off x="2987824" y="3546252"/>
            <a:ext cx="1656184" cy="2185407"/>
            <a:chOff x="1115616" y="2827769"/>
            <a:chExt cx="1656184" cy="2185407"/>
          </a:xfrm>
        </p:grpSpPr>
        <p:sp>
          <p:nvSpPr>
            <p:cNvPr id="102" name="Flussdiagramm: Manuelle Verarbeitung 101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Mux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03" name="Gerade Verbindung mit Pfeil 102"/>
            <p:cNvCxnSpPr/>
            <p:nvPr/>
          </p:nvCxnSpPr>
          <p:spPr>
            <a:xfrm>
              <a:off x="1789900" y="2827769"/>
              <a:ext cx="3338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mit Pfeil 103"/>
            <p:cNvCxnSpPr/>
            <p:nvPr/>
          </p:nvCxnSpPr>
          <p:spPr>
            <a:xfrm flipH="1">
              <a:off x="2555776" y="2827769"/>
              <a:ext cx="1702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Gerade Verbindung mit Pfeil 104"/>
            <p:cNvCxnSpPr>
              <a:stCxn id="106" idx="3"/>
              <a:endCxn id="102" idx="1"/>
            </p:cNvCxnSpPr>
            <p:nvPr/>
          </p:nvCxnSpPr>
          <p:spPr>
            <a:xfrm>
              <a:off x="1547664" y="4544160"/>
              <a:ext cx="446450" cy="9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feld 105"/>
            <p:cNvSpPr txBox="1"/>
            <p:nvPr/>
          </p:nvSpPr>
          <p:spPr>
            <a:xfrm>
              <a:off x="1115616" y="439027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b2</a:t>
              </a:r>
            </a:p>
          </p:txBody>
        </p:sp>
        <p:cxnSp>
          <p:nvCxnSpPr>
            <p:cNvPr id="107" name="Gerade Verbindung mit Pfeil 106"/>
            <p:cNvCxnSpPr>
              <a:stCxn id="102" idx="2"/>
            </p:cNvCxnSpPr>
            <p:nvPr/>
          </p:nvCxnSpPr>
          <p:spPr>
            <a:xfrm flipH="1">
              <a:off x="2337304" y="4797152"/>
              <a:ext cx="2448" cy="21602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uppieren 107"/>
          <p:cNvGrpSpPr/>
          <p:nvPr/>
        </p:nvGrpSpPr>
        <p:grpSpPr>
          <a:xfrm>
            <a:off x="6628864" y="3546252"/>
            <a:ext cx="1759560" cy="2185407"/>
            <a:chOff x="1012240" y="2827769"/>
            <a:chExt cx="1759560" cy="2185407"/>
          </a:xfrm>
        </p:grpSpPr>
        <p:sp>
          <p:nvSpPr>
            <p:cNvPr id="109" name="Flussdiagramm: Manuelle Verarbeitung 108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Mux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10" name="Gerade Verbindung mit Pfeil 109"/>
            <p:cNvCxnSpPr/>
            <p:nvPr/>
          </p:nvCxnSpPr>
          <p:spPr>
            <a:xfrm>
              <a:off x="1789900" y="2827769"/>
              <a:ext cx="3338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mit Pfeil 110"/>
            <p:cNvCxnSpPr/>
            <p:nvPr/>
          </p:nvCxnSpPr>
          <p:spPr>
            <a:xfrm flipH="1">
              <a:off x="2555776" y="2827769"/>
              <a:ext cx="1702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 Verbindung mit Pfeil 111"/>
            <p:cNvCxnSpPr>
              <a:stCxn id="113" idx="3"/>
              <a:endCxn id="109" idx="1"/>
            </p:cNvCxnSpPr>
            <p:nvPr/>
          </p:nvCxnSpPr>
          <p:spPr>
            <a:xfrm>
              <a:off x="1588304" y="4542875"/>
              <a:ext cx="405810" cy="224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feld 112"/>
            <p:cNvSpPr txBox="1"/>
            <p:nvPr/>
          </p:nvSpPr>
          <p:spPr>
            <a:xfrm>
              <a:off x="1012240" y="4388986"/>
              <a:ext cx="5760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bm</a:t>
              </a:r>
              <a:endParaRPr lang="en-US" sz="1400" b="1" dirty="0"/>
            </a:p>
          </p:txBody>
        </p:sp>
        <p:cxnSp>
          <p:nvCxnSpPr>
            <p:cNvPr id="114" name="Gerade Verbindung mit Pfeil 113"/>
            <p:cNvCxnSpPr>
              <a:stCxn id="109" idx="2"/>
            </p:cNvCxnSpPr>
            <p:nvPr/>
          </p:nvCxnSpPr>
          <p:spPr>
            <a:xfrm flipH="1">
              <a:off x="2337304" y="4797152"/>
              <a:ext cx="2448" cy="21602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678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8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9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1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2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4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5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8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0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1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3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4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7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9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0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2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3" dur="indefinite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5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6" dur="indefinite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8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9" dur="indefinite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1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2" dur="indefinite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4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5" dur="indefinite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7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8" dur="indefinite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0" dur="indefinit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1" dur="indefinite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3" dur="indefinite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4" dur="indefinite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6" dur="indefinit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7" dur="indefinite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9" dur="indefinit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0" dur="indefinite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2" dur="indefinit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3" dur="indefinite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5" dur="indefinite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6" dur="indefinite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8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9" dur="indefinite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33" grpId="0" animBg="1"/>
      <p:bldP spid="34" grpId="0" animBg="1"/>
      <p:bldP spid="35" grpId="0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smtClean="0"/>
              <a:t>EU-CMA for OTS</a:t>
            </a:r>
          </a:p>
        </p:txBody>
      </p:sp>
      <p:grpSp>
        <p:nvGrpSpPr>
          <p:cNvPr id="2" name="Gruppieren 17"/>
          <p:cNvGrpSpPr>
            <a:grpSpLocks/>
          </p:cNvGrpSpPr>
          <p:nvPr/>
        </p:nvGrpSpPr>
        <p:grpSpPr bwMode="auto">
          <a:xfrm>
            <a:off x="1692275" y="2060575"/>
            <a:ext cx="6192838" cy="3610074"/>
            <a:chOff x="1979613" y="2339975"/>
            <a:chExt cx="6192787" cy="3609404"/>
          </a:xfrm>
        </p:grpSpPr>
        <p:pic>
          <p:nvPicPr>
            <p:cNvPr id="2048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t="46284" r="81213" b="23967"/>
            <a:stretch>
              <a:fillRect/>
            </a:stretch>
          </p:blipFill>
          <p:spPr bwMode="auto">
            <a:xfrm>
              <a:off x="1979613" y="3357563"/>
              <a:ext cx="1425575" cy="1223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7" name="Gerade Verbindung mit Pfeil 6"/>
            <p:cNvCxnSpPr/>
            <p:nvPr/>
          </p:nvCxnSpPr>
          <p:spPr>
            <a:xfrm rot="5400000">
              <a:off x="2505923" y="3104214"/>
              <a:ext cx="647580" cy="158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87" name="Textfeld 8"/>
                <p:cNvSpPr txBox="1">
                  <a:spLocks noChangeArrowheads="1"/>
                </p:cNvSpPr>
                <p:nvPr/>
              </p:nvSpPr>
              <p:spPr bwMode="auto">
                <a:xfrm>
                  <a:off x="2208345" y="2414805"/>
                  <a:ext cx="1268412" cy="64621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𝑝𝑘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de-DE" baseline="30000" dirty="0"/>
                </a:p>
                <a:p>
                  <a:endParaRPr lang="de-DE" dirty="0"/>
                </a:p>
              </p:txBody>
            </p:sp>
          </mc:Choice>
          <mc:Fallback xmlns="">
            <p:sp>
              <p:nvSpPr>
                <p:cNvPr id="20487" name="Textfeld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08345" y="2414805"/>
                  <a:ext cx="1268412" cy="646211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hteck 9"/>
            <p:cNvSpPr/>
            <p:nvPr/>
          </p:nvSpPr>
          <p:spPr>
            <a:xfrm>
              <a:off x="5646708" y="3357374"/>
              <a:ext cx="1263640" cy="12237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e-DE" dirty="0"/>
                <a:t>SIGN</a:t>
              </a:r>
            </a:p>
          </p:txBody>
        </p:sp>
        <p:cxnSp>
          <p:nvCxnSpPr>
            <p:cNvPr id="13" name="Gerade Verbindung mit Pfeil 12"/>
            <p:cNvCxnSpPr/>
            <p:nvPr/>
          </p:nvCxnSpPr>
          <p:spPr>
            <a:xfrm rot="5400000">
              <a:off x="6084099" y="2996284"/>
              <a:ext cx="431720" cy="158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90" name="Textfeld 14"/>
                <p:cNvSpPr txBox="1">
                  <a:spLocks noChangeArrowheads="1"/>
                </p:cNvSpPr>
                <p:nvPr/>
              </p:nvSpPr>
              <p:spPr bwMode="auto">
                <a:xfrm>
                  <a:off x="6011863" y="2339975"/>
                  <a:ext cx="504825" cy="3692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𝑠𝑘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0490" name="Textfeld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11863" y="2339975"/>
                  <a:ext cx="504825" cy="36926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Gerade Verbindung mit Pfeil 15"/>
            <p:cNvCxnSpPr/>
            <p:nvPr/>
          </p:nvCxnSpPr>
          <p:spPr>
            <a:xfrm>
              <a:off x="3405176" y="3581170"/>
              <a:ext cx="2103421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92" name="Textfeld 18"/>
                <p:cNvSpPr txBox="1">
                  <a:spLocks noChangeArrowheads="1"/>
                </p:cNvSpPr>
                <p:nvPr/>
              </p:nvSpPr>
              <p:spPr bwMode="auto">
                <a:xfrm>
                  <a:off x="4211638" y="3203575"/>
                  <a:ext cx="504825" cy="3692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0492" name="Textfeld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1638" y="3203575"/>
                  <a:ext cx="504825" cy="369263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Gerade Verbindung mit Pfeil 19"/>
            <p:cNvCxnSpPr/>
            <p:nvPr/>
          </p:nvCxnSpPr>
          <p:spPr>
            <a:xfrm>
              <a:off x="3405176" y="4292238"/>
              <a:ext cx="2103421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94" name="Textfeld 20"/>
                <p:cNvSpPr txBox="1">
                  <a:spLocks noChangeArrowheads="1"/>
                </p:cNvSpPr>
                <p:nvPr/>
              </p:nvSpPr>
              <p:spPr bwMode="auto">
                <a:xfrm>
                  <a:off x="4067175" y="3914775"/>
                  <a:ext cx="936625" cy="3698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0494" name="Textfeld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67175" y="3914775"/>
                  <a:ext cx="936625" cy="36988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13115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Gerade Verbindung mit Pfeil 21"/>
            <p:cNvCxnSpPr/>
            <p:nvPr/>
          </p:nvCxnSpPr>
          <p:spPr>
            <a:xfrm rot="5400000">
              <a:off x="2510685" y="4904105"/>
              <a:ext cx="647580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96" name="Textfeld 22"/>
                <p:cNvSpPr txBox="1">
                  <a:spLocks noChangeArrowheads="1"/>
                </p:cNvSpPr>
                <p:nvPr/>
              </p:nvSpPr>
              <p:spPr bwMode="auto">
                <a:xfrm>
                  <a:off x="2366963" y="5373688"/>
                  <a:ext cx="1038225" cy="3692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0496" name="Textfeld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66963" y="5373688"/>
                  <a:ext cx="1038225" cy="36926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1333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97" name="Textfeld 23"/>
                <p:cNvSpPr txBox="1">
                  <a:spLocks noChangeArrowheads="1"/>
                </p:cNvSpPr>
                <p:nvPr/>
              </p:nvSpPr>
              <p:spPr bwMode="auto">
                <a:xfrm>
                  <a:off x="4354462" y="5303168"/>
                  <a:ext cx="3817938" cy="64621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de-DE" dirty="0" smtClean="0"/>
                    <a:t>Success if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de-DE" dirty="0"/>
                    <a:t>and Verify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𝑝𝑘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de-DE" dirty="0" smtClean="0"/>
                    <a:t> </a:t>
                  </a:r>
                  <a:r>
                    <a:rPr lang="de-DE" dirty="0"/>
                    <a:t>Accept </a:t>
                  </a:r>
                </a:p>
              </p:txBody>
            </p:sp>
          </mc:Choice>
          <mc:Fallback xmlns="">
            <p:sp>
              <p:nvSpPr>
                <p:cNvPr id="20497" name="Textfeld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54462" y="5303168"/>
                  <a:ext cx="3817938" cy="646211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1278" t="-4717" b="-14151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3342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 smtClean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smtClean="0"/>
              <a:t>Theorem:</a:t>
            </a:r>
          </a:p>
          <a:p>
            <a:pPr marL="0" indent="0">
              <a:buNone/>
            </a:pPr>
            <a:r>
              <a:rPr lang="de-DE" dirty="0" smtClean="0"/>
              <a:t>If H is one-way then LD-OTS is one-time eu-cma-secure.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39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Reduction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27047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de-DE" dirty="0" smtClean="0"/>
                  <a:t>Input: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de-DE" dirty="0" smtClean="0"/>
              </a:p>
              <a:p>
                <a:pPr>
                  <a:buNone/>
                </a:pPr>
                <a:r>
                  <a:rPr lang="de-DE" dirty="0" smtClean="0"/>
                  <a:t>Set</a:t>
                </a:r>
                <a:r>
                  <a:rPr lang="de-DE" i="1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de-DE" dirty="0" smtClean="0"/>
                  <a:t>			</a:t>
                </a:r>
              </a:p>
              <a:p>
                <a:pPr>
                  <a:buNone/>
                </a:pPr>
                <a:r>
                  <a:rPr lang="de-DE" dirty="0" smtClean="0"/>
                  <a:t>Replace random </a:t>
                </a:r>
                <a:r>
                  <a:rPr lang="en-US" b="1" dirty="0" err="1" smtClean="0">
                    <a:solidFill>
                      <a:srgbClr val="101073"/>
                    </a:solidFill>
                  </a:rPr>
                  <a:t>pk</a:t>
                </a:r>
                <a:r>
                  <a:rPr lang="en-US" b="1" baseline="-25000" dirty="0" err="1" smtClean="0">
                    <a:solidFill>
                      <a:srgbClr val="101073"/>
                    </a:solidFill>
                  </a:rPr>
                  <a:t>i,b</a:t>
                </a: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sz="3600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27047"/>
                <a:ext cx="7886700" cy="4351338"/>
              </a:xfrm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8" descr="C:\Users\huelsing\AppData\Local\Microsoft\Windows\Temporary Internet Files\Content.IE5\OYDSBIUA\MC900333394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2250" y="2986024"/>
            <a:ext cx="389327" cy="552424"/>
          </a:xfrm>
          <a:prstGeom prst="rect">
            <a:avLst/>
          </a:prstGeom>
          <a:noFill/>
        </p:spPr>
      </p:pic>
      <p:sp>
        <p:nvSpPr>
          <p:cNvPr id="5" name="Rechteck 6"/>
          <p:cNvSpPr/>
          <p:nvPr/>
        </p:nvSpPr>
        <p:spPr>
          <a:xfrm>
            <a:off x="1321848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6" name="Rechteck 7"/>
          <p:cNvSpPr/>
          <p:nvPr/>
        </p:nvSpPr>
        <p:spPr>
          <a:xfrm>
            <a:off x="2257952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7" name="Rechteck 8"/>
          <p:cNvSpPr/>
          <p:nvPr/>
        </p:nvSpPr>
        <p:spPr>
          <a:xfrm>
            <a:off x="3194056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8" name="Rechteck 11"/>
          <p:cNvSpPr/>
          <p:nvPr/>
        </p:nvSpPr>
        <p:spPr>
          <a:xfrm>
            <a:off x="6002368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9" name="Rechteck 12"/>
          <p:cNvSpPr/>
          <p:nvPr/>
        </p:nvSpPr>
        <p:spPr>
          <a:xfrm>
            <a:off x="6938472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m,0</a:t>
            </a:r>
            <a:endParaRPr lang="en-US" dirty="0"/>
          </a:p>
        </p:txBody>
      </p:sp>
      <p:sp>
        <p:nvSpPr>
          <p:cNvPr id="10" name="Rechteck 13"/>
          <p:cNvSpPr/>
          <p:nvPr/>
        </p:nvSpPr>
        <p:spPr>
          <a:xfrm>
            <a:off x="7874576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m,1</a:t>
            </a:r>
          </a:p>
        </p:txBody>
      </p:sp>
      <p:sp>
        <p:nvSpPr>
          <p:cNvPr id="11" name="Rechteck 14"/>
          <p:cNvSpPr/>
          <p:nvPr/>
        </p:nvSpPr>
        <p:spPr>
          <a:xfrm>
            <a:off x="1321848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12" name="Rechteck 15"/>
          <p:cNvSpPr/>
          <p:nvPr/>
        </p:nvSpPr>
        <p:spPr>
          <a:xfrm>
            <a:off x="2257952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13" name="Rechteck 16"/>
          <p:cNvSpPr/>
          <p:nvPr/>
        </p:nvSpPr>
        <p:spPr>
          <a:xfrm>
            <a:off x="3194056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4" name="Rechteck 19"/>
          <p:cNvSpPr/>
          <p:nvPr/>
        </p:nvSpPr>
        <p:spPr>
          <a:xfrm>
            <a:off x="6002368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5" name="Rechteck 20"/>
          <p:cNvSpPr/>
          <p:nvPr/>
        </p:nvSpPr>
        <p:spPr>
          <a:xfrm>
            <a:off x="6938472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m,0</a:t>
            </a:r>
            <a:endParaRPr lang="en-US" dirty="0"/>
          </a:p>
        </p:txBody>
      </p:sp>
      <p:sp>
        <p:nvSpPr>
          <p:cNvPr id="16" name="Rechteck 21"/>
          <p:cNvSpPr/>
          <p:nvPr/>
        </p:nvSpPr>
        <p:spPr>
          <a:xfrm>
            <a:off x="7874576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m,1</a:t>
            </a:r>
          </a:p>
        </p:txBody>
      </p:sp>
      <p:cxnSp>
        <p:nvCxnSpPr>
          <p:cNvPr id="17" name="Gerade Verbindung mit Pfeil 23"/>
          <p:cNvCxnSpPr>
            <a:stCxn id="5" idx="2"/>
            <a:endCxn id="11" idx="0"/>
          </p:cNvCxnSpPr>
          <p:nvPr/>
        </p:nvCxnSpPr>
        <p:spPr>
          <a:xfrm>
            <a:off x="1789900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24"/>
          <p:cNvCxnSpPr>
            <a:stCxn id="6" idx="2"/>
            <a:endCxn id="12" idx="0"/>
          </p:cNvCxnSpPr>
          <p:nvPr/>
        </p:nvCxnSpPr>
        <p:spPr>
          <a:xfrm>
            <a:off x="2726004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27"/>
          <p:cNvCxnSpPr>
            <a:stCxn id="7" idx="2"/>
            <a:endCxn id="13" idx="0"/>
          </p:cNvCxnSpPr>
          <p:nvPr/>
        </p:nvCxnSpPr>
        <p:spPr>
          <a:xfrm>
            <a:off x="3662108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e 32"/>
          <p:cNvSpPr/>
          <p:nvPr/>
        </p:nvSpPr>
        <p:spPr>
          <a:xfrm>
            <a:off x="4490200" y="385012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1" name="Ellipse 33"/>
          <p:cNvSpPr/>
          <p:nvPr/>
        </p:nvSpPr>
        <p:spPr>
          <a:xfrm>
            <a:off x="4994256" y="385012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2" name="Ellipse 34"/>
          <p:cNvSpPr/>
          <p:nvPr/>
        </p:nvSpPr>
        <p:spPr>
          <a:xfrm>
            <a:off x="5498312" y="385012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3" name="Ellipse 35"/>
          <p:cNvSpPr/>
          <p:nvPr/>
        </p:nvSpPr>
        <p:spPr>
          <a:xfrm>
            <a:off x="4515367" y="493024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4" name="Ellipse 36"/>
          <p:cNvSpPr/>
          <p:nvPr/>
        </p:nvSpPr>
        <p:spPr>
          <a:xfrm>
            <a:off x="5019423" y="493024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5" name="Ellipse 37"/>
          <p:cNvSpPr/>
          <p:nvPr/>
        </p:nvSpPr>
        <p:spPr>
          <a:xfrm>
            <a:off x="5523479" y="493024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cxnSp>
        <p:nvCxnSpPr>
          <p:cNvPr id="26" name="Gerade Verbindung mit Pfeil 38"/>
          <p:cNvCxnSpPr>
            <a:stCxn id="8" idx="2"/>
            <a:endCxn id="14" idx="0"/>
          </p:cNvCxnSpPr>
          <p:nvPr/>
        </p:nvCxnSpPr>
        <p:spPr>
          <a:xfrm>
            <a:off x="6470420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41"/>
          <p:cNvCxnSpPr>
            <a:stCxn id="9" idx="2"/>
            <a:endCxn id="15" idx="0"/>
          </p:cNvCxnSpPr>
          <p:nvPr/>
        </p:nvCxnSpPr>
        <p:spPr>
          <a:xfrm>
            <a:off x="7406524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46"/>
          <p:cNvCxnSpPr>
            <a:stCxn id="10" idx="2"/>
            <a:endCxn id="16" idx="0"/>
          </p:cNvCxnSpPr>
          <p:nvPr/>
        </p:nvCxnSpPr>
        <p:spPr>
          <a:xfrm>
            <a:off x="8342628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49"/>
          <p:cNvSpPr txBox="1"/>
          <p:nvPr/>
        </p:nvSpPr>
        <p:spPr>
          <a:xfrm>
            <a:off x="1825904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0" name="Textfeld 50"/>
          <p:cNvSpPr txBox="1"/>
          <p:nvPr/>
        </p:nvSpPr>
        <p:spPr>
          <a:xfrm>
            <a:off x="2762008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1" name="Textfeld 51"/>
          <p:cNvSpPr txBox="1"/>
          <p:nvPr/>
        </p:nvSpPr>
        <p:spPr>
          <a:xfrm>
            <a:off x="3698112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2" name="Textfeld 52"/>
          <p:cNvSpPr txBox="1"/>
          <p:nvPr/>
        </p:nvSpPr>
        <p:spPr>
          <a:xfrm>
            <a:off x="6506424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3" name="Textfeld 53"/>
          <p:cNvSpPr txBox="1"/>
          <p:nvPr/>
        </p:nvSpPr>
        <p:spPr>
          <a:xfrm>
            <a:off x="7442528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4" name="Textfeld 54"/>
          <p:cNvSpPr txBox="1"/>
          <p:nvPr/>
        </p:nvSpPr>
        <p:spPr>
          <a:xfrm>
            <a:off x="8378632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cxnSp>
        <p:nvCxnSpPr>
          <p:cNvPr id="35" name="Gerade Verbindung mit Pfeil 55"/>
          <p:cNvCxnSpPr>
            <a:stCxn id="4" idx="1"/>
            <a:endCxn id="5" idx="0"/>
          </p:cNvCxnSpPr>
          <p:nvPr/>
        </p:nvCxnSpPr>
        <p:spPr>
          <a:xfrm flipH="1">
            <a:off x="1789900" y="3262236"/>
            <a:ext cx="3132348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58"/>
          <p:cNvCxnSpPr>
            <a:stCxn id="4" idx="1"/>
            <a:endCxn id="6" idx="0"/>
          </p:cNvCxnSpPr>
          <p:nvPr/>
        </p:nvCxnSpPr>
        <p:spPr>
          <a:xfrm flipH="1">
            <a:off x="2726004" y="3262236"/>
            <a:ext cx="2196244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61"/>
          <p:cNvCxnSpPr>
            <a:stCxn id="4" idx="1"/>
            <a:endCxn id="7" idx="0"/>
          </p:cNvCxnSpPr>
          <p:nvPr/>
        </p:nvCxnSpPr>
        <p:spPr>
          <a:xfrm flipH="1">
            <a:off x="3662108" y="3262236"/>
            <a:ext cx="1260140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64"/>
          <p:cNvCxnSpPr>
            <a:stCxn id="4" idx="3"/>
            <a:endCxn id="8" idx="0"/>
          </p:cNvCxnSpPr>
          <p:nvPr/>
        </p:nvCxnSpPr>
        <p:spPr>
          <a:xfrm>
            <a:off x="5311577" y="3262236"/>
            <a:ext cx="1158845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67"/>
          <p:cNvCxnSpPr>
            <a:stCxn id="4" idx="3"/>
            <a:endCxn id="9" idx="0"/>
          </p:cNvCxnSpPr>
          <p:nvPr/>
        </p:nvCxnSpPr>
        <p:spPr>
          <a:xfrm>
            <a:off x="5311577" y="3262236"/>
            <a:ext cx="2094949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70"/>
          <p:cNvCxnSpPr>
            <a:stCxn id="4" idx="3"/>
            <a:endCxn id="10" idx="0"/>
          </p:cNvCxnSpPr>
          <p:nvPr/>
        </p:nvCxnSpPr>
        <p:spPr>
          <a:xfrm>
            <a:off x="5311577" y="3262236"/>
            <a:ext cx="3031053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hteck 16"/>
              <p:cNvSpPr/>
              <p:nvPr/>
            </p:nvSpPr>
            <p:spPr>
              <a:xfrm>
                <a:off x="3196334" y="4861659"/>
                <a:ext cx="936104" cy="21602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72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9" name="Rechteck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334" y="4861659"/>
                <a:ext cx="936104" cy="216024"/>
              </a:xfrm>
              <a:prstGeom prst="rect">
                <a:avLst/>
              </a:prstGeom>
              <a:blipFill rotWithShape="0">
                <a:blip r:embed="rId4"/>
                <a:stretch>
                  <a:fillRect b="-3783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62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7" grpId="1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9" grpId="0"/>
      <p:bldP spid="30" grpId="0"/>
      <p:bldP spid="31" grpId="0"/>
      <p:bldP spid="31" grpId="1"/>
      <p:bldP spid="32" grpId="0"/>
      <p:bldP spid="33" grpId="0"/>
      <p:bldP spid="34" grpId="0"/>
      <p:bldP spid="6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Reduction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27047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de-DE" dirty="0" smtClean="0"/>
                  <a:t>Input: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de-DE" dirty="0" smtClean="0"/>
              </a:p>
              <a:p>
                <a:pPr>
                  <a:buNone/>
                </a:pPr>
                <a:r>
                  <a:rPr lang="de-DE" dirty="0" smtClean="0"/>
                  <a:t>Set</a:t>
                </a:r>
                <a:r>
                  <a:rPr lang="de-DE" i="1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de-DE" dirty="0" smtClean="0"/>
                  <a:t>			</a:t>
                </a:r>
              </a:p>
              <a:p>
                <a:pPr>
                  <a:buNone/>
                </a:pPr>
                <a:r>
                  <a:rPr lang="de-DE" dirty="0" smtClean="0"/>
                  <a:t>Replace random </a:t>
                </a:r>
                <a:r>
                  <a:rPr lang="en-US" b="1" dirty="0" err="1" smtClean="0">
                    <a:solidFill>
                      <a:srgbClr val="101073"/>
                    </a:solidFill>
                  </a:rPr>
                  <a:t>pk</a:t>
                </a:r>
                <a:r>
                  <a:rPr lang="en-US" b="1" baseline="-25000" dirty="0" err="1" smtClean="0">
                    <a:solidFill>
                      <a:srgbClr val="101073"/>
                    </a:solidFill>
                  </a:rPr>
                  <a:t>i,b</a:t>
                </a: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sz="3600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27047"/>
                <a:ext cx="7886700" cy="4351338"/>
              </a:xfrm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8" descr="C:\Users\huelsing\AppData\Local\Microsoft\Windows\Temporary Internet Files\Content.IE5\OYDSBIUA\MC900333394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2250" y="2986024"/>
            <a:ext cx="389327" cy="552424"/>
          </a:xfrm>
          <a:prstGeom prst="rect">
            <a:avLst/>
          </a:prstGeom>
          <a:noFill/>
        </p:spPr>
      </p:pic>
      <p:sp>
        <p:nvSpPr>
          <p:cNvPr id="5" name="Rechteck 6"/>
          <p:cNvSpPr/>
          <p:nvPr/>
        </p:nvSpPr>
        <p:spPr>
          <a:xfrm>
            <a:off x="1321848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6" name="Rechteck 7"/>
          <p:cNvSpPr/>
          <p:nvPr/>
        </p:nvSpPr>
        <p:spPr>
          <a:xfrm>
            <a:off x="2257952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8" name="Rechteck 11"/>
          <p:cNvSpPr/>
          <p:nvPr/>
        </p:nvSpPr>
        <p:spPr>
          <a:xfrm>
            <a:off x="6002368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9" name="Rechteck 12"/>
          <p:cNvSpPr/>
          <p:nvPr/>
        </p:nvSpPr>
        <p:spPr>
          <a:xfrm>
            <a:off x="6938472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m,0</a:t>
            </a:r>
            <a:endParaRPr lang="en-US" dirty="0"/>
          </a:p>
        </p:txBody>
      </p:sp>
      <p:sp>
        <p:nvSpPr>
          <p:cNvPr id="10" name="Rechteck 13"/>
          <p:cNvSpPr/>
          <p:nvPr/>
        </p:nvSpPr>
        <p:spPr>
          <a:xfrm>
            <a:off x="7874576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m,1</a:t>
            </a:r>
          </a:p>
        </p:txBody>
      </p:sp>
      <p:sp>
        <p:nvSpPr>
          <p:cNvPr id="11" name="Rechteck 14"/>
          <p:cNvSpPr/>
          <p:nvPr/>
        </p:nvSpPr>
        <p:spPr>
          <a:xfrm>
            <a:off x="1321848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12" name="Rechteck 15"/>
          <p:cNvSpPr/>
          <p:nvPr/>
        </p:nvSpPr>
        <p:spPr>
          <a:xfrm>
            <a:off x="2257952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13" name="Rechteck 16"/>
          <p:cNvSpPr/>
          <p:nvPr/>
        </p:nvSpPr>
        <p:spPr>
          <a:xfrm>
            <a:off x="3194056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4" name="Rechteck 19"/>
          <p:cNvSpPr/>
          <p:nvPr/>
        </p:nvSpPr>
        <p:spPr>
          <a:xfrm>
            <a:off x="6002368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5" name="Rechteck 20"/>
          <p:cNvSpPr/>
          <p:nvPr/>
        </p:nvSpPr>
        <p:spPr>
          <a:xfrm>
            <a:off x="6938472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m,0</a:t>
            </a:r>
            <a:endParaRPr lang="en-US" dirty="0"/>
          </a:p>
        </p:txBody>
      </p:sp>
      <p:sp>
        <p:nvSpPr>
          <p:cNvPr id="16" name="Rechteck 21"/>
          <p:cNvSpPr/>
          <p:nvPr/>
        </p:nvSpPr>
        <p:spPr>
          <a:xfrm>
            <a:off x="7874576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m,1</a:t>
            </a:r>
          </a:p>
        </p:txBody>
      </p:sp>
      <p:cxnSp>
        <p:nvCxnSpPr>
          <p:cNvPr id="17" name="Gerade Verbindung mit Pfeil 23"/>
          <p:cNvCxnSpPr>
            <a:stCxn id="5" idx="2"/>
            <a:endCxn id="11" idx="0"/>
          </p:cNvCxnSpPr>
          <p:nvPr/>
        </p:nvCxnSpPr>
        <p:spPr>
          <a:xfrm>
            <a:off x="1789900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24"/>
          <p:cNvCxnSpPr>
            <a:stCxn id="6" idx="2"/>
            <a:endCxn id="12" idx="0"/>
          </p:cNvCxnSpPr>
          <p:nvPr/>
        </p:nvCxnSpPr>
        <p:spPr>
          <a:xfrm>
            <a:off x="2726004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e 32"/>
          <p:cNvSpPr/>
          <p:nvPr/>
        </p:nvSpPr>
        <p:spPr>
          <a:xfrm>
            <a:off x="4490200" y="385012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1" name="Ellipse 33"/>
          <p:cNvSpPr/>
          <p:nvPr/>
        </p:nvSpPr>
        <p:spPr>
          <a:xfrm>
            <a:off x="4994256" y="385012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2" name="Ellipse 34"/>
          <p:cNvSpPr/>
          <p:nvPr/>
        </p:nvSpPr>
        <p:spPr>
          <a:xfrm>
            <a:off x="5498312" y="385012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3" name="Ellipse 35"/>
          <p:cNvSpPr/>
          <p:nvPr/>
        </p:nvSpPr>
        <p:spPr>
          <a:xfrm>
            <a:off x="4515367" y="493024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4" name="Ellipse 36"/>
          <p:cNvSpPr/>
          <p:nvPr/>
        </p:nvSpPr>
        <p:spPr>
          <a:xfrm>
            <a:off x="5019423" y="493024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5" name="Ellipse 37"/>
          <p:cNvSpPr/>
          <p:nvPr/>
        </p:nvSpPr>
        <p:spPr>
          <a:xfrm>
            <a:off x="5523479" y="493024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cxnSp>
        <p:nvCxnSpPr>
          <p:cNvPr id="26" name="Gerade Verbindung mit Pfeil 38"/>
          <p:cNvCxnSpPr>
            <a:stCxn id="8" idx="2"/>
            <a:endCxn id="14" idx="0"/>
          </p:cNvCxnSpPr>
          <p:nvPr/>
        </p:nvCxnSpPr>
        <p:spPr>
          <a:xfrm>
            <a:off x="6470420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41"/>
          <p:cNvCxnSpPr>
            <a:stCxn id="9" idx="2"/>
            <a:endCxn id="15" idx="0"/>
          </p:cNvCxnSpPr>
          <p:nvPr/>
        </p:nvCxnSpPr>
        <p:spPr>
          <a:xfrm>
            <a:off x="7406524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46"/>
          <p:cNvCxnSpPr>
            <a:stCxn id="10" idx="2"/>
            <a:endCxn id="16" idx="0"/>
          </p:cNvCxnSpPr>
          <p:nvPr/>
        </p:nvCxnSpPr>
        <p:spPr>
          <a:xfrm>
            <a:off x="8342628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49"/>
          <p:cNvSpPr txBox="1"/>
          <p:nvPr/>
        </p:nvSpPr>
        <p:spPr>
          <a:xfrm>
            <a:off x="1825904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0" name="Textfeld 50"/>
          <p:cNvSpPr txBox="1"/>
          <p:nvPr/>
        </p:nvSpPr>
        <p:spPr>
          <a:xfrm>
            <a:off x="2762008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2" name="Textfeld 52"/>
          <p:cNvSpPr txBox="1"/>
          <p:nvPr/>
        </p:nvSpPr>
        <p:spPr>
          <a:xfrm>
            <a:off x="6506424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3" name="Textfeld 53"/>
          <p:cNvSpPr txBox="1"/>
          <p:nvPr/>
        </p:nvSpPr>
        <p:spPr>
          <a:xfrm>
            <a:off x="7442528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4" name="Textfeld 54"/>
          <p:cNvSpPr txBox="1"/>
          <p:nvPr/>
        </p:nvSpPr>
        <p:spPr>
          <a:xfrm>
            <a:off x="8378632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cxnSp>
        <p:nvCxnSpPr>
          <p:cNvPr id="35" name="Gerade Verbindung mit Pfeil 55"/>
          <p:cNvCxnSpPr>
            <a:stCxn id="4" idx="1"/>
            <a:endCxn id="5" idx="0"/>
          </p:cNvCxnSpPr>
          <p:nvPr/>
        </p:nvCxnSpPr>
        <p:spPr>
          <a:xfrm flipH="1">
            <a:off x="1789900" y="3262236"/>
            <a:ext cx="3132348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58"/>
          <p:cNvCxnSpPr>
            <a:stCxn id="4" idx="1"/>
            <a:endCxn id="6" idx="0"/>
          </p:cNvCxnSpPr>
          <p:nvPr/>
        </p:nvCxnSpPr>
        <p:spPr>
          <a:xfrm flipH="1">
            <a:off x="2726004" y="3262236"/>
            <a:ext cx="2196244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64"/>
          <p:cNvCxnSpPr>
            <a:stCxn id="4" idx="3"/>
            <a:endCxn id="8" idx="0"/>
          </p:cNvCxnSpPr>
          <p:nvPr/>
        </p:nvCxnSpPr>
        <p:spPr>
          <a:xfrm>
            <a:off x="5311577" y="3262236"/>
            <a:ext cx="1158845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67"/>
          <p:cNvCxnSpPr>
            <a:stCxn id="4" idx="3"/>
            <a:endCxn id="9" idx="0"/>
          </p:cNvCxnSpPr>
          <p:nvPr/>
        </p:nvCxnSpPr>
        <p:spPr>
          <a:xfrm>
            <a:off x="5311577" y="3262236"/>
            <a:ext cx="2094949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70"/>
          <p:cNvCxnSpPr>
            <a:stCxn id="4" idx="3"/>
            <a:endCxn id="10" idx="0"/>
          </p:cNvCxnSpPr>
          <p:nvPr/>
        </p:nvCxnSpPr>
        <p:spPr>
          <a:xfrm>
            <a:off x="5311577" y="3262236"/>
            <a:ext cx="3031053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hteck 73"/>
          <p:cNvSpPr/>
          <p:nvPr/>
        </p:nvSpPr>
        <p:spPr>
          <a:xfrm>
            <a:off x="1897245" y="6179543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1,b1</a:t>
            </a:r>
          </a:p>
        </p:txBody>
      </p:sp>
      <p:sp>
        <p:nvSpPr>
          <p:cNvPr id="42" name="Rechteck 74"/>
          <p:cNvSpPr/>
          <p:nvPr/>
        </p:nvSpPr>
        <p:spPr>
          <a:xfrm>
            <a:off x="3778370" y="6179543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43" name="Rechteck 75"/>
          <p:cNvSpPr/>
          <p:nvPr/>
        </p:nvSpPr>
        <p:spPr>
          <a:xfrm>
            <a:off x="7547953" y="6179543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 err="1">
                <a:solidFill>
                  <a:srgbClr val="101073"/>
                </a:solidFill>
              </a:rPr>
              <a:t>sk</a:t>
            </a:r>
            <a:r>
              <a:rPr lang="en-US" sz="1400" b="1" baseline="-25000" dirty="0" err="1">
                <a:solidFill>
                  <a:srgbClr val="101073"/>
                </a:solidFill>
              </a:rPr>
              <a:t>m,bm</a:t>
            </a:r>
            <a:endParaRPr lang="en-US" sz="1400" b="1" baseline="-25000" dirty="0">
              <a:solidFill>
                <a:srgbClr val="101073"/>
              </a:solidFill>
            </a:endParaRPr>
          </a:p>
        </p:txBody>
      </p:sp>
      <p:sp>
        <p:nvSpPr>
          <p:cNvPr id="44" name="Ellipse 76"/>
          <p:cNvSpPr/>
          <p:nvPr/>
        </p:nvSpPr>
        <p:spPr>
          <a:xfrm>
            <a:off x="5459721" y="625155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45" name="Ellipse 77"/>
          <p:cNvSpPr/>
          <p:nvPr/>
        </p:nvSpPr>
        <p:spPr>
          <a:xfrm>
            <a:off x="5963777" y="625155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46" name="Ellipse 78"/>
          <p:cNvSpPr/>
          <p:nvPr/>
        </p:nvSpPr>
        <p:spPr>
          <a:xfrm>
            <a:off x="6467833" y="625155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grpSp>
        <p:nvGrpSpPr>
          <p:cNvPr id="47" name="Gruppieren 99"/>
          <p:cNvGrpSpPr/>
          <p:nvPr/>
        </p:nvGrpSpPr>
        <p:grpSpPr>
          <a:xfrm>
            <a:off x="1139241" y="3994136"/>
            <a:ext cx="1656184" cy="2185407"/>
            <a:chOff x="1115616" y="2827767"/>
            <a:chExt cx="1656184" cy="2185407"/>
          </a:xfrm>
        </p:grpSpPr>
        <p:sp>
          <p:nvSpPr>
            <p:cNvPr id="48" name="Flussdiagramm: Manuelle Verarbeitung 80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Mux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49" name="Gerade Verbindung mit Pfeil 81"/>
            <p:cNvCxnSpPr/>
            <p:nvPr/>
          </p:nvCxnSpPr>
          <p:spPr>
            <a:xfrm>
              <a:off x="1779725" y="2827767"/>
              <a:ext cx="318818" cy="146532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mit Pfeil 84"/>
            <p:cNvCxnSpPr/>
            <p:nvPr/>
          </p:nvCxnSpPr>
          <p:spPr>
            <a:xfrm flipH="1">
              <a:off x="2545984" y="2827767"/>
              <a:ext cx="180020" cy="146532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mit Pfeil 88"/>
            <p:cNvCxnSpPr>
              <a:stCxn id="52" idx="3"/>
              <a:endCxn id="48" idx="1"/>
            </p:cNvCxnSpPr>
            <p:nvPr/>
          </p:nvCxnSpPr>
          <p:spPr>
            <a:xfrm>
              <a:off x="1547664" y="4544160"/>
              <a:ext cx="446450" cy="9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feld 92"/>
            <p:cNvSpPr txBox="1"/>
            <p:nvPr/>
          </p:nvSpPr>
          <p:spPr>
            <a:xfrm>
              <a:off x="1115616" y="439027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b1</a:t>
              </a:r>
            </a:p>
          </p:txBody>
        </p:sp>
        <p:cxnSp>
          <p:nvCxnSpPr>
            <p:cNvPr id="53" name="Gerade Verbindung mit Pfeil 96"/>
            <p:cNvCxnSpPr>
              <a:stCxn id="48" idx="2"/>
              <a:endCxn id="41" idx="0"/>
            </p:cNvCxnSpPr>
            <p:nvPr/>
          </p:nvCxnSpPr>
          <p:spPr>
            <a:xfrm>
              <a:off x="2339752" y="4797152"/>
              <a:ext cx="1920" cy="21602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uppieren 100"/>
          <p:cNvGrpSpPr/>
          <p:nvPr/>
        </p:nvGrpSpPr>
        <p:grpSpPr>
          <a:xfrm>
            <a:off x="3011449" y="3994138"/>
            <a:ext cx="1656184" cy="2185407"/>
            <a:chOff x="1115616" y="2827769"/>
            <a:chExt cx="1656184" cy="2185407"/>
          </a:xfrm>
        </p:grpSpPr>
        <p:sp>
          <p:nvSpPr>
            <p:cNvPr id="55" name="Flussdiagramm: Manuelle Verarbeitung 101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Mux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Gerade Verbindung mit Pfeil 102"/>
            <p:cNvCxnSpPr/>
            <p:nvPr/>
          </p:nvCxnSpPr>
          <p:spPr>
            <a:xfrm>
              <a:off x="1789900" y="2827769"/>
              <a:ext cx="3338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mit Pfeil 103"/>
            <p:cNvCxnSpPr/>
            <p:nvPr/>
          </p:nvCxnSpPr>
          <p:spPr>
            <a:xfrm flipH="1">
              <a:off x="2555776" y="2827769"/>
              <a:ext cx="1702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mit Pfeil 104"/>
            <p:cNvCxnSpPr>
              <a:stCxn id="59" idx="3"/>
              <a:endCxn id="55" idx="1"/>
            </p:cNvCxnSpPr>
            <p:nvPr/>
          </p:nvCxnSpPr>
          <p:spPr>
            <a:xfrm>
              <a:off x="1547664" y="4544160"/>
              <a:ext cx="446450" cy="9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105"/>
            <p:cNvSpPr txBox="1"/>
            <p:nvPr/>
          </p:nvSpPr>
          <p:spPr>
            <a:xfrm>
              <a:off x="1115616" y="439027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b2</a:t>
              </a:r>
            </a:p>
          </p:txBody>
        </p:sp>
        <p:cxnSp>
          <p:nvCxnSpPr>
            <p:cNvPr id="60" name="Gerade Verbindung mit Pfeil 106"/>
            <p:cNvCxnSpPr>
              <a:stCxn id="55" idx="2"/>
            </p:cNvCxnSpPr>
            <p:nvPr/>
          </p:nvCxnSpPr>
          <p:spPr>
            <a:xfrm flipH="1">
              <a:off x="2337304" y="4797152"/>
              <a:ext cx="2448" cy="21602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uppieren 107"/>
          <p:cNvGrpSpPr/>
          <p:nvPr/>
        </p:nvGrpSpPr>
        <p:grpSpPr>
          <a:xfrm>
            <a:off x="6652489" y="3994138"/>
            <a:ext cx="1759560" cy="2185407"/>
            <a:chOff x="1012240" y="2827769"/>
            <a:chExt cx="1759560" cy="2185407"/>
          </a:xfrm>
        </p:grpSpPr>
        <p:sp>
          <p:nvSpPr>
            <p:cNvPr id="62" name="Flussdiagramm: Manuelle Verarbeitung 108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Mux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3" name="Gerade Verbindung mit Pfeil 109"/>
            <p:cNvCxnSpPr/>
            <p:nvPr/>
          </p:nvCxnSpPr>
          <p:spPr>
            <a:xfrm>
              <a:off x="1789900" y="2827769"/>
              <a:ext cx="3338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 Verbindung mit Pfeil 110"/>
            <p:cNvCxnSpPr/>
            <p:nvPr/>
          </p:nvCxnSpPr>
          <p:spPr>
            <a:xfrm flipH="1">
              <a:off x="2555776" y="2827769"/>
              <a:ext cx="1702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 Verbindung mit Pfeil 111"/>
            <p:cNvCxnSpPr>
              <a:stCxn id="66" idx="3"/>
              <a:endCxn id="62" idx="1"/>
            </p:cNvCxnSpPr>
            <p:nvPr/>
          </p:nvCxnSpPr>
          <p:spPr>
            <a:xfrm>
              <a:off x="1588304" y="4542875"/>
              <a:ext cx="405810" cy="224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feld 112"/>
            <p:cNvSpPr txBox="1"/>
            <p:nvPr/>
          </p:nvSpPr>
          <p:spPr>
            <a:xfrm>
              <a:off x="1012240" y="4388986"/>
              <a:ext cx="5760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bm</a:t>
              </a:r>
              <a:endParaRPr lang="en-US" sz="1400" b="1" dirty="0"/>
            </a:p>
          </p:txBody>
        </p:sp>
        <p:cxnSp>
          <p:nvCxnSpPr>
            <p:cNvPr id="67" name="Gerade Verbindung mit Pfeil 113"/>
            <p:cNvCxnSpPr>
              <a:stCxn id="62" idx="2"/>
            </p:cNvCxnSpPr>
            <p:nvPr/>
          </p:nvCxnSpPr>
          <p:spPr>
            <a:xfrm flipH="1">
              <a:off x="2337304" y="4797152"/>
              <a:ext cx="2448" cy="21602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hteck 16"/>
              <p:cNvSpPr/>
              <p:nvPr/>
            </p:nvSpPr>
            <p:spPr>
              <a:xfrm>
                <a:off x="3196334" y="4861659"/>
                <a:ext cx="936104" cy="21602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72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9" name="Rechteck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334" y="4861659"/>
                <a:ext cx="936104" cy="216024"/>
              </a:xfrm>
              <a:prstGeom prst="rect">
                <a:avLst/>
              </a:prstGeom>
              <a:blipFill rotWithShape="0">
                <a:blip r:embed="rId4"/>
                <a:stretch>
                  <a:fillRect b="-3783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/>
          <p:cNvSpPr txBox="1"/>
          <p:nvPr/>
        </p:nvSpPr>
        <p:spPr>
          <a:xfrm>
            <a:off x="4621837" y="1352939"/>
            <a:ext cx="4410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smtClean="0"/>
              <a:t>Adv. Message: </a:t>
            </a:r>
            <a:r>
              <a:rPr lang="en-US" sz="2400" dirty="0" smtClean="0"/>
              <a:t>M = b1,…,</a:t>
            </a:r>
            <a:r>
              <a:rPr lang="en-US" sz="2400" dirty="0" err="1" smtClean="0"/>
              <a:t>bm</a:t>
            </a:r>
            <a:endParaRPr lang="en-US" sz="2400" dirty="0"/>
          </a:p>
          <a:p>
            <a:r>
              <a:rPr lang="en-US" sz="2400" dirty="0" smtClean="0"/>
              <a:t>If bi = b return fail</a:t>
            </a:r>
          </a:p>
          <a:p>
            <a:r>
              <a:rPr lang="en-US" sz="2400" dirty="0" smtClean="0"/>
              <a:t>else return Sign(M)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3443497" y="3666931"/>
            <a:ext cx="446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smtClean="0">
                <a:solidFill>
                  <a:srgbClr val="FF0000"/>
                </a:solidFill>
              </a:rPr>
              <a:t>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71" name="Picture 6" descr="https://www.vvwerratal.de/typo3temp/pics/smiley_traurig_fca7547a2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604" y="3483286"/>
            <a:ext cx="17526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60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68" grpId="0"/>
      <p:bldP spid="7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Reduction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27047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de-DE" dirty="0" smtClean="0"/>
                  <a:t>Input: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de-DE" dirty="0" smtClean="0"/>
              </a:p>
              <a:p>
                <a:pPr>
                  <a:buNone/>
                </a:pPr>
                <a:r>
                  <a:rPr lang="de-DE" dirty="0" smtClean="0"/>
                  <a:t>Set</a:t>
                </a:r>
                <a:r>
                  <a:rPr lang="de-DE" i="1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de-DE" dirty="0" smtClean="0"/>
                  <a:t>			</a:t>
                </a:r>
              </a:p>
              <a:p>
                <a:pPr>
                  <a:buNone/>
                </a:pPr>
                <a:r>
                  <a:rPr lang="de-DE" dirty="0" smtClean="0"/>
                  <a:t>Choose random </a:t>
                </a:r>
                <a:r>
                  <a:rPr lang="en-US" b="1" dirty="0" err="1" smtClean="0">
                    <a:solidFill>
                      <a:srgbClr val="101073"/>
                    </a:solidFill>
                  </a:rPr>
                  <a:t>pk</a:t>
                </a:r>
                <a:r>
                  <a:rPr lang="en-US" b="1" baseline="-25000" dirty="0" err="1" smtClean="0">
                    <a:solidFill>
                      <a:srgbClr val="101073"/>
                    </a:solidFill>
                  </a:rPr>
                  <a:t>i,b</a:t>
                </a: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sz="3600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27047"/>
                <a:ext cx="7886700" cy="4351338"/>
              </a:xfrm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hteck 6"/>
          <p:cNvSpPr/>
          <p:nvPr/>
        </p:nvSpPr>
        <p:spPr>
          <a:xfrm>
            <a:off x="1321848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6" name="Rechteck 7"/>
          <p:cNvSpPr/>
          <p:nvPr/>
        </p:nvSpPr>
        <p:spPr>
          <a:xfrm>
            <a:off x="2257952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8" name="Rechteck 11"/>
          <p:cNvSpPr/>
          <p:nvPr/>
        </p:nvSpPr>
        <p:spPr>
          <a:xfrm>
            <a:off x="6002368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9" name="Rechteck 12"/>
          <p:cNvSpPr/>
          <p:nvPr/>
        </p:nvSpPr>
        <p:spPr>
          <a:xfrm>
            <a:off x="6938472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m,0</a:t>
            </a:r>
            <a:endParaRPr lang="en-US" dirty="0"/>
          </a:p>
        </p:txBody>
      </p:sp>
      <p:sp>
        <p:nvSpPr>
          <p:cNvPr id="10" name="Rechteck 13"/>
          <p:cNvSpPr/>
          <p:nvPr/>
        </p:nvSpPr>
        <p:spPr>
          <a:xfrm>
            <a:off x="7874576" y="37781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m,1</a:t>
            </a:r>
          </a:p>
        </p:txBody>
      </p:sp>
      <p:sp>
        <p:nvSpPr>
          <p:cNvPr id="11" name="Rechteck 14"/>
          <p:cNvSpPr/>
          <p:nvPr/>
        </p:nvSpPr>
        <p:spPr>
          <a:xfrm>
            <a:off x="1321848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12" name="Rechteck 15"/>
          <p:cNvSpPr/>
          <p:nvPr/>
        </p:nvSpPr>
        <p:spPr>
          <a:xfrm>
            <a:off x="2257952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13" name="Rechteck 16"/>
          <p:cNvSpPr/>
          <p:nvPr/>
        </p:nvSpPr>
        <p:spPr>
          <a:xfrm>
            <a:off x="3194056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4" name="Rechteck 19"/>
          <p:cNvSpPr/>
          <p:nvPr/>
        </p:nvSpPr>
        <p:spPr>
          <a:xfrm>
            <a:off x="6002368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5" name="Rechteck 20"/>
          <p:cNvSpPr/>
          <p:nvPr/>
        </p:nvSpPr>
        <p:spPr>
          <a:xfrm>
            <a:off x="6938472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m,0</a:t>
            </a:r>
            <a:endParaRPr lang="en-US" dirty="0"/>
          </a:p>
        </p:txBody>
      </p:sp>
      <p:sp>
        <p:nvSpPr>
          <p:cNvPr id="16" name="Rechteck 21"/>
          <p:cNvSpPr/>
          <p:nvPr/>
        </p:nvSpPr>
        <p:spPr>
          <a:xfrm>
            <a:off x="7874576" y="485823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m,1</a:t>
            </a:r>
          </a:p>
        </p:txBody>
      </p:sp>
      <p:cxnSp>
        <p:nvCxnSpPr>
          <p:cNvPr id="17" name="Gerade Verbindung mit Pfeil 23"/>
          <p:cNvCxnSpPr>
            <a:stCxn id="5" idx="2"/>
            <a:endCxn id="11" idx="0"/>
          </p:cNvCxnSpPr>
          <p:nvPr/>
        </p:nvCxnSpPr>
        <p:spPr>
          <a:xfrm>
            <a:off x="1789900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24"/>
          <p:cNvCxnSpPr>
            <a:stCxn id="6" idx="2"/>
            <a:endCxn id="12" idx="0"/>
          </p:cNvCxnSpPr>
          <p:nvPr/>
        </p:nvCxnSpPr>
        <p:spPr>
          <a:xfrm>
            <a:off x="2726004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e 32"/>
          <p:cNvSpPr/>
          <p:nvPr/>
        </p:nvSpPr>
        <p:spPr>
          <a:xfrm>
            <a:off x="4490200" y="385012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1" name="Ellipse 33"/>
          <p:cNvSpPr/>
          <p:nvPr/>
        </p:nvSpPr>
        <p:spPr>
          <a:xfrm>
            <a:off x="4994256" y="385012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2" name="Ellipse 34"/>
          <p:cNvSpPr/>
          <p:nvPr/>
        </p:nvSpPr>
        <p:spPr>
          <a:xfrm>
            <a:off x="5498312" y="385012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3" name="Ellipse 35"/>
          <p:cNvSpPr/>
          <p:nvPr/>
        </p:nvSpPr>
        <p:spPr>
          <a:xfrm>
            <a:off x="4515367" y="493024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4" name="Ellipse 36"/>
          <p:cNvSpPr/>
          <p:nvPr/>
        </p:nvSpPr>
        <p:spPr>
          <a:xfrm>
            <a:off x="5019423" y="493024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5" name="Ellipse 37"/>
          <p:cNvSpPr/>
          <p:nvPr/>
        </p:nvSpPr>
        <p:spPr>
          <a:xfrm>
            <a:off x="5523479" y="493024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cxnSp>
        <p:nvCxnSpPr>
          <p:cNvPr id="26" name="Gerade Verbindung mit Pfeil 38"/>
          <p:cNvCxnSpPr>
            <a:stCxn id="8" idx="2"/>
            <a:endCxn id="14" idx="0"/>
          </p:cNvCxnSpPr>
          <p:nvPr/>
        </p:nvCxnSpPr>
        <p:spPr>
          <a:xfrm>
            <a:off x="6470420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41"/>
          <p:cNvCxnSpPr>
            <a:stCxn id="9" idx="2"/>
            <a:endCxn id="15" idx="0"/>
          </p:cNvCxnSpPr>
          <p:nvPr/>
        </p:nvCxnSpPr>
        <p:spPr>
          <a:xfrm>
            <a:off x="7406524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46"/>
          <p:cNvCxnSpPr>
            <a:stCxn id="10" idx="2"/>
            <a:endCxn id="16" idx="0"/>
          </p:cNvCxnSpPr>
          <p:nvPr/>
        </p:nvCxnSpPr>
        <p:spPr>
          <a:xfrm>
            <a:off x="8342628" y="399413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49"/>
          <p:cNvSpPr txBox="1"/>
          <p:nvPr/>
        </p:nvSpPr>
        <p:spPr>
          <a:xfrm>
            <a:off x="1825904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0" name="Textfeld 50"/>
          <p:cNvSpPr txBox="1"/>
          <p:nvPr/>
        </p:nvSpPr>
        <p:spPr>
          <a:xfrm>
            <a:off x="2762008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2" name="Textfeld 52"/>
          <p:cNvSpPr txBox="1"/>
          <p:nvPr/>
        </p:nvSpPr>
        <p:spPr>
          <a:xfrm>
            <a:off x="6506424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3" name="Textfeld 53"/>
          <p:cNvSpPr txBox="1"/>
          <p:nvPr/>
        </p:nvSpPr>
        <p:spPr>
          <a:xfrm>
            <a:off x="7442528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4" name="Textfeld 54"/>
          <p:cNvSpPr txBox="1"/>
          <p:nvPr/>
        </p:nvSpPr>
        <p:spPr>
          <a:xfrm>
            <a:off x="8378632" y="421016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hteck 16"/>
              <p:cNvSpPr/>
              <p:nvPr/>
            </p:nvSpPr>
            <p:spPr>
              <a:xfrm>
                <a:off x="3196334" y="4861659"/>
                <a:ext cx="936104" cy="21602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72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9" name="Rechteck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334" y="4861659"/>
                <a:ext cx="936104" cy="216024"/>
              </a:xfrm>
              <a:prstGeom prst="rect">
                <a:avLst/>
              </a:prstGeom>
              <a:blipFill rotWithShape="0">
                <a:blip r:embed="rId3"/>
                <a:stretch>
                  <a:fillRect b="-3783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4621837" y="1408925"/>
                <a:ext cx="441019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400" dirty="0" smtClean="0"/>
                  <a:t>Forgery: </a:t>
                </a:r>
                <a:r>
                  <a:rPr lang="en-US" sz="2400" dirty="0" smtClean="0"/>
                  <a:t>M* = b1*,…,</a:t>
                </a:r>
                <a:r>
                  <a:rPr lang="en-US" sz="2400" dirty="0" err="1" smtClean="0"/>
                  <a:t>bm</a:t>
                </a:r>
                <a:r>
                  <a:rPr lang="en-US" sz="2400" dirty="0" smtClean="0"/>
                  <a:t>*,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r>
                  <a:rPr lang="en-US" sz="2400" dirty="0" smtClean="0"/>
                  <a:t>If bi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400" dirty="0" smtClean="0"/>
                  <a:t> b return fail</a:t>
                </a:r>
              </a:p>
              <a:p>
                <a:r>
                  <a:rPr lang="de-DE" sz="2400" dirty="0" smtClean="0"/>
                  <a:t>Else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837" y="1408925"/>
                <a:ext cx="4410196" cy="1569660"/>
              </a:xfrm>
              <a:prstGeom prst="rect">
                <a:avLst/>
              </a:prstGeom>
              <a:blipFill rotWithShape="0">
                <a:blip r:embed="rId4"/>
                <a:stretch>
                  <a:fillRect l="-2072"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/>
          <p:cNvSpPr txBox="1"/>
          <p:nvPr/>
        </p:nvSpPr>
        <p:spPr>
          <a:xfrm>
            <a:off x="3443497" y="3666931"/>
            <a:ext cx="446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smtClean="0">
                <a:solidFill>
                  <a:srgbClr val="FF0000"/>
                </a:solidFill>
              </a:rPr>
              <a:t>?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hteck 7"/>
              <p:cNvSpPr/>
              <p:nvPr/>
            </p:nvSpPr>
            <p:spPr>
              <a:xfrm>
                <a:off x="4145840" y="3777158"/>
                <a:ext cx="936104" cy="21602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72000" rtlCol="0" anchor="ctr"/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p>
                            <m:sSup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de-D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US" sz="1400" b="1" baseline="-25000" dirty="0">
                  <a:solidFill>
                    <a:srgbClr val="101073"/>
                  </a:solidFill>
                </a:endParaRPr>
              </a:p>
            </p:txBody>
          </p:sp>
        </mc:Choice>
        <mc:Fallback xmlns="">
          <p:sp>
            <p:nvSpPr>
              <p:cNvPr id="71" name="Rechteck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840" y="3777158"/>
                <a:ext cx="936104" cy="216024"/>
              </a:xfrm>
              <a:prstGeom prst="rect">
                <a:avLst/>
              </a:prstGeom>
              <a:blipFill rotWithShape="0">
                <a:blip r:embed="rId5"/>
                <a:stretch>
                  <a:fillRect b="-3243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hteck 7"/>
              <p:cNvSpPr/>
              <p:nvPr/>
            </p:nvSpPr>
            <p:spPr>
              <a:xfrm>
                <a:off x="3209736" y="3777158"/>
                <a:ext cx="936104" cy="21602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72000" rtlCol="0" anchor="ctr"/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p>
                            <m:sSup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de-D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US" sz="1400" b="1" baseline="-25000" dirty="0">
                  <a:solidFill>
                    <a:srgbClr val="101073"/>
                  </a:solidFill>
                </a:endParaRPr>
              </a:p>
            </p:txBody>
          </p:sp>
        </mc:Choice>
        <mc:Fallback xmlns="">
          <p:sp>
            <p:nvSpPr>
              <p:cNvPr id="72" name="Rechteck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736" y="3777158"/>
                <a:ext cx="936104" cy="216024"/>
              </a:xfrm>
              <a:prstGeom prst="rect">
                <a:avLst/>
              </a:prstGeom>
              <a:blipFill rotWithShape="0">
                <a:blip r:embed="rId6"/>
                <a:stretch>
                  <a:fillRect b="-3243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43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1" grpId="1" animBg="1"/>
      <p:bldP spid="7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Reduction - Analysis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012241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de-DE" dirty="0" smtClean="0"/>
                  <a:t>Abort in two cases:</a:t>
                </a:r>
              </a:p>
              <a:p>
                <a:pPr>
                  <a:buNone/>
                </a:pPr>
                <a:r>
                  <a:rPr lang="de-DE" dirty="0" smtClean="0"/>
                  <a:t>1. </a:t>
                </a:r>
                <a:r>
                  <a:rPr lang="en-US" dirty="0"/>
                  <a:t>bi = </a:t>
                </a:r>
                <a:r>
                  <a:rPr lang="en-US" dirty="0" smtClean="0"/>
                  <a:t>b</a:t>
                </a:r>
                <a:br>
                  <a:rPr lang="en-US" dirty="0" smtClean="0"/>
                </a:br>
                <a:r>
                  <a:rPr lang="en-US" dirty="0" smtClean="0"/>
                  <a:t>probability ½ : b is a random bit</a:t>
                </a:r>
                <a:endParaRPr lang="en-US" dirty="0"/>
              </a:p>
              <a:p>
                <a:pPr>
                  <a:buNone/>
                </a:pPr>
                <a:r>
                  <a:rPr lang="de-DE" dirty="0" smtClean="0"/>
                  <a:t>2. </a:t>
                </a:r>
                <a:r>
                  <a:rPr lang="en-US" dirty="0"/>
                  <a:t>bi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b</a:t>
                </a:r>
              </a:p>
              <a:p>
                <a:pPr>
                  <a:buNone/>
                </a:pPr>
                <a:r>
                  <a:rPr lang="de-DE" dirty="0"/>
                  <a:t>	</a:t>
                </a:r>
                <a:r>
                  <a:rPr lang="de-DE" dirty="0" smtClean="0"/>
                  <a:t>probability 1 - 1/m: At least one bit has to flip as </a:t>
                </a:r>
                <a:r>
                  <a:rPr lang="en-US" dirty="0" smtClean="0"/>
                  <a:t>M*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M</a:t>
                </a:r>
              </a:p>
              <a:p>
                <a:pPr>
                  <a:buNone/>
                </a:pPr>
                <a:endParaRPr lang="de-DE" dirty="0"/>
              </a:p>
              <a:p>
                <a:pPr>
                  <a:buNone/>
                </a:pPr>
                <a:r>
                  <a:rPr lang="de-DE" dirty="0" smtClean="0"/>
                  <a:t>Reduction succeeds with A‘s success probability times 1/2m.</a:t>
                </a: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sz="3600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012241"/>
                <a:ext cx="7886700" cy="4351338"/>
              </a:xfrm>
              <a:blipFill rotWithShape="0">
                <a:blip r:embed="rId2"/>
                <a:stretch>
                  <a:fillRect l="-1546" t="-2241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01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Merkle’s</a:t>
            </a:r>
            <a:r>
              <a:rPr lang="en-US" dirty="0" smtClean="0"/>
              <a:t> Hash-based Signatures</a:t>
            </a:r>
            <a:endParaRPr lang="de-DE" dirty="0"/>
          </a:p>
        </p:txBody>
      </p:sp>
      <p:sp>
        <p:nvSpPr>
          <p:cNvPr id="370" name="Inhaltsplatzhalter 2"/>
          <p:cNvSpPr>
            <a:spLocks noGrp="1"/>
          </p:cNvSpPr>
          <p:nvPr>
            <p:ph idx="1"/>
          </p:nvPr>
        </p:nvSpPr>
        <p:spPr bwMode="auto">
          <a:xfrm>
            <a:off x="276025" y="1507800"/>
            <a:ext cx="8640763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sz="1800" kern="0" baseline="-25000">
              <a:solidFill>
                <a:sysClr val="windowText" lastClr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sz="1800" kern="0" baseline="-25000">
              <a:solidFill>
                <a:sysClr val="windowText" lastClr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26</a:t>
            </a:fld>
            <a:endParaRPr lang="nl-NL"/>
          </a:p>
        </p:txBody>
      </p:sp>
      <p:sp>
        <p:nvSpPr>
          <p:cNvPr id="369" name="Ellipse 368"/>
          <p:cNvSpPr/>
          <p:nvPr/>
        </p:nvSpPr>
        <p:spPr>
          <a:xfrm>
            <a:off x="3900288" y="1328411"/>
            <a:ext cx="1354137" cy="368300"/>
          </a:xfrm>
          <a:prstGeom prst="ellipse">
            <a:avLst/>
          </a:prstGeom>
          <a:solidFill>
            <a:srgbClr val="00FF0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de-DE" kern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371" name="Gruppieren 75"/>
          <p:cNvGrpSpPr>
            <a:grpSpLocks/>
          </p:cNvGrpSpPr>
          <p:nvPr/>
        </p:nvGrpSpPr>
        <p:grpSpPr bwMode="auto">
          <a:xfrm>
            <a:off x="3301798" y="2263448"/>
            <a:ext cx="1079500" cy="1512888"/>
            <a:chOff x="3275856" y="2492896"/>
            <a:chExt cx="1080120" cy="1512168"/>
          </a:xfrm>
        </p:grpSpPr>
        <p:sp>
          <p:nvSpPr>
            <p:cNvPr id="372" name="Rechteck 371"/>
            <p:cNvSpPr/>
            <p:nvPr/>
          </p:nvSpPr>
          <p:spPr>
            <a:xfrm>
              <a:off x="3275856" y="2492896"/>
              <a:ext cx="1080120" cy="1512168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anchor="ctr"/>
            <a:lstStyle/>
            <a:p>
              <a:pPr algn="ctr">
                <a:defRPr/>
              </a:pPr>
              <a:r>
                <a:rPr lang="de-DE" sz="2000" kern="0" dirty="0">
                  <a:solidFill>
                    <a:srgbClr val="000000"/>
                  </a:solidFill>
                  <a:latin typeface="Verdana"/>
                </a:rPr>
                <a:t>OTS</a:t>
              </a:r>
            </a:p>
          </p:txBody>
        </p:sp>
        <p:pic>
          <p:nvPicPr>
            <p:cNvPr id="373" name="Picture 220" descr="rupe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657756" y="2660237"/>
              <a:ext cx="366646" cy="336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scene3d>
              <a:camera prst="orthographicFront"/>
              <a:lightRig rig="threePt" dir="t"/>
            </a:scene3d>
            <a:sp3d/>
          </p:spPr>
        </p:pic>
        <p:pic>
          <p:nvPicPr>
            <p:cNvPr id="374" name="Picture 234" descr="stam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22500" y="3465969"/>
              <a:ext cx="225973" cy="395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scene3d>
              <a:camera prst="orthographicFront"/>
              <a:lightRig rig="threePt" dir="t"/>
            </a:scene3d>
            <a:sp3d/>
          </p:spPr>
        </p:pic>
      </p:grpSp>
      <p:grpSp>
        <p:nvGrpSpPr>
          <p:cNvPr id="375" name="Gruppieren 80"/>
          <p:cNvGrpSpPr>
            <a:grpSpLocks/>
          </p:cNvGrpSpPr>
          <p:nvPr/>
        </p:nvGrpSpPr>
        <p:grpSpPr bwMode="auto">
          <a:xfrm>
            <a:off x="1573013" y="4811388"/>
            <a:ext cx="809625" cy="1133475"/>
            <a:chOff x="3275856" y="2492896"/>
            <a:chExt cx="1080120" cy="1512168"/>
          </a:xfrm>
        </p:grpSpPr>
        <p:sp>
          <p:nvSpPr>
            <p:cNvPr id="376" name="Rechteck 375"/>
            <p:cNvSpPr/>
            <p:nvPr/>
          </p:nvSpPr>
          <p:spPr>
            <a:xfrm>
              <a:off x="3275856" y="2492896"/>
              <a:ext cx="1080120" cy="1512168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de-DE" kern="0" dirty="0">
                  <a:solidFill>
                    <a:srgbClr val="000000"/>
                  </a:solidFill>
                  <a:latin typeface="Verdana"/>
                </a:rPr>
                <a:t>OTS</a:t>
              </a:r>
            </a:p>
          </p:txBody>
        </p:sp>
        <p:pic>
          <p:nvPicPr>
            <p:cNvPr id="377" name="Picture 220" descr="rup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657756" y="2660237"/>
              <a:ext cx="366646" cy="336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78" name="Picture 234" descr="stam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22500" y="3465969"/>
              <a:ext cx="225973" cy="395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79" name="Gruppieren 85"/>
          <p:cNvGrpSpPr>
            <a:grpSpLocks/>
          </p:cNvGrpSpPr>
          <p:nvPr/>
        </p:nvGrpSpPr>
        <p:grpSpPr bwMode="auto">
          <a:xfrm>
            <a:off x="2581075" y="4801861"/>
            <a:ext cx="809625" cy="1135062"/>
            <a:chOff x="3275856" y="2492896"/>
            <a:chExt cx="1080120" cy="1512168"/>
          </a:xfrm>
        </p:grpSpPr>
        <p:sp>
          <p:nvSpPr>
            <p:cNvPr id="380" name="Rechteck 379"/>
            <p:cNvSpPr/>
            <p:nvPr/>
          </p:nvSpPr>
          <p:spPr>
            <a:xfrm>
              <a:off x="3275856" y="2492896"/>
              <a:ext cx="1080120" cy="1512168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de-DE" kern="0" dirty="0">
                  <a:solidFill>
                    <a:srgbClr val="000000"/>
                  </a:solidFill>
                  <a:latin typeface="Verdana"/>
                </a:rPr>
                <a:t>OTS</a:t>
              </a:r>
            </a:p>
          </p:txBody>
        </p:sp>
        <p:pic>
          <p:nvPicPr>
            <p:cNvPr id="381" name="Picture 220" descr="rup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657756" y="2660237"/>
              <a:ext cx="366646" cy="336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82" name="Picture 234" descr="stam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22500" y="3465969"/>
              <a:ext cx="225973" cy="395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83" name="Gruppieren 94"/>
          <p:cNvGrpSpPr>
            <a:grpSpLocks/>
          </p:cNvGrpSpPr>
          <p:nvPr/>
        </p:nvGrpSpPr>
        <p:grpSpPr bwMode="auto">
          <a:xfrm>
            <a:off x="3612950" y="4801861"/>
            <a:ext cx="811213" cy="1135062"/>
            <a:chOff x="3275856" y="2492896"/>
            <a:chExt cx="1080120" cy="1512168"/>
          </a:xfrm>
        </p:grpSpPr>
        <p:sp>
          <p:nvSpPr>
            <p:cNvPr id="384" name="Rechteck 383"/>
            <p:cNvSpPr/>
            <p:nvPr/>
          </p:nvSpPr>
          <p:spPr>
            <a:xfrm>
              <a:off x="3275856" y="2492896"/>
              <a:ext cx="1080120" cy="1512168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de-DE" kern="0" dirty="0">
                  <a:solidFill>
                    <a:srgbClr val="000000"/>
                  </a:solidFill>
                  <a:latin typeface="Verdana"/>
                </a:rPr>
                <a:t>OTS</a:t>
              </a:r>
            </a:p>
          </p:txBody>
        </p:sp>
        <p:pic>
          <p:nvPicPr>
            <p:cNvPr id="385" name="Picture 220" descr="rup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657756" y="2660237"/>
              <a:ext cx="366646" cy="336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86" name="Picture 234" descr="stam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22500" y="3465969"/>
              <a:ext cx="225973" cy="395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87" name="Gruppieren 119"/>
          <p:cNvGrpSpPr>
            <a:grpSpLocks/>
          </p:cNvGrpSpPr>
          <p:nvPr/>
        </p:nvGrpSpPr>
        <p:grpSpPr bwMode="auto">
          <a:xfrm>
            <a:off x="4694038" y="4798688"/>
            <a:ext cx="809625" cy="1133475"/>
            <a:chOff x="3275856" y="2492896"/>
            <a:chExt cx="1080120" cy="1512168"/>
          </a:xfrm>
        </p:grpSpPr>
        <p:sp>
          <p:nvSpPr>
            <p:cNvPr id="388" name="Rechteck 387"/>
            <p:cNvSpPr/>
            <p:nvPr/>
          </p:nvSpPr>
          <p:spPr>
            <a:xfrm>
              <a:off x="3275856" y="2492896"/>
              <a:ext cx="1080120" cy="1512168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de-DE" kern="0" dirty="0">
                  <a:solidFill>
                    <a:srgbClr val="000000"/>
                  </a:solidFill>
                  <a:latin typeface="Verdana"/>
                </a:rPr>
                <a:t>OTS</a:t>
              </a:r>
            </a:p>
          </p:txBody>
        </p:sp>
        <p:pic>
          <p:nvPicPr>
            <p:cNvPr id="389" name="Picture 220" descr="rup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657756" y="2660237"/>
              <a:ext cx="366646" cy="336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90" name="Picture 234" descr="stam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22500" y="3465969"/>
              <a:ext cx="225973" cy="395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91" name="Gruppieren 123"/>
          <p:cNvGrpSpPr>
            <a:grpSpLocks/>
          </p:cNvGrpSpPr>
          <p:nvPr/>
        </p:nvGrpSpPr>
        <p:grpSpPr bwMode="auto">
          <a:xfrm>
            <a:off x="5684638" y="4787575"/>
            <a:ext cx="809625" cy="1135063"/>
            <a:chOff x="3275856" y="2492896"/>
            <a:chExt cx="1080120" cy="1512168"/>
          </a:xfrm>
        </p:grpSpPr>
        <p:sp>
          <p:nvSpPr>
            <p:cNvPr id="392" name="Rechteck 391"/>
            <p:cNvSpPr/>
            <p:nvPr/>
          </p:nvSpPr>
          <p:spPr>
            <a:xfrm>
              <a:off x="3275856" y="2492896"/>
              <a:ext cx="1080120" cy="1512168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de-DE" kern="0" dirty="0">
                  <a:solidFill>
                    <a:srgbClr val="000000"/>
                  </a:solidFill>
                  <a:latin typeface="Verdana"/>
                </a:rPr>
                <a:t>OTS</a:t>
              </a:r>
            </a:p>
          </p:txBody>
        </p:sp>
        <p:pic>
          <p:nvPicPr>
            <p:cNvPr id="393" name="Picture 220" descr="rup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657756" y="2660237"/>
              <a:ext cx="366646" cy="336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94" name="Picture 234" descr="stam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22500" y="3465969"/>
              <a:ext cx="225973" cy="395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95" name="Gruppieren 127"/>
          <p:cNvGrpSpPr>
            <a:grpSpLocks/>
          </p:cNvGrpSpPr>
          <p:nvPr/>
        </p:nvGrpSpPr>
        <p:grpSpPr bwMode="auto">
          <a:xfrm>
            <a:off x="6692700" y="4812975"/>
            <a:ext cx="809625" cy="1135063"/>
            <a:chOff x="3275856" y="2492896"/>
            <a:chExt cx="1080120" cy="1512168"/>
          </a:xfrm>
        </p:grpSpPr>
        <p:sp>
          <p:nvSpPr>
            <p:cNvPr id="396" name="Rechteck 395"/>
            <p:cNvSpPr/>
            <p:nvPr/>
          </p:nvSpPr>
          <p:spPr>
            <a:xfrm>
              <a:off x="3275856" y="2492896"/>
              <a:ext cx="1080120" cy="1512168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de-DE" kern="0" dirty="0">
                  <a:solidFill>
                    <a:srgbClr val="000000"/>
                  </a:solidFill>
                  <a:latin typeface="Verdana"/>
                </a:rPr>
                <a:t>OTS</a:t>
              </a:r>
            </a:p>
          </p:txBody>
        </p:sp>
        <p:pic>
          <p:nvPicPr>
            <p:cNvPr id="397" name="Picture 220" descr="rup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657756" y="2660237"/>
              <a:ext cx="366646" cy="336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98" name="Picture 234" descr="stam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22500" y="3465969"/>
              <a:ext cx="225973" cy="395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99" name="Gruppieren 131"/>
          <p:cNvGrpSpPr>
            <a:grpSpLocks/>
          </p:cNvGrpSpPr>
          <p:nvPr/>
        </p:nvGrpSpPr>
        <p:grpSpPr bwMode="auto">
          <a:xfrm>
            <a:off x="7627736" y="4812975"/>
            <a:ext cx="811212" cy="1135063"/>
            <a:chOff x="3275856" y="2492896"/>
            <a:chExt cx="1080120" cy="1512168"/>
          </a:xfrm>
        </p:grpSpPr>
        <p:sp>
          <p:nvSpPr>
            <p:cNvPr id="400" name="Rechteck 399"/>
            <p:cNvSpPr/>
            <p:nvPr/>
          </p:nvSpPr>
          <p:spPr>
            <a:xfrm>
              <a:off x="3275856" y="2492896"/>
              <a:ext cx="1080120" cy="1512168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de-DE" kern="0" dirty="0">
                  <a:solidFill>
                    <a:srgbClr val="000000"/>
                  </a:solidFill>
                  <a:latin typeface="Verdana"/>
                </a:rPr>
                <a:t>OTS</a:t>
              </a:r>
            </a:p>
          </p:txBody>
        </p:sp>
        <p:pic>
          <p:nvPicPr>
            <p:cNvPr id="401" name="Picture 220" descr="rup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657756" y="2660237"/>
              <a:ext cx="366646" cy="336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02" name="Picture 234" descr="stam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22500" y="3465969"/>
              <a:ext cx="225973" cy="395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03" name="Trapezoid 402"/>
          <p:cNvSpPr/>
          <p:nvPr/>
        </p:nvSpPr>
        <p:spPr>
          <a:xfrm>
            <a:off x="1685723" y="4063673"/>
            <a:ext cx="622300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04" name="Gerade Verbindung mit Pfeil 403"/>
          <p:cNvCxnSpPr>
            <a:endCxn id="403" idx="2"/>
          </p:cNvCxnSpPr>
          <p:nvPr/>
        </p:nvCxnSpPr>
        <p:spPr>
          <a:xfrm flipH="1" flipV="1">
            <a:off x="1996873" y="4495475"/>
            <a:ext cx="0" cy="441325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05" name="Trapezoid 404"/>
          <p:cNvSpPr/>
          <p:nvPr/>
        </p:nvSpPr>
        <p:spPr>
          <a:xfrm>
            <a:off x="780848" y="4063673"/>
            <a:ext cx="622300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sp>
        <p:nvSpPr>
          <p:cNvPr id="406" name="Trapezoid 405"/>
          <p:cNvSpPr/>
          <p:nvPr/>
        </p:nvSpPr>
        <p:spPr>
          <a:xfrm>
            <a:off x="2677913" y="4055738"/>
            <a:ext cx="623887" cy="433387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07" name="Gerade Verbindung mit Pfeil 406"/>
          <p:cNvCxnSpPr>
            <a:endCxn id="406" idx="2"/>
          </p:cNvCxnSpPr>
          <p:nvPr/>
        </p:nvCxnSpPr>
        <p:spPr>
          <a:xfrm flipH="1" flipV="1">
            <a:off x="2989061" y="4489123"/>
            <a:ext cx="0" cy="439738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08" name="Trapezoid 407"/>
          <p:cNvSpPr/>
          <p:nvPr/>
        </p:nvSpPr>
        <p:spPr>
          <a:xfrm>
            <a:off x="3685973" y="4063673"/>
            <a:ext cx="623888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09" name="Gerade Verbindung mit Pfeil 408"/>
          <p:cNvCxnSpPr>
            <a:endCxn id="408" idx="2"/>
          </p:cNvCxnSpPr>
          <p:nvPr/>
        </p:nvCxnSpPr>
        <p:spPr>
          <a:xfrm flipH="1" flipV="1">
            <a:off x="3997123" y="4495475"/>
            <a:ext cx="0" cy="441325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10" name="Trapezoid 409"/>
          <p:cNvSpPr/>
          <p:nvPr/>
        </p:nvSpPr>
        <p:spPr>
          <a:xfrm>
            <a:off x="4813098" y="4063673"/>
            <a:ext cx="623888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11" name="Gerade Verbindung mit Pfeil 410"/>
          <p:cNvCxnSpPr>
            <a:endCxn id="410" idx="2"/>
          </p:cNvCxnSpPr>
          <p:nvPr/>
        </p:nvCxnSpPr>
        <p:spPr>
          <a:xfrm flipH="1" flipV="1">
            <a:off x="5124248" y="4495475"/>
            <a:ext cx="0" cy="441325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12" name="Trapezoid 411"/>
          <p:cNvSpPr/>
          <p:nvPr/>
        </p:nvSpPr>
        <p:spPr>
          <a:xfrm>
            <a:off x="5775123" y="4063673"/>
            <a:ext cx="622300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13" name="Gerade Verbindung mit Pfeil 412"/>
          <p:cNvCxnSpPr>
            <a:endCxn id="412" idx="2"/>
          </p:cNvCxnSpPr>
          <p:nvPr/>
        </p:nvCxnSpPr>
        <p:spPr>
          <a:xfrm flipH="1" flipV="1">
            <a:off x="6086273" y="4495475"/>
            <a:ext cx="0" cy="441325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14" name="Trapezoid 413"/>
          <p:cNvSpPr/>
          <p:nvPr/>
        </p:nvSpPr>
        <p:spPr>
          <a:xfrm>
            <a:off x="6783186" y="4063673"/>
            <a:ext cx="622300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15" name="Gerade Verbindung mit Pfeil 414"/>
          <p:cNvCxnSpPr>
            <a:endCxn id="414" idx="2"/>
          </p:cNvCxnSpPr>
          <p:nvPr/>
        </p:nvCxnSpPr>
        <p:spPr>
          <a:xfrm flipH="1" flipV="1">
            <a:off x="7094336" y="4495475"/>
            <a:ext cx="0" cy="441325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16" name="Trapezoid 415"/>
          <p:cNvSpPr/>
          <p:nvPr/>
        </p:nvSpPr>
        <p:spPr>
          <a:xfrm>
            <a:off x="7718223" y="4063673"/>
            <a:ext cx="623888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17" name="Gerade Verbindung mit Pfeil 416"/>
          <p:cNvCxnSpPr>
            <a:endCxn id="416" idx="2"/>
          </p:cNvCxnSpPr>
          <p:nvPr/>
        </p:nvCxnSpPr>
        <p:spPr>
          <a:xfrm flipH="1" flipV="1">
            <a:off x="8029373" y="4495475"/>
            <a:ext cx="1588" cy="441325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18" name="Trapezoid 417"/>
          <p:cNvSpPr/>
          <p:nvPr/>
        </p:nvSpPr>
        <p:spPr>
          <a:xfrm>
            <a:off x="1238048" y="3344536"/>
            <a:ext cx="622300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19" name="Gewinkelte Verbindung 418"/>
          <p:cNvCxnSpPr>
            <a:stCxn id="405" idx="0"/>
            <a:endCxn id="418" idx="2"/>
          </p:cNvCxnSpPr>
          <p:nvPr/>
        </p:nvCxnSpPr>
        <p:spPr>
          <a:xfrm rot="5400000" flipH="1" flipV="1">
            <a:off x="1176931" y="3691405"/>
            <a:ext cx="287337" cy="45720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420" name="Gewinkelte Verbindung 419"/>
          <p:cNvCxnSpPr>
            <a:stCxn id="403" idx="0"/>
            <a:endCxn id="418" idx="2"/>
          </p:cNvCxnSpPr>
          <p:nvPr/>
        </p:nvCxnSpPr>
        <p:spPr>
          <a:xfrm rot="16200000" flipV="1">
            <a:off x="1629369" y="3696169"/>
            <a:ext cx="287337" cy="447675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21" name="Trapezoid 420"/>
          <p:cNvSpPr/>
          <p:nvPr/>
        </p:nvSpPr>
        <p:spPr>
          <a:xfrm>
            <a:off x="3158923" y="3344536"/>
            <a:ext cx="622300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22" name="Gewinkelte Verbindung 421"/>
          <p:cNvCxnSpPr>
            <a:stCxn id="406" idx="0"/>
            <a:endCxn id="421" idx="2"/>
          </p:cNvCxnSpPr>
          <p:nvPr/>
        </p:nvCxnSpPr>
        <p:spPr>
          <a:xfrm rot="5400000" flipH="1" flipV="1">
            <a:off x="3089867" y="3675530"/>
            <a:ext cx="279400" cy="481012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423" name="Gewinkelte Verbindung 422"/>
          <p:cNvCxnSpPr>
            <a:stCxn id="408" idx="0"/>
            <a:endCxn id="421" idx="2"/>
          </p:cNvCxnSpPr>
          <p:nvPr/>
        </p:nvCxnSpPr>
        <p:spPr>
          <a:xfrm rot="16200000" flipV="1">
            <a:off x="3589931" y="3656480"/>
            <a:ext cx="287337" cy="52705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24" name="Trapezoid 423"/>
          <p:cNvSpPr/>
          <p:nvPr/>
        </p:nvSpPr>
        <p:spPr>
          <a:xfrm>
            <a:off x="5278238" y="3344536"/>
            <a:ext cx="623887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25" name="Gewinkelte Verbindung 424"/>
          <p:cNvCxnSpPr>
            <a:stCxn id="410" idx="0"/>
            <a:endCxn id="424" idx="2"/>
          </p:cNvCxnSpPr>
          <p:nvPr/>
        </p:nvCxnSpPr>
        <p:spPr>
          <a:xfrm rot="5400000" flipH="1" flipV="1">
            <a:off x="5213944" y="3686644"/>
            <a:ext cx="287337" cy="466725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426" name="Gewinkelte Verbindung 425"/>
          <p:cNvCxnSpPr>
            <a:stCxn id="412" idx="0"/>
            <a:endCxn id="424" idx="2"/>
          </p:cNvCxnSpPr>
          <p:nvPr/>
        </p:nvCxnSpPr>
        <p:spPr>
          <a:xfrm rot="16200000" flipV="1">
            <a:off x="5694956" y="3672355"/>
            <a:ext cx="287337" cy="49530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27" name="Trapezoid 426"/>
          <p:cNvSpPr/>
          <p:nvPr/>
        </p:nvSpPr>
        <p:spPr>
          <a:xfrm>
            <a:off x="7262613" y="3344536"/>
            <a:ext cx="623887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28" name="Gewinkelte Verbindung 427"/>
          <p:cNvCxnSpPr>
            <a:stCxn id="414" idx="0"/>
            <a:endCxn id="427" idx="2"/>
          </p:cNvCxnSpPr>
          <p:nvPr/>
        </p:nvCxnSpPr>
        <p:spPr>
          <a:xfrm rot="5400000" flipH="1" flipV="1">
            <a:off x="7191175" y="3679499"/>
            <a:ext cx="287337" cy="481012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429" name="Gewinkelte Verbindung 428"/>
          <p:cNvCxnSpPr>
            <a:stCxn id="416" idx="0"/>
            <a:endCxn id="427" idx="2"/>
          </p:cNvCxnSpPr>
          <p:nvPr/>
        </p:nvCxnSpPr>
        <p:spPr>
          <a:xfrm rot="16200000" flipV="1">
            <a:off x="7658694" y="3692994"/>
            <a:ext cx="287337" cy="454025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30" name="Trapezoid 429"/>
          <p:cNvSpPr/>
          <p:nvPr/>
        </p:nvSpPr>
        <p:spPr>
          <a:xfrm>
            <a:off x="2222298" y="2623811"/>
            <a:ext cx="623888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31" name="Gewinkelte Verbindung 430"/>
          <p:cNvCxnSpPr>
            <a:stCxn id="418" idx="0"/>
            <a:endCxn id="430" idx="2"/>
          </p:cNvCxnSpPr>
          <p:nvPr/>
        </p:nvCxnSpPr>
        <p:spPr>
          <a:xfrm rot="5400000" flipH="1" flipV="1">
            <a:off x="1896862" y="2707949"/>
            <a:ext cx="288925" cy="98425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432" name="Gewinkelte Verbindung 431"/>
          <p:cNvCxnSpPr>
            <a:stCxn id="421" idx="0"/>
            <a:endCxn id="430" idx="2"/>
          </p:cNvCxnSpPr>
          <p:nvPr/>
        </p:nvCxnSpPr>
        <p:spPr>
          <a:xfrm rot="16200000" flipV="1">
            <a:off x="2857300" y="2731763"/>
            <a:ext cx="288925" cy="936625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33" name="Trapezoid 432"/>
          <p:cNvSpPr/>
          <p:nvPr/>
        </p:nvSpPr>
        <p:spPr>
          <a:xfrm>
            <a:off x="6327573" y="2623811"/>
            <a:ext cx="622300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34" name="Gewinkelte Verbindung 433"/>
          <p:cNvCxnSpPr>
            <a:stCxn id="424" idx="0"/>
            <a:endCxn id="433" idx="2"/>
          </p:cNvCxnSpPr>
          <p:nvPr/>
        </p:nvCxnSpPr>
        <p:spPr>
          <a:xfrm rot="5400000" flipH="1" flipV="1">
            <a:off x="5970387" y="2676199"/>
            <a:ext cx="288925" cy="104775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435" name="Gewinkelte Verbindung 434"/>
          <p:cNvCxnSpPr>
            <a:stCxn id="427" idx="0"/>
            <a:endCxn id="433" idx="2"/>
          </p:cNvCxnSpPr>
          <p:nvPr/>
        </p:nvCxnSpPr>
        <p:spPr>
          <a:xfrm rot="16200000" flipV="1">
            <a:off x="6962575" y="2731763"/>
            <a:ext cx="288925" cy="936625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36" name="Trapezoid 435"/>
          <p:cNvSpPr/>
          <p:nvPr/>
        </p:nvSpPr>
        <p:spPr>
          <a:xfrm>
            <a:off x="4270173" y="1904673"/>
            <a:ext cx="623888" cy="431800"/>
          </a:xfrm>
          <a:prstGeom prst="trapezoid">
            <a:avLst/>
          </a:prstGeom>
          <a:noFill/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kern="0" dirty="0">
                <a:solidFill>
                  <a:srgbClr val="000000"/>
                </a:solidFill>
                <a:latin typeface="Verdana"/>
              </a:rPr>
              <a:t>H</a:t>
            </a:r>
          </a:p>
        </p:txBody>
      </p:sp>
      <p:cxnSp>
        <p:nvCxnSpPr>
          <p:cNvPr id="437" name="Gewinkelte Verbindung 436"/>
          <p:cNvCxnSpPr>
            <a:stCxn id="430" idx="0"/>
            <a:endCxn id="436" idx="2"/>
          </p:cNvCxnSpPr>
          <p:nvPr/>
        </p:nvCxnSpPr>
        <p:spPr>
          <a:xfrm rot="5400000" flipH="1" flipV="1">
            <a:off x="3413717" y="1456206"/>
            <a:ext cx="287338" cy="2047875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438" name="Gewinkelte Verbindung 437"/>
          <p:cNvCxnSpPr>
            <a:stCxn id="433" idx="0"/>
            <a:endCxn id="436" idx="2"/>
          </p:cNvCxnSpPr>
          <p:nvPr/>
        </p:nvCxnSpPr>
        <p:spPr>
          <a:xfrm rot="16200000" flipV="1">
            <a:off x="5466354" y="1451442"/>
            <a:ext cx="287338" cy="205740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439" name="Gewinkelte Verbindung 438"/>
          <p:cNvCxnSpPr>
            <a:stCxn id="436" idx="0"/>
          </p:cNvCxnSpPr>
          <p:nvPr/>
        </p:nvCxnSpPr>
        <p:spPr>
          <a:xfrm rot="16200000" flipV="1">
            <a:off x="4472581" y="1795930"/>
            <a:ext cx="217487" cy="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40" name="Textfeld 439"/>
          <p:cNvSpPr txBox="1">
            <a:spLocks noChangeArrowheads="1"/>
          </p:cNvSpPr>
          <p:nvPr/>
        </p:nvSpPr>
        <p:spPr bwMode="auto">
          <a:xfrm>
            <a:off x="4309863" y="1328411"/>
            <a:ext cx="5175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kern="0">
                <a:solidFill>
                  <a:sysClr val="windowText" lastClr="000000"/>
                </a:solidFill>
              </a:rPr>
              <a:t>PK</a:t>
            </a:r>
          </a:p>
        </p:txBody>
      </p:sp>
      <p:sp>
        <p:nvSpPr>
          <p:cNvPr id="441" name="Ellipse 440"/>
          <p:cNvSpPr/>
          <p:nvPr/>
        </p:nvSpPr>
        <p:spPr>
          <a:xfrm>
            <a:off x="915588" y="3842079"/>
            <a:ext cx="371078" cy="371078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de-DE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42" name="Ellipse 441"/>
          <p:cNvSpPr/>
          <p:nvPr/>
        </p:nvSpPr>
        <p:spPr>
          <a:xfrm>
            <a:off x="3291536" y="3135816"/>
            <a:ext cx="352425" cy="351631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de-DE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43" name="Ellipse 442"/>
          <p:cNvSpPr/>
          <p:nvPr/>
        </p:nvSpPr>
        <p:spPr>
          <a:xfrm>
            <a:off x="6460022" y="2415734"/>
            <a:ext cx="352425" cy="35163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de-DE" kern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44" name="Text Box 41"/>
          <p:cNvSpPr txBox="1">
            <a:spLocks noChangeArrowheads="1"/>
          </p:cNvSpPr>
          <p:nvPr/>
        </p:nvSpPr>
        <p:spPr bwMode="auto">
          <a:xfrm>
            <a:off x="4952601" y="1615899"/>
            <a:ext cx="50768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500" kern="0" dirty="0">
                <a:solidFill>
                  <a:sysClr val="windowText" lastClr="000000"/>
                </a:solidFill>
              </a:rPr>
              <a:t>SIG </a:t>
            </a:r>
            <a:r>
              <a:rPr lang="en-US" sz="2500" kern="0" dirty="0">
                <a:solidFill>
                  <a:sysClr val="windowText" lastClr="000000"/>
                </a:solidFill>
                <a:latin typeface="Times New Roman" pitchFamily="18" charset="0"/>
              </a:rPr>
              <a:t>= (</a:t>
            </a:r>
            <a:r>
              <a:rPr lang="en-US" sz="2500" i="1" kern="0" dirty="0" err="1">
                <a:solidFill>
                  <a:sysClr val="windowText" lastClr="000000"/>
                </a:solidFill>
                <a:latin typeface="Times New Roman" pitchFamily="18" charset="0"/>
              </a:rPr>
              <a:t>i</a:t>
            </a:r>
            <a:r>
              <a:rPr lang="en-US" sz="2500" i="1" kern="0" dirty="0">
                <a:solidFill>
                  <a:sysClr val="windowText" lastClr="000000"/>
                </a:solidFill>
                <a:latin typeface="Times New Roman" pitchFamily="18" charset="0"/>
              </a:rPr>
              <a:t>=2</a:t>
            </a:r>
            <a:r>
              <a:rPr lang="en-US" sz="2500" kern="0" dirty="0">
                <a:solidFill>
                  <a:sysClr val="windowText" lastClr="000000"/>
                </a:solidFill>
                <a:latin typeface="Times New Roman" pitchFamily="18" charset="0"/>
              </a:rPr>
              <a:t>,    </a:t>
            </a:r>
            <a:r>
              <a:rPr lang="en-US" sz="2500" kern="0" dirty="0" smtClean="0">
                <a:solidFill>
                  <a:sysClr val="windowText" lastClr="000000"/>
                </a:solidFill>
                <a:latin typeface="Times New Roman" pitchFamily="18" charset="0"/>
              </a:rPr>
              <a:t>,     </a:t>
            </a:r>
            <a:r>
              <a:rPr lang="en-US" sz="2500" kern="0" dirty="0">
                <a:solidFill>
                  <a:sysClr val="windowText" lastClr="000000"/>
                </a:solidFill>
                <a:latin typeface="Times New Roman" pitchFamily="18" charset="0"/>
              </a:rPr>
              <a:t>,     ,     ,      )</a:t>
            </a:r>
          </a:p>
        </p:txBody>
      </p:sp>
      <p:pic>
        <p:nvPicPr>
          <p:cNvPr id="445" name="Picture 42" descr="docsi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44777" y="1630710"/>
            <a:ext cx="3937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6" name="Oval 44"/>
          <p:cNvSpPr>
            <a:spLocks noChangeArrowheads="1"/>
          </p:cNvSpPr>
          <p:nvPr/>
        </p:nvSpPr>
        <p:spPr bwMode="auto">
          <a:xfrm>
            <a:off x="7326188" y="1640692"/>
            <a:ext cx="360362" cy="36036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DE" kern="0">
              <a:solidFill>
                <a:sysClr val="windowText" lastClr="000000"/>
              </a:solidFill>
            </a:endParaRPr>
          </a:p>
        </p:txBody>
      </p:sp>
      <p:sp>
        <p:nvSpPr>
          <p:cNvPr id="447" name="Oval 45"/>
          <p:cNvSpPr>
            <a:spLocks noChangeArrowheads="1"/>
          </p:cNvSpPr>
          <p:nvPr/>
        </p:nvSpPr>
        <p:spPr bwMode="auto">
          <a:xfrm>
            <a:off x="7797705" y="1640692"/>
            <a:ext cx="360362" cy="36036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DE" kern="0">
              <a:solidFill>
                <a:sysClr val="windowText" lastClr="000000"/>
              </a:solidFill>
            </a:endParaRPr>
          </a:p>
        </p:txBody>
      </p:sp>
      <p:sp>
        <p:nvSpPr>
          <p:cNvPr id="448" name="Oval 46"/>
          <p:cNvSpPr>
            <a:spLocks noChangeArrowheads="1"/>
          </p:cNvSpPr>
          <p:nvPr/>
        </p:nvSpPr>
        <p:spPr bwMode="auto">
          <a:xfrm>
            <a:off x="8301439" y="1640692"/>
            <a:ext cx="360362" cy="36036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DE" kern="0">
              <a:solidFill>
                <a:sysClr val="windowText" lastClr="000000"/>
              </a:solidFill>
            </a:endParaRPr>
          </a:p>
        </p:txBody>
      </p:sp>
      <p:pic>
        <p:nvPicPr>
          <p:cNvPr id="449" name="Picture 220" descr="rup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95761" y="1748642"/>
            <a:ext cx="274638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50" name="Gruppieren 80"/>
          <p:cNvGrpSpPr>
            <a:grpSpLocks/>
          </p:cNvGrpSpPr>
          <p:nvPr/>
        </p:nvGrpSpPr>
        <p:grpSpPr bwMode="auto">
          <a:xfrm>
            <a:off x="688021" y="4792960"/>
            <a:ext cx="809625" cy="1133475"/>
            <a:chOff x="3275856" y="2492896"/>
            <a:chExt cx="1080120" cy="1512168"/>
          </a:xfrm>
        </p:grpSpPr>
        <p:sp>
          <p:nvSpPr>
            <p:cNvPr id="451" name="Rechteck 450"/>
            <p:cNvSpPr/>
            <p:nvPr/>
          </p:nvSpPr>
          <p:spPr>
            <a:xfrm>
              <a:off x="3275856" y="2492896"/>
              <a:ext cx="1080120" cy="1512168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de-DE" kern="0" dirty="0">
                  <a:solidFill>
                    <a:srgbClr val="000000"/>
                  </a:solidFill>
                  <a:latin typeface="Verdana"/>
                </a:rPr>
                <a:t>OTS</a:t>
              </a:r>
            </a:p>
          </p:txBody>
        </p:sp>
        <p:pic>
          <p:nvPicPr>
            <p:cNvPr id="452" name="Picture 220" descr="rup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657756" y="2660237"/>
              <a:ext cx="366646" cy="336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3" name="Picture 234" descr="stam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22500" y="3465969"/>
              <a:ext cx="225973" cy="395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54" name="Ellipse 453"/>
          <p:cNvSpPr/>
          <p:nvPr/>
        </p:nvSpPr>
        <p:spPr>
          <a:xfrm>
            <a:off x="236336" y="5432098"/>
            <a:ext cx="8666162" cy="515938"/>
          </a:xfrm>
          <a:prstGeom prst="ellipse">
            <a:avLst/>
          </a:prstGeom>
          <a:solidFill>
            <a:srgbClr val="00B0F0">
              <a:alpha val="27000"/>
            </a:srgbClr>
          </a:solidFill>
          <a:ln w="25400" cap="flat" cmpd="sng" algn="ctr">
            <a:solidFill>
              <a:srgbClr val="00B0F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de-DE" sz="2500" b="1" kern="0" dirty="0">
                <a:solidFill>
                  <a:srgbClr val="000000"/>
                </a:solidFill>
                <a:latin typeface="Verdana"/>
              </a:rPr>
              <a:t>SK</a:t>
            </a:r>
          </a:p>
        </p:txBody>
      </p:sp>
      <p:sp>
        <p:nvSpPr>
          <p:cNvPr id="455" name="Ellipse 454"/>
          <p:cNvSpPr/>
          <p:nvPr/>
        </p:nvSpPr>
        <p:spPr>
          <a:xfrm>
            <a:off x="1431725" y="4684386"/>
            <a:ext cx="1101725" cy="139541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ysDot"/>
          </a:ln>
          <a:effectLst/>
        </p:spPr>
        <p:txBody>
          <a:bodyPr anchor="ctr"/>
          <a:lstStyle/>
          <a:p>
            <a:pPr algn="ctr">
              <a:defRPr/>
            </a:pPr>
            <a:endParaRPr lang="de-DE" kern="0">
              <a:solidFill>
                <a:srgbClr val="FFFFFF"/>
              </a:solidFill>
              <a:latin typeface="Verdana"/>
            </a:endParaRPr>
          </a:p>
        </p:txBody>
      </p:sp>
      <p:cxnSp>
        <p:nvCxnSpPr>
          <p:cNvPr id="456" name="Gerade Verbindung mit Pfeil 455"/>
          <p:cNvCxnSpPr>
            <a:endCxn id="405" idx="2"/>
          </p:cNvCxnSpPr>
          <p:nvPr/>
        </p:nvCxnSpPr>
        <p:spPr>
          <a:xfrm flipH="1" flipV="1">
            <a:off x="1091998" y="4495475"/>
            <a:ext cx="0" cy="441325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7045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58382E-6 L -0.3033 0.3410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00" y="170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1000" fill="hold"/>
                                        <p:tgtEl>
                                          <p:spTgt spid="371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500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6001A"/>
                                      </p:to>
                                    </p:animClr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20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6001A"/>
                                      </p:to>
                                    </p:animClr>
                                    <p:set>
                                      <p:cBhvr>
                                        <p:cTn id="143" dur="20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200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6001A"/>
                                      </p:to>
                                    </p:animClr>
                                    <p:set>
                                      <p:cBhvr>
                                        <p:cTn id="146" dur="200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20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6001A"/>
                                      </p:to>
                                    </p:animClr>
                                    <p:set>
                                      <p:cBhvr>
                                        <p:cTn id="149" dur="20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00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" grpId="0" build="p"/>
      <p:bldP spid="369" grpId="0" animBg="1"/>
      <p:bldP spid="403" grpId="0" animBg="1"/>
      <p:bldP spid="405" grpId="0" animBg="1"/>
      <p:bldP spid="406" grpId="0" animBg="1"/>
      <p:bldP spid="408" grpId="0" animBg="1"/>
      <p:bldP spid="410" grpId="0" animBg="1"/>
      <p:bldP spid="412" grpId="0" animBg="1"/>
      <p:bldP spid="414" grpId="0" animBg="1"/>
      <p:bldP spid="416" grpId="0" animBg="1"/>
      <p:bldP spid="418" grpId="0" animBg="1"/>
      <p:bldP spid="421" grpId="0" animBg="1"/>
      <p:bldP spid="424" grpId="0" animBg="1"/>
      <p:bldP spid="427" grpId="0" animBg="1"/>
      <p:bldP spid="430" grpId="0" animBg="1"/>
      <p:bldP spid="433" grpId="0" animBg="1"/>
      <p:bldP spid="436" grpId="0" animBg="1"/>
      <p:bldP spid="440" grpId="0"/>
      <p:bldP spid="441" grpId="0" animBg="1"/>
      <p:bldP spid="442" grpId="0" animBg="1"/>
      <p:bldP spid="443" grpId="0" animBg="1"/>
      <p:bldP spid="444" grpId="0"/>
      <p:bldP spid="446" grpId="0" animBg="1"/>
      <p:bldP spid="447" grpId="0" animBg="1"/>
      <p:bldP spid="448" grpId="0" animBg="1"/>
      <p:bldP spid="454" grpId="0" animBg="1"/>
      <p:bldP spid="45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 smtClean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smtClean="0"/>
              <a:t>Theorem:</a:t>
            </a:r>
          </a:p>
          <a:p>
            <a:pPr marL="0" indent="0">
              <a:buNone/>
            </a:pPr>
            <a:r>
              <a:rPr lang="de-DE" dirty="0" smtClean="0"/>
              <a:t>MSS is eu-cma-secure if OTS is a one-time eu-cma secure signature scheme and H is a random element from a family of collision resistant hash functions.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34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Reduction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 smtClean="0"/>
                  <a:t>Input: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𝑝𝑘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𝑂𝑇𝑆</m:t>
                        </m:r>
                      </m:sub>
                    </m:sSub>
                  </m:oMath>
                </a14:m>
                <a:endParaRPr lang="de-DE" b="0" dirty="0" smtClean="0"/>
              </a:p>
              <a:p>
                <a:pPr marL="0" indent="0">
                  <a:buNone/>
                </a:pPr>
                <a:endParaRPr lang="de-DE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smtClean="0"/>
                  <a:t>Choose random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endParaRPr lang="de-DE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smtClean="0"/>
                  <a:t>Generate key pair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𝑝𝑘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𝑂𝑇𝑆</m:t>
                        </m:r>
                      </m:sub>
                    </m:sSub>
                  </m:oMath>
                </a14:m>
                <a:r>
                  <a:rPr lang="de-DE" dirty="0" smtClean="0"/>
                  <a:t> as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dirty="0" smtClean="0"/>
                  <a:t>th OTS public key and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de-DE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smtClean="0"/>
                  <a:t>Answer all signature queries using sk or sign oracle (for index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dirty="0" smtClean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smtClean="0"/>
                  <a:t>Extract OTS-forgery or collision from forgery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62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64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Reduction (Step 4, Extraction)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 smtClean="0"/>
                  <a:t>Forgery: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p>
                          <m:sSup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𝑂𝑇𝑆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𝑝𝑘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𝑂𝑇𝑆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de-DE" dirty="0" smtClean="0"/>
                  <a:t>AUTH)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smtClean="0"/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𝑝𝑘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𝑂𝑇𝑆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de-DE" dirty="0" smtClean="0"/>
                  <a:t> equals OTS pk we used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de-DE" dirty="0" smtClean="0"/>
                  <a:t> OTS, we got an OTS forgery. </a:t>
                </a:r>
              </a:p>
              <a:p>
                <a:pPr lvl="1"/>
                <a:r>
                  <a:rPr lang="de-DE" dirty="0" smtClean="0"/>
                  <a:t>Can only be used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de-DE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smtClean="0"/>
                  <a:t>Else adversary used different OTS pk.</a:t>
                </a:r>
              </a:p>
              <a:p>
                <a:pPr lvl="1"/>
                <a:r>
                  <a:rPr lang="de-DE" dirty="0" smtClean="0"/>
                  <a:t>Hence, different leaves. </a:t>
                </a:r>
              </a:p>
              <a:p>
                <a:pPr lvl="1"/>
                <a:r>
                  <a:rPr lang="de-DE" dirty="0" smtClean="0"/>
                  <a:t>Still same root!</a:t>
                </a:r>
              </a:p>
              <a:p>
                <a:pPr lvl="1"/>
                <a:r>
                  <a:rPr lang="de-DE" dirty="0" smtClean="0"/>
                  <a:t>Pigeon-hole principle: Collision on path to root.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623" t="-2241" r="-2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599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81908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de-DE" sz="6600" dirty="0" smtClean="0"/>
              <a:t>Winternitz-OTS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7587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</a:t>
            </a:r>
            <a:r>
              <a:rPr lang="en-US" dirty="0" smtClean="0"/>
              <a:t>LD-OTS </a:t>
            </a:r>
            <a:r>
              <a:rPr lang="en-US" sz="2400" dirty="0"/>
              <a:t>[Lam79]</a:t>
            </a:r>
            <a:endParaRPr lang="en-US" dirty="0"/>
          </a:p>
        </p:txBody>
      </p:sp>
      <p:sp>
        <p:nvSpPr>
          <p:cNvPr id="3" name="Inhaltsplatzhalter 2"/>
          <p:cNvSpPr txBox="1">
            <a:spLocks/>
          </p:cNvSpPr>
          <p:nvPr/>
        </p:nvSpPr>
        <p:spPr>
          <a:xfrm>
            <a:off x="539552" y="1747395"/>
            <a:ext cx="7993062" cy="4541838"/>
          </a:xfrm>
          <a:prstGeom prst="rect">
            <a:avLst/>
          </a:prstGeom>
        </p:spPr>
        <p:txBody>
          <a:bodyPr/>
          <a:lstStyle>
            <a:lvl1pPr marL="179388" indent="-17938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2pPr>
            <a:lvl3pPr marL="538163" indent="-18732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3pPr>
            <a:lvl4pPr marL="717550" indent="-17303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4pPr>
            <a:lvl5pPr marL="908050" indent="-1889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5pPr>
            <a:lvl6pPr marL="13652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b="1" kern="0" dirty="0"/>
              <a:t>Message</a:t>
            </a:r>
            <a:r>
              <a:rPr lang="en-US" kern="0" dirty="0"/>
              <a:t> M = b1,…,</a:t>
            </a:r>
            <a:r>
              <a:rPr lang="en-US" kern="0" dirty="0" err="1"/>
              <a:t>bm</a:t>
            </a:r>
            <a:r>
              <a:rPr lang="en-US" kern="0" dirty="0"/>
              <a:t>, OWF H                                 = n bit</a:t>
            </a:r>
          </a:p>
          <a:p>
            <a:pPr>
              <a:buFont typeface="Wingdings" pitchFamily="2" charset="2"/>
              <a:buNone/>
            </a:pPr>
            <a:endParaRPr lang="en-US" kern="0" dirty="0"/>
          </a:p>
          <a:p>
            <a:pPr>
              <a:buFont typeface="Wingdings" pitchFamily="2" charset="2"/>
              <a:buNone/>
            </a:pPr>
            <a:endParaRPr lang="en-US" kern="0" dirty="0"/>
          </a:p>
          <a:p>
            <a:pPr>
              <a:buFont typeface="Wingdings" pitchFamily="2" charset="2"/>
              <a:buNone/>
            </a:pPr>
            <a:r>
              <a:rPr lang="en-US" b="1" kern="0" dirty="0"/>
              <a:t>SK</a:t>
            </a:r>
          </a:p>
          <a:p>
            <a:pPr>
              <a:buFont typeface="Wingdings" pitchFamily="2" charset="2"/>
              <a:buNone/>
            </a:pPr>
            <a:endParaRPr lang="en-US" sz="3600" kern="0" dirty="0"/>
          </a:p>
          <a:p>
            <a:pPr>
              <a:buFont typeface="Wingdings" pitchFamily="2" charset="2"/>
              <a:buNone/>
            </a:pPr>
            <a:r>
              <a:rPr lang="en-US" b="1" kern="0" dirty="0"/>
              <a:t>PK</a:t>
            </a:r>
          </a:p>
          <a:p>
            <a:pPr>
              <a:buFont typeface="Wingdings" pitchFamily="2" charset="2"/>
              <a:buNone/>
            </a:pPr>
            <a:endParaRPr lang="de-DE" kern="0" dirty="0" smtClean="0"/>
          </a:p>
          <a:p>
            <a:pPr>
              <a:buFont typeface="Wingdings" pitchFamily="2" charset="2"/>
              <a:buNone/>
            </a:pPr>
            <a:endParaRPr lang="en-US" kern="0" dirty="0"/>
          </a:p>
          <a:p>
            <a:pPr>
              <a:buFont typeface="Wingdings" pitchFamily="2" charset="2"/>
              <a:buNone/>
            </a:pPr>
            <a:endParaRPr lang="en-US" kern="0" dirty="0"/>
          </a:p>
          <a:p>
            <a:pPr>
              <a:buFont typeface="Wingdings" pitchFamily="2" charset="2"/>
              <a:buNone/>
            </a:pPr>
            <a:r>
              <a:rPr lang="en-US" b="1" kern="0" dirty="0"/>
              <a:t>Sig</a:t>
            </a:r>
          </a:p>
        </p:txBody>
      </p:sp>
      <p:pic>
        <p:nvPicPr>
          <p:cNvPr id="4" name="Picture 18" descr="C:\Users\huelsing\AppData\Local\Microsoft\Windows\Temporary Internet Files\Content.IE5\OYDSBIUA\MC900333394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0614" y="2174140"/>
            <a:ext cx="389327" cy="552424"/>
          </a:xfrm>
          <a:prstGeom prst="rect">
            <a:avLst/>
          </a:prstGeom>
          <a:noFill/>
        </p:spPr>
      </p:pic>
      <p:sp>
        <p:nvSpPr>
          <p:cNvPr id="5" name="Rechteck 6"/>
          <p:cNvSpPr/>
          <p:nvPr/>
        </p:nvSpPr>
        <p:spPr>
          <a:xfrm>
            <a:off x="1250212" y="2966228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6" name="Rechteck 7"/>
          <p:cNvSpPr/>
          <p:nvPr/>
        </p:nvSpPr>
        <p:spPr>
          <a:xfrm>
            <a:off x="2186316" y="2966228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7" name="Rechteck 8"/>
          <p:cNvSpPr/>
          <p:nvPr/>
        </p:nvSpPr>
        <p:spPr>
          <a:xfrm>
            <a:off x="3122420" y="2966228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8" name="Rechteck 11"/>
          <p:cNvSpPr/>
          <p:nvPr/>
        </p:nvSpPr>
        <p:spPr>
          <a:xfrm>
            <a:off x="5930732" y="2966228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9" name="Rechteck 12"/>
          <p:cNvSpPr/>
          <p:nvPr/>
        </p:nvSpPr>
        <p:spPr>
          <a:xfrm>
            <a:off x="6866836" y="2966228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m,0</a:t>
            </a:r>
            <a:endParaRPr lang="en-US" dirty="0"/>
          </a:p>
        </p:txBody>
      </p:sp>
      <p:sp>
        <p:nvSpPr>
          <p:cNvPr id="10" name="Rechteck 13"/>
          <p:cNvSpPr/>
          <p:nvPr/>
        </p:nvSpPr>
        <p:spPr>
          <a:xfrm>
            <a:off x="7802940" y="2966228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m,1</a:t>
            </a:r>
          </a:p>
        </p:txBody>
      </p:sp>
      <p:sp>
        <p:nvSpPr>
          <p:cNvPr id="11" name="Rechteck 14"/>
          <p:cNvSpPr/>
          <p:nvPr/>
        </p:nvSpPr>
        <p:spPr>
          <a:xfrm>
            <a:off x="1250212" y="4046348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12" name="Rechteck 15"/>
          <p:cNvSpPr/>
          <p:nvPr/>
        </p:nvSpPr>
        <p:spPr>
          <a:xfrm>
            <a:off x="2186316" y="4046348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13" name="Rechteck 16"/>
          <p:cNvSpPr/>
          <p:nvPr/>
        </p:nvSpPr>
        <p:spPr>
          <a:xfrm>
            <a:off x="3122420" y="4046348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4" name="Rechteck 19"/>
          <p:cNvSpPr/>
          <p:nvPr/>
        </p:nvSpPr>
        <p:spPr>
          <a:xfrm>
            <a:off x="5930732" y="4046348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5" name="Rechteck 20"/>
          <p:cNvSpPr/>
          <p:nvPr/>
        </p:nvSpPr>
        <p:spPr>
          <a:xfrm>
            <a:off x="6866836" y="4046348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m,0</a:t>
            </a:r>
            <a:endParaRPr lang="en-US" dirty="0"/>
          </a:p>
        </p:txBody>
      </p:sp>
      <p:sp>
        <p:nvSpPr>
          <p:cNvPr id="16" name="Rechteck 21"/>
          <p:cNvSpPr/>
          <p:nvPr/>
        </p:nvSpPr>
        <p:spPr>
          <a:xfrm>
            <a:off x="7802940" y="4046348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m,1</a:t>
            </a:r>
          </a:p>
        </p:txBody>
      </p:sp>
      <p:cxnSp>
        <p:nvCxnSpPr>
          <p:cNvPr id="17" name="Gerade Verbindung mit Pfeil 23"/>
          <p:cNvCxnSpPr>
            <a:stCxn id="5" idx="2"/>
            <a:endCxn id="11" idx="0"/>
          </p:cNvCxnSpPr>
          <p:nvPr/>
        </p:nvCxnSpPr>
        <p:spPr>
          <a:xfrm>
            <a:off x="1718264" y="3182252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24"/>
          <p:cNvCxnSpPr>
            <a:stCxn id="6" idx="2"/>
            <a:endCxn id="12" idx="0"/>
          </p:cNvCxnSpPr>
          <p:nvPr/>
        </p:nvCxnSpPr>
        <p:spPr>
          <a:xfrm>
            <a:off x="2654368" y="3182252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27"/>
          <p:cNvCxnSpPr>
            <a:stCxn id="7" idx="2"/>
            <a:endCxn id="13" idx="0"/>
          </p:cNvCxnSpPr>
          <p:nvPr/>
        </p:nvCxnSpPr>
        <p:spPr>
          <a:xfrm>
            <a:off x="3590472" y="3182252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e 32"/>
          <p:cNvSpPr/>
          <p:nvPr/>
        </p:nvSpPr>
        <p:spPr>
          <a:xfrm>
            <a:off x="4418564" y="303823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1" name="Ellipse 33"/>
          <p:cNvSpPr/>
          <p:nvPr/>
        </p:nvSpPr>
        <p:spPr>
          <a:xfrm>
            <a:off x="4922620" y="303823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2" name="Ellipse 34"/>
          <p:cNvSpPr/>
          <p:nvPr/>
        </p:nvSpPr>
        <p:spPr>
          <a:xfrm>
            <a:off x="5426676" y="303823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3" name="Ellipse 35"/>
          <p:cNvSpPr/>
          <p:nvPr/>
        </p:nvSpPr>
        <p:spPr>
          <a:xfrm>
            <a:off x="4443731" y="411835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4" name="Ellipse 36"/>
          <p:cNvSpPr/>
          <p:nvPr/>
        </p:nvSpPr>
        <p:spPr>
          <a:xfrm>
            <a:off x="4947787" y="411835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5" name="Ellipse 37"/>
          <p:cNvSpPr/>
          <p:nvPr/>
        </p:nvSpPr>
        <p:spPr>
          <a:xfrm>
            <a:off x="5451843" y="411835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cxnSp>
        <p:nvCxnSpPr>
          <p:cNvPr id="26" name="Gerade Verbindung mit Pfeil 38"/>
          <p:cNvCxnSpPr>
            <a:stCxn id="8" idx="2"/>
            <a:endCxn id="14" idx="0"/>
          </p:cNvCxnSpPr>
          <p:nvPr/>
        </p:nvCxnSpPr>
        <p:spPr>
          <a:xfrm>
            <a:off x="6398784" y="3182252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41"/>
          <p:cNvCxnSpPr>
            <a:stCxn id="9" idx="2"/>
            <a:endCxn id="15" idx="0"/>
          </p:cNvCxnSpPr>
          <p:nvPr/>
        </p:nvCxnSpPr>
        <p:spPr>
          <a:xfrm>
            <a:off x="7334888" y="3182252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46"/>
          <p:cNvCxnSpPr>
            <a:stCxn id="10" idx="2"/>
            <a:endCxn id="16" idx="0"/>
          </p:cNvCxnSpPr>
          <p:nvPr/>
        </p:nvCxnSpPr>
        <p:spPr>
          <a:xfrm>
            <a:off x="8270992" y="3182252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49"/>
          <p:cNvSpPr txBox="1"/>
          <p:nvPr/>
        </p:nvSpPr>
        <p:spPr>
          <a:xfrm>
            <a:off x="1754268" y="3398278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0" name="Textfeld 50"/>
          <p:cNvSpPr txBox="1"/>
          <p:nvPr/>
        </p:nvSpPr>
        <p:spPr>
          <a:xfrm>
            <a:off x="2690372" y="3398278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1" name="Textfeld 51"/>
          <p:cNvSpPr txBox="1"/>
          <p:nvPr/>
        </p:nvSpPr>
        <p:spPr>
          <a:xfrm>
            <a:off x="3626476" y="3398278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2" name="Textfeld 52"/>
          <p:cNvSpPr txBox="1"/>
          <p:nvPr/>
        </p:nvSpPr>
        <p:spPr>
          <a:xfrm>
            <a:off x="6434788" y="3398278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3" name="Textfeld 53"/>
          <p:cNvSpPr txBox="1"/>
          <p:nvPr/>
        </p:nvSpPr>
        <p:spPr>
          <a:xfrm>
            <a:off x="7370892" y="3398278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4" name="Textfeld 54"/>
          <p:cNvSpPr txBox="1"/>
          <p:nvPr/>
        </p:nvSpPr>
        <p:spPr>
          <a:xfrm>
            <a:off x="8306996" y="3398278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cxnSp>
        <p:nvCxnSpPr>
          <p:cNvPr id="35" name="Gerade Verbindung mit Pfeil 55"/>
          <p:cNvCxnSpPr>
            <a:stCxn id="4" idx="1"/>
            <a:endCxn id="5" idx="0"/>
          </p:cNvCxnSpPr>
          <p:nvPr/>
        </p:nvCxnSpPr>
        <p:spPr>
          <a:xfrm flipH="1">
            <a:off x="1718264" y="2450352"/>
            <a:ext cx="3132348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58"/>
          <p:cNvCxnSpPr>
            <a:stCxn id="4" idx="1"/>
            <a:endCxn id="6" idx="0"/>
          </p:cNvCxnSpPr>
          <p:nvPr/>
        </p:nvCxnSpPr>
        <p:spPr>
          <a:xfrm flipH="1">
            <a:off x="2654368" y="2450352"/>
            <a:ext cx="2196244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61"/>
          <p:cNvCxnSpPr>
            <a:stCxn id="4" idx="1"/>
            <a:endCxn id="7" idx="0"/>
          </p:cNvCxnSpPr>
          <p:nvPr/>
        </p:nvCxnSpPr>
        <p:spPr>
          <a:xfrm flipH="1">
            <a:off x="3590472" y="2450352"/>
            <a:ext cx="1260140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64"/>
          <p:cNvCxnSpPr>
            <a:stCxn id="4" idx="3"/>
            <a:endCxn id="8" idx="0"/>
          </p:cNvCxnSpPr>
          <p:nvPr/>
        </p:nvCxnSpPr>
        <p:spPr>
          <a:xfrm>
            <a:off x="5239941" y="2450352"/>
            <a:ext cx="1158845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67"/>
          <p:cNvCxnSpPr>
            <a:stCxn id="4" idx="3"/>
            <a:endCxn id="9" idx="0"/>
          </p:cNvCxnSpPr>
          <p:nvPr/>
        </p:nvCxnSpPr>
        <p:spPr>
          <a:xfrm>
            <a:off x="5239941" y="2450352"/>
            <a:ext cx="2094949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70"/>
          <p:cNvCxnSpPr>
            <a:stCxn id="4" idx="3"/>
            <a:endCxn id="10" idx="0"/>
          </p:cNvCxnSpPr>
          <p:nvPr/>
        </p:nvCxnSpPr>
        <p:spPr>
          <a:xfrm>
            <a:off x="5239941" y="2450352"/>
            <a:ext cx="3031053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hteck 73"/>
          <p:cNvSpPr/>
          <p:nvPr/>
        </p:nvSpPr>
        <p:spPr>
          <a:xfrm>
            <a:off x="1797616" y="5367659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1,b1</a:t>
            </a:r>
          </a:p>
        </p:txBody>
      </p:sp>
      <p:sp>
        <p:nvSpPr>
          <p:cNvPr id="42" name="Rechteck 74"/>
          <p:cNvSpPr/>
          <p:nvPr/>
        </p:nvSpPr>
        <p:spPr>
          <a:xfrm>
            <a:off x="3683109" y="5367659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43" name="Rechteck 75"/>
          <p:cNvSpPr/>
          <p:nvPr/>
        </p:nvSpPr>
        <p:spPr>
          <a:xfrm>
            <a:off x="7452692" y="5367659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 err="1">
                <a:solidFill>
                  <a:srgbClr val="101073"/>
                </a:solidFill>
              </a:rPr>
              <a:t>sk</a:t>
            </a:r>
            <a:r>
              <a:rPr lang="en-US" sz="1400" b="1" baseline="-25000" dirty="0" err="1">
                <a:solidFill>
                  <a:srgbClr val="101073"/>
                </a:solidFill>
              </a:rPr>
              <a:t>m,bm</a:t>
            </a:r>
            <a:endParaRPr lang="en-US" sz="1400" b="1" baseline="-25000" dirty="0">
              <a:solidFill>
                <a:srgbClr val="101073"/>
              </a:solidFill>
            </a:endParaRPr>
          </a:p>
        </p:txBody>
      </p:sp>
      <p:sp>
        <p:nvSpPr>
          <p:cNvPr id="44" name="Ellipse 76"/>
          <p:cNvSpPr/>
          <p:nvPr/>
        </p:nvSpPr>
        <p:spPr>
          <a:xfrm>
            <a:off x="5364460" y="5439667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45" name="Ellipse 77"/>
          <p:cNvSpPr/>
          <p:nvPr/>
        </p:nvSpPr>
        <p:spPr>
          <a:xfrm>
            <a:off x="5868516" y="5439667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46" name="Ellipse 78"/>
          <p:cNvSpPr/>
          <p:nvPr/>
        </p:nvSpPr>
        <p:spPr>
          <a:xfrm>
            <a:off x="6372572" y="5439667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47" name="Rechteck 79"/>
          <p:cNvSpPr/>
          <p:nvPr/>
        </p:nvSpPr>
        <p:spPr>
          <a:xfrm>
            <a:off x="4640357" y="1819188"/>
            <a:ext cx="936104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*</a:t>
            </a:r>
            <a:endParaRPr lang="en-US" sz="1400" b="1" baseline="-25000" dirty="0">
              <a:solidFill>
                <a:schemeClr val="tx1"/>
              </a:solidFill>
            </a:endParaRPr>
          </a:p>
        </p:txBody>
      </p:sp>
      <p:grpSp>
        <p:nvGrpSpPr>
          <p:cNvPr id="48" name="Gruppieren 99"/>
          <p:cNvGrpSpPr/>
          <p:nvPr/>
        </p:nvGrpSpPr>
        <p:grpSpPr>
          <a:xfrm>
            <a:off x="1043980" y="3187809"/>
            <a:ext cx="1656184" cy="2179850"/>
            <a:chOff x="1115616" y="2833326"/>
            <a:chExt cx="1656184" cy="2179850"/>
          </a:xfrm>
        </p:grpSpPr>
        <p:sp>
          <p:nvSpPr>
            <p:cNvPr id="49" name="Flussdiagramm: Manuelle Verarbeitung 80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rgbClr val="00090C"/>
                  </a:solidFill>
                </a:rPr>
                <a:t>Mux</a:t>
              </a:r>
            </a:p>
          </p:txBody>
        </p:sp>
        <p:cxnSp>
          <p:nvCxnSpPr>
            <p:cNvPr id="50" name="Gerade Verbindung mit Pfeil 81"/>
            <p:cNvCxnSpPr/>
            <p:nvPr/>
          </p:nvCxnSpPr>
          <p:spPr>
            <a:xfrm>
              <a:off x="1819137" y="2833326"/>
              <a:ext cx="275891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mit Pfeil 84"/>
            <p:cNvCxnSpPr/>
            <p:nvPr/>
          </p:nvCxnSpPr>
          <p:spPr>
            <a:xfrm flipH="1">
              <a:off x="2570816" y="2833326"/>
              <a:ext cx="140685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mit Pfeil 88"/>
            <p:cNvCxnSpPr>
              <a:stCxn id="53" idx="3"/>
              <a:endCxn id="49" idx="1"/>
            </p:cNvCxnSpPr>
            <p:nvPr/>
          </p:nvCxnSpPr>
          <p:spPr>
            <a:xfrm>
              <a:off x="1547664" y="4544160"/>
              <a:ext cx="446450" cy="9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feld 92"/>
            <p:cNvSpPr txBox="1"/>
            <p:nvPr/>
          </p:nvSpPr>
          <p:spPr>
            <a:xfrm>
              <a:off x="1115616" y="439027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b1</a:t>
              </a:r>
            </a:p>
          </p:txBody>
        </p:sp>
        <p:cxnSp>
          <p:nvCxnSpPr>
            <p:cNvPr id="54" name="Gerade Verbindung mit Pfeil 96"/>
            <p:cNvCxnSpPr>
              <a:stCxn id="49" idx="2"/>
              <a:endCxn id="41" idx="0"/>
            </p:cNvCxnSpPr>
            <p:nvPr/>
          </p:nvCxnSpPr>
          <p:spPr>
            <a:xfrm flipH="1">
              <a:off x="2337304" y="4797152"/>
              <a:ext cx="2448" cy="21602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uppieren 100"/>
          <p:cNvGrpSpPr/>
          <p:nvPr/>
        </p:nvGrpSpPr>
        <p:grpSpPr>
          <a:xfrm>
            <a:off x="2916188" y="3182254"/>
            <a:ext cx="1656184" cy="2185407"/>
            <a:chOff x="1115616" y="2827769"/>
            <a:chExt cx="1656184" cy="2185407"/>
          </a:xfrm>
        </p:grpSpPr>
        <p:sp>
          <p:nvSpPr>
            <p:cNvPr id="56" name="Flussdiagramm: Manuelle Verarbeitung 101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100" b="1" dirty="0">
                  <a:solidFill>
                    <a:srgbClr val="333399">
                      <a:lumMod val="50000"/>
                    </a:srgbClr>
                  </a:solidFill>
                </a:rPr>
                <a:t>Mux</a:t>
              </a:r>
            </a:p>
          </p:txBody>
        </p:sp>
        <p:cxnSp>
          <p:nvCxnSpPr>
            <p:cNvPr id="57" name="Gerade Verbindung mit Pfeil 102"/>
            <p:cNvCxnSpPr/>
            <p:nvPr/>
          </p:nvCxnSpPr>
          <p:spPr>
            <a:xfrm>
              <a:off x="1789900" y="2827769"/>
              <a:ext cx="3338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mit Pfeil 103"/>
            <p:cNvCxnSpPr/>
            <p:nvPr/>
          </p:nvCxnSpPr>
          <p:spPr>
            <a:xfrm flipH="1">
              <a:off x="2555776" y="2827769"/>
              <a:ext cx="1702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mit Pfeil 104"/>
            <p:cNvCxnSpPr>
              <a:stCxn id="60" idx="3"/>
              <a:endCxn id="56" idx="1"/>
            </p:cNvCxnSpPr>
            <p:nvPr/>
          </p:nvCxnSpPr>
          <p:spPr>
            <a:xfrm>
              <a:off x="1547664" y="4544160"/>
              <a:ext cx="446450" cy="9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feld 105"/>
            <p:cNvSpPr txBox="1"/>
            <p:nvPr/>
          </p:nvSpPr>
          <p:spPr>
            <a:xfrm>
              <a:off x="1115616" y="439027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b2</a:t>
              </a:r>
            </a:p>
          </p:txBody>
        </p:sp>
        <p:cxnSp>
          <p:nvCxnSpPr>
            <p:cNvPr id="61" name="Gerade Verbindung mit Pfeil 106"/>
            <p:cNvCxnSpPr>
              <a:stCxn id="56" idx="2"/>
            </p:cNvCxnSpPr>
            <p:nvPr/>
          </p:nvCxnSpPr>
          <p:spPr>
            <a:xfrm flipH="1">
              <a:off x="2337304" y="4797152"/>
              <a:ext cx="2448" cy="21602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uppieren 107"/>
          <p:cNvGrpSpPr/>
          <p:nvPr/>
        </p:nvGrpSpPr>
        <p:grpSpPr>
          <a:xfrm>
            <a:off x="6660604" y="3182254"/>
            <a:ext cx="1656184" cy="2185407"/>
            <a:chOff x="1115616" y="2827769"/>
            <a:chExt cx="1656184" cy="2185407"/>
          </a:xfrm>
        </p:grpSpPr>
        <p:sp>
          <p:nvSpPr>
            <p:cNvPr id="63" name="Flussdiagramm: Manuelle Verarbeitung 108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100" b="1" dirty="0">
                  <a:solidFill>
                    <a:srgbClr val="333399">
                      <a:lumMod val="50000"/>
                    </a:srgbClr>
                  </a:solidFill>
                </a:rPr>
                <a:t>Mux</a:t>
              </a:r>
            </a:p>
          </p:txBody>
        </p:sp>
        <p:cxnSp>
          <p:nvCxnSpPr>
            <p:cNvPr id="64" name="Gerade Verbindung mit Pfeil 109"/>
            <p:cNvCxnSpPr/>
            <p:nvPr/>
          </p:nvCxnSpPr>
          <p:spPr>
            <a:xfrm>
              <a:off x="1789900" y="2827769"/>
              <a:ext cx="3338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 Verbindung mit Pfeil 110"/>
            <p:cNvCxnSpPr/>
            <p:nvPr/>
          </p:nvCxnSpPr>
          <p:spPr>
            <a:xfrm flipH="1">
              <a:off x="2555776" y="2827769"/>
              <a:ext cx="1702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 Verbindung mit Pfeil 111"/>
            <p:cNvCxnSpPr>
              <a:stCxn id="67" idx="3"/>
              <a:endCxn id="63" idx="1"/>
            </p:cNvCxnSpPr>
            <p:nvPr/>
          </p:nvCxnSpPr>
          <p:spPr>
            <a:xfrm>
              <a:off x="1547664" y="4544160"/>
              <a:ext cx="446450" cy="9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112"/>
            <p:cNvSpPr txBox="1"/>
            <p:nvPr/>
          </p:nvSpPr>
          <p:spPr>
            <a:xfrm>
              <a:off x="1115616" y="439027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bn</a:t>
              </a:r>
              <a:endParaRPr lang="en-US" sz="1400" b="1" dirty="0"/>
            </a:p>
          </p:txBody>
        </p:sp>
        <p:cxnSp>
          <p:nvCxnSpPr>
            <p:cNvPr id="68" name="Gerade Verbindung mit Pfeil 113"/>
            <p:cNvCxnSpPr>
              <a:stCxn id="63" idx="2"/>
            </p:cNvCxnSpPr>
            <p:nvPr/>
          </p:nvCxnSpPr>
          <p:spPr>
            <a:xfrm flipH="1">
              <a:off x="2337304" y="4797152"/>
              <a:ext cx="2448" cy="21602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290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9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1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2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5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7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8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1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4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6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7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9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0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3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5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6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9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1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2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4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5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7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8" dur="indefinite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0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1" dur="indefinite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3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4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6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7" dur="indefinite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9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0" dur="indefinite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2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3" dur="indefinite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5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6" dur="indefinite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8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9" dur="indefinite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20" grpId="0" animBg="1"/>
      <p:bldP spid="21" grpId="0" animBg="1"/>
      <p:bldP spid="22" grpId="0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LD-OTS in MSS</a:t>
            </a:r>
            <a:endParaRPr 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 smtClean="0"/>
              <a:t>Verification: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	</a:t>
            </a:r>
            <a:r>
              <a:rPr lang="de-DE" dirty="0" smtClean="0"/>
              <a:t>1. Verify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	</a:t>
            </a:r>
            <a:r>
              <a:rPr lang="de-DE" dirty="0" smtClean="0"/>
              <a:t>2. Verify authenticity of 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 smtClean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b="1" dirty="0" smtClean="0"/>
              <a:t>We can do better!</a:t>
            </a:r>
            <a:endParaRPr lang="de-DE" b="1" dirty="0"/>
          </a:p>
        </p:txBody>
      </p:sp>
      <p:sp>
        <p:nvSpPr>
          <p:cNvPr id="4" name="Text Box 41"/>
          <p:cNvSpPr txBox="1">
            <a:spLocks noChangeArrowheads="1"/>
          </p:cNvSpPr>
          <p:nvPr/>
        </p:nvSpPr>
        <p:spPr bwMode="auto">
          <a:xfrm>
            <a:off x="1892160" y="1615899"/>
            <a:ext cx="50768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500" kern="0" dirty="0">
                <a:solidFill>
                  <a:sysClr val="windowText" lastClr="000000"/>
                </a:solidFill>
              </a:rPr>
              <a:t>SIG </a:t>
            </a:r>
            <a:r>
              <a:rPr lang="en-US" sz="2500" kern="0" dirty="0">
                <a:solidFill>
                  <a:sysClr val="windowText" lastClr="000000"/>
                </a:solidFill>
                <a:latin typeface="Times New Roman" pitchFamily="18" charset="0"/>
              </a:rPr>
              <a:t>= (</a:t>
            </a:r>
            <a:r>
              <a:rPr lang="en-US" sz="2500" i="1" kern="0" dirty="0" err="1">
                <a:solidFill>
                  <a:sysClr val="windowText" lastClr="000000"/>
                </a:solidFill>
                <a:latin typeface="Times New Roman" pitchFamily="18" charset="0"/>
              </a:rPr>
              <a:t>i</a:t>
            </a:r>
            <a:r>
              <a:rPr lang="en-US" sz="2500" i="1" kern="0" dirty="0">
                <a:solidFill>
                  <a:sysClr val="windowText" lastClr="000000"/>
                </a:solidFill>
                <a:latin typeface="Times New Roman" pitchFamily="18" charset="0"/>
              </a:rPr>
              <a:t>=2</a:t>
            </a:r>
            <a:r>
              <a:rPr lang="en-US" sz="2500" kern="0" dirty="0">
                <a:solidFill>
                  <a:sysClr val="windowText" lastClr="000000"/>
                </a:solidFill>
                <a:latin typeface="Times New Roman" pitchFamily="18" charset="0"/>
              </a:rPr>
              <a:t>,    </a:t>
            </a:r>
            <a:r>
              <a:rPr lang="en-US" sz="2500" kern="0" dirty="0" smtClean="0">
                <a:solidFill>
                  <a:sysClr val="windowText" lastClr="000000"/>
                </a:solidFill>
                <a:latin typeface="Times New Roman" pitchFamily="18" charset="0"/>
              </a:rPr>
              <a:t>,     </a:t>
            </a:r>
            <a:r>
              <a:rPr lang="en-US" sz="2500" kern="0" dirty="0">
                <a:solidFill>
                  <a:sysClr val="windowText" lastClr="000000"/>
                </a:solidFill>
                <a:latin typeface="Times New Roman" pitchFamily="18" charset="0"/>
              </a:rPr>
              <a:t>,     ,     ,      )</a:t>
            </a:r>
          </a:p>
        </p:txBody>
      </p:sp>
      <p:pic>
        <p:nvPicPr>
          <p:cNvPr id="5" name="Picture 42" descr="doc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84336" y="1630710"/>
            <a:ext cx="3937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44"/>
          <p:cNvSpPr>
            <a:spLocks noChangeArrowheads="1"/>
          </p:cNvSpPr>
          <p:nvPr/>
        </p:nvSpPr>
        <p:spPr bwMode="auto">
          <a:xfrm>
            <a:off x="4265747" y="1640692"/>
            <a:ext cx="360362" cy="36036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DE" kern="0">
              <a:solidFill>
                <a:sysClr val="windowText" lastClr="000000"/>
              </a:solidFill>
            </a:endParaRPr>
          </a:p>
        </p:txBody>
      </p:sp>
      <p:sp>
        <p:nvSpPr>
          <p:cNvPr id="7" name="Oval 45"/>
          <p:cNvSpPr>
            <a:spLocks noChangeArrowheads="1"/>
          </p:cNvSpPr>
          <p:nvPr/>
        </p:nvSpPr>
        <p:spPr bwMode="auto">
          <a:xfrm>
            <a:off x="4737264" y="1640692"/>
            <a:ext cx="360362" cy="36036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DE" kern="0">
              <a:solidFill>
                <a:sysClr val="windowText" lastClr="000000"/>
              </a:solidFill>
            </a:endParaRPr>
          </a:p>
        </p:txBody>
      </p:sp>
      <p:sp>
        <p:nvSpPr>
          <p:cNvPr id="8" name="Oval 46"/>
          <p:cNvSpPr>
            <a:spLocks noChangeArrowheads="1"/>
          </p:cNvSpPr>
          <p:nvPr/>
        </p:nvSpPr>
        <p:spPr bwMode="auto">
          <a:xfrm>
            <a:off x="5240998" y="1640692"/>
            <a:ext cx="360362" cy="36036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DE" kern="0">
              <a:solidFill>
                <a:sysClr val="windowText" lastClr="000000"/>
              </a:solidFill>
            </a:endParaRPr>
          </a:p>
        </p:txBody>
      </p:sp>
      <p:pic>
        <p:nvPicPr>
          <p:cNvPr id="9" name="Picture 220" descr="rup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35320" y="1748642"/>
            <a:ext cx="274638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2" descr="doc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57022" y="2920225"/>
            <a:ext cx="3937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0" descr="rup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577" y="3459252"/>
            <a:ext cx="274638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1013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Trivial Optimization</a:t>
            </a:r>
            <a:endParaRPr lang="en-US" dirty="0"/>
          </a:p>
        </p:txBody>
      </p:sp>
      <p:sp>
        <p:nvSpPr>
          <p:cNvPr id="3" name="Inhaltsplatzhalter 2"/>
          <p:cNvSpPr txBox="1">
            <a:spLocks/>
          </p:cNvSpPr>
          <p:nvPr/>
        </p:nvSpPr>
        <p:spPr>
          <a:xfrm>
            <a:off x="-108519" y="1592263"/>
            <a:ext cx="8640763" cy="4500562"/>
          </a:xfrm>
          <a:prstGeom prst="rect">
            <a:avLst/>
          </a:prstGeom>
        </p:spPr>
        <p:txBody>
          <a:bodyPr/>
          <a:lstStyle>
            <a:lvl1pPr marL="179388" indent="-17938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2pPr>
            <a:lvl3pPr marL="538163" indent="-18732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3pPr>
            <a:lvl4pPr marL="717550" indent="-17303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4pPr>
            <a:lvl5pPr marL="908050" indent="-1889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5pPr>
            <a:lvl6pPr marL="13652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kern="0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180207" y="1551458"/>
            <a:ext cx="7993062" cy="4541838"/>
          </a:xfrm>
          <a:prstGeom prst="rect">
            <a:avLst/>
          </a:prstGeom>
        </p:spPr>
        <p:txBody>
          <a:bodyPr/>
          <a:lstStyle>
            <a:lvl1pPr marL="179388" indent="-17938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2pPr>
            <a:lvl3pPr marL="538163" indent="-18732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3pPr>
            <a:lvl4pPr marL="717550" indent="-17303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4pPr>
            <a:lvl5pPr marL="908050" indent="-1889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5pPr>
            <a:lvl6pPr marL="13652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b="1" kern="0" dirty="0"/>
              <a:t>Message</a:t>
            </a:r>
            <a:r>
              <a:rPr lang="en-US" kern="0" dirty="0"/>
              <a:t> M = b1,…,</a:t>
            </a:r>
            <a:r>
              <a:rPr lang="en-US" kern="0" dirty="0" err="1"/>
              <a:t>bm</a:t>
            </a:r>
            <a:r>
              <a:rPr lang="en-US" kern="0" dirty="0"/>
              <a:t>, OWF H                                = n bit</a:t>
            </a:r>
          </a:p>
          <a:p>
            <a:pPr>
              <a:buFont typeface="Wingdings" pitchFamily="2" charset="2"/>
              <a:buNone/>
            </a:pPr>
            <a:endParaRPr lang="en-US" kern="0" dirty="0"/>
          </a:p>
          <a:p>
            <a:pPr>
              <a:buFont typeface="Wingdings" pitchFamily="2" charset="2"/>
              <a:buNone/>
            </a:pPr>
            <a:endParaRPr lang="en-US" kern="0" dirty="0"/>
          </a:p>
          <a:p>
            <a:pPr>
              <a:buFont typeface="Wingdings" pitchFamily="2" charset="2"/>
              <a:buNone/>
            </a:pPr>
            <a:endParaRPr lang="en-US" b="1" kern="0" dirty="0"/>
          </a:p>
          <a:p>
            <a:pPr>
              <a:buFont typeface="Wingdings" pitchFamily="2" charset="2"/>
              <a:buNone/>
            </a:pPr>
            <a:endParaRPr lang="en-US" sz="3600" kern="0" dirty="0"/>
          </a:p>
          <a:p>
            <a:pPr>
              <a:buFont typeface="Wingdings" pitchFamily="2" charset="2"/>
              <a:buNone/>
            </a:pPr>
            <a:endParaRPr lang="en-US" kern="0" dirty="0"/>
          </a:p>
        </p:txBody>
      </p:sp>
      <p:pic>
        <p:nvPicPr>
          <p:cNvPr id="5" name="Picture 18" descr="C:\Users\huelsing\AppData\Local\Microsoft\Windows\Temporary Internet Files\Content.IE5\OYDSBIUA\MC900333394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1269" y="2174140"/>
            <a:ext cx="389327" cy="552424"/>
          </a:xfrm>
          <a:prstGeom prst="rect">
            <a:avLst/>
          </a:prstGeom>
          <a:noFill/>
        </p:spPr>
      </p:pic>
      <p:sp>
        <p:nvSpPr>
          <p:cNvPr id="6" name="Rechteck 6"/>
          <p:cNvSpPr/>
          <p:nvPr/>
        </p:nvSpPr>
        <p:spPr>
          <a:xfrm>
            <a:off x="890867" y="2966228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7" name="Rechteck 7"/>
          <p:cNvSpPr/>
          <p:nvPr/>
        </p:nvSpPr>
        <p:spPr>
          <a:xfrm>
            <a:off x="1826971" y="2966228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8" name="Rechteck 8"/>
          <p:cNvSpPr/>
          <p:nvPr/>
        </p:nvSpPr>
        <p:spPr>
          <a:xfrm>
            <a:off x="2763075" y="2966228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9" name="Rechteck 11"/>
          <p:cNvSpPr/>
          <p:nvPr/>
        </p:nvSpPr>
        <p:spPr>
          <a:xfrm>
            <a:off x="5571387" y="2966228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0" name="Rechteck 12"/>
          <p:cNvSpPr/>
          <p:nvPr/>
        </p:nvSpPr>
        <p:spPr>
          <a:xfrm>
            <a:off x="6507491" y="2966228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m,0</a:t>
            </a:r>
            <a:endParaRPr lang="en-US" dirty="0"/>
          </a:p>
        </p:txBody>
      </p:sp>
      <p:sp>
        <p:nvSpPr>
          <p:cNvPr id="11" name="Rechteck 13"/>
          <p:cNvSpPr/>
          <p:nvPr/>
        </p:nvSpPr>
        <p:spPr>
          <a:xfrm>
            <a:off x="7443595" y="2966228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m,1</a:t>
            </a:r>
          </a:p>
        </p:txBody>
      </p:sp>
      <p:sp>
        <p:nvSpPr>
          <p:cNvPr id="12" name="Rechteck 14"/>
          <p:cNvSpPr/>
          <p:nvPr/>
        </p:nvSpPr>
        <p:spPr>
          <a:xfrm>
            <a:off x="890867" y="4046348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13" name="Rechteck 15"/>
          <p:cNvSpPr/>
          <p:nvPr/>
        </p:nvSpPr>
        <p:spPr>
          <a:xfrm>
            <a:off x="1826971" y="4046348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14" name="Rechteck 16"/>
          <p:cNvSpPr/>
          <p:nvPr/>
        </p:nvSpPr>
        <p:spPr>
          <a:xfrm>
            <a:off x="2763075" y="4046348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5" name="Rechteck 19"/>
          <p:cNvSpPr/>
          <p:nvPr/>
        </p:nvSpPr>
        <p:spPr>
          <a:xfrm>
            <a:off x="5571387" y="4046348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6" name="Rechteck 20"/>
          <p:cNvSpPr/>
          <p:nvPr/>
        </p:nvSpPr>
        <p:spPr>
          <a:xfrm>
            <a:off x="6507491" y="4046348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m,0</a:t>
            </a:r>
            <a:endParaRPr lang="en-US" dirty="0"/>
          </a:p>
        </p:txBody>
      </p:sp>
      <p:sp>
        <p:nvSpPr>
          <p:cNvPr id="17" name="Rechteck 21"/>
          <p:cNvSpPr/>
          <p:nvPr/>
        </p:nvSpPr>
        <p:spPr>
          <a:xfrm>
            <a:off x="7443595" y="4046348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m,1</a:t>
            </a:r>
          </a:p>
        </p:txBody>
      </p:sp>
      <p:cxnSp>
        <p:nvCxnSpPr>
          <p:cNvPr id="18" name="Gerade Verbindung mit Pfeil 23"/>
          <p:cNvCxnSpPr>
            <a:stCxn id="6" idx="2"/>
            <a:endCxn id="12" idx="0"/>
          </p:cNvCxnSpPr>
          <p:nvPr/>
        </p:nvCxnSpPr>
        <p:spPr>
          <a:xfrm>
            <a:off x="1358919" y="3182252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24"/>
          <p:cNvCxnSpPr>
            <a:stCxn id="7" idx="2"/>
            <a:endCxn id="13" idx="0"/>
          </p:cNvCxnSpPr>
          <p:nvPr/>
        </p:nvCxnSpPr>
        <p:spPr>
          <a:xfrm>
            <a:off x="2295023" y="3182252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27"/>
          <p:cNvCxnSpPr>
            <a:stCxn id="8" idx="2"/>
            <a:endCxn id="14" idx="0"/>
          </p:cNvCxnSpPr>
          <p:nvPr/>
        </p:nvCxnSpPr>
        <p:spPr>
          <a:xfrm>
            <a:off x="3231127" y="3182252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lipse 32"/>
          <p:cNvSpPr/>
          <p:nvPr/>
        </p:nvSpPr>
        <p:spPr>
          <a:xfrm>
            <a:off x="4059219" y="303823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2" name="Ellipse 33"/>
          <p:cNvSpPr/>
          <p:nvPr/>
        </p:nvSpPr>
        <p:spPr>
          <a:xfrm>
            <a:off x="4563275" y="303823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3" name="Ellipse 34"/>
          <p:cNvSpPr/>
          <p:nvPr/>
        </p:nvSpPr>
        <p:spPr>
          <a:xfrm>
            <a:off x="5067331" y="303823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4" name="Ellipse 35"/>
          <p:cNvSpPr/>
          <p:nvPr/>
        </p:nvSpPr>
        <p:spPr>
          <a:xfrm>
            <a:off x="4084386" y="411835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5" name="Ellipse 36"/>
          <p:cNvSpPr/>
          <p:nvPr/>
        </p:nvSpPr>
        <p:spPr>
          <a:xfrm>
            <a:off x="4588442" y="411835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6" name="Ellipse 37"/>
          <p:cNvSpPr/>
          <p:nvPr/>
        </p:nvSpPr>
        <p:spPr>
          <a:xfrm>
            <a:off x="5092498" y="411835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cxnSp>
        <p:nvCxnSpPr>
          <p:cNvPr id="27" name="Gerade Verbindung mit Pfeil 38"/>
          <p:cNvCxnSpPr>
            <a:stCxn id="9" idx="2"/>
            <a:endCxn id="15" idx="0"/>
          </p:cNvCxnSpPr>
          <p:nvPr/>
        </p:nvCxnSpPr>
        <p:spPr>
          <a:xfrm>
            <a:off x="6039439" y="3182252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41"/>
          <p:cNvCxnSpPr>
            <a:stCxn id="10" idx="2"/>
            <a:endCxn id="16" idx="0"/>
          </p:cNvCxnSpPr>
          <p:nvPr/>
        </p:nvCxnSpPr>
        <p:spPr>
          <a:xfrm>
            <a:off x="6975543" y="3182252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46"/>
          <p:cNvCxnSpPr>
            <a:stCxn id="11" idx="2"/>
            <a:endCxn id="17" idx="0"/>
          </p:cNvCxnSpPr>
          <p:nvPr/>
        </p:nvCxnSpPr>
        <p:spPr>
          <a:xfrm>
            <a:off x="7911647" y="3182252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49"/>
          <p:cNvSpPr txBox="1"/>
          <p:nvPr/>
        </p:nvSpPr>
        <p:spPr>
          <a:xfrm>
            <a:off x="1394923" y="3398278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1" name="Textfeld 50"/>
          <p:cNvSpPr txBox="1"/>
          <p:nvPr/>
        </p:nvSpPr>
        <p:spPr>
          <a:xfrm>
            <a:off x="2331027" y="3398278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2" name="Textfeld 51"/>
          <p:cNvSpPr txBox="1"/>
          <p:nvPr/>
        </p:nvSpPr>
        <p:spPr>
          <a:xfrm>
            <a:off x="3267131" y="3398278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3" name="Textfeld 52"/>
          <p:cNvSpPr txBox="1"/>
          <p:nvPr/>
        </p:nvSpPr>
        <p:spPr>
          <a:xfrm>
            <a:off x="6075443" y="3398278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4" name="Textfeld 53"/>
          <p:cNvSpPr txBox="1"/>
          <p:nvPr/>
        </p:nvSpPr>
        <p:spPr>
          <a:xfrm>
            <a:off x="7011547" y="3398278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5" name="Textfeld 54"/>
          <p:cNvSpPr txBox="1"/>
          <p:nvPr/>
        </p:nvSpPr>
        <p:spPr>
          <a:xfrm>
            <a:off x="7947651" y="3398278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cxnSp>
        <p:nvCxnSpPr>
          <p:cNvPr id="36" name="Gerade Verbindung mit Pfeil 55"/>
          <p:cNvCxnSpPr>
            <a:stCxn id="5" idx="1"/>
            <a:endCxn id="6" idx="0"/>
          </p:cNvCxnSpPr>
          <p:nvPr/>
        </p:nvCxnSpPr>
        <p:spPr>
          <a:xfrm flipH="1">
            <a:off x="1358919" y="2450352"/>
            <a:ext cx="3132348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58"/>
          <p:cNvCxnSpPr>
            <a:stCxn id="5" idx="1"/>
            <a:endCxn id="7" idx="0"/>
          </p:cNvCxnSpPr>
          <p:nvPr/>
        </p:nvCxnSpPr>
        <p:spPr>
          <a:xfrm flipH="1">
            <a:off x="2295023" y="2450352"/>
            <a:ext cx="2196244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61"/>
          <p:cNvCxnSpPr>
            <a:stCxn id="5" idx="1"/>
            <a:endCxn id="8" idx="0"/>
          </p:cNvCxnSpPr>
          <p:nvPr/>
        </p:nvCxnSpPr>
        <p:spPr>
          <a:xfrm flipH="1">
            <a:off x="3231127" y="2450352"/>
            <a:ext cx="1260140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64"/>
          <p:cNvCxnSpPr>
            <a:stCxn id="5" idx="3"/>
            <a:endCxn id="9" idx="0"/>
          </p:cNvCxnSpPr>
          <p:nvPr/>
        </p:nvCxnSpPr>
        <p:spPr>
          <a:xfrm>
            <a:off x="4880596" y="2450352"/>
            <a:ext cx="1158845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67"/>
          <p:cNvCxnSpPr>
            <a:stCxn id="5" idx="3"/>
            <a:endCxn id="10" idx="0"/>
          </p:cNvCxnSpPr>
          <p:nvPr/>
        </p:nvCxnSpPr>
        <p:spPr>
          <a:xfrm>
            <a:off x="4880596" y="2450352"/>
            <a:ext cx="2094949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70"/>
          <p:cNvCxnSpPr>
            <a:stCxn id="5" idx="3"/>
            <a:endCxn id="11" idx="0"/>
          </p:cNvCxnSpPr>
          <p:nvPr/>
        </p:nvCxnSpPr>
        <p:spPr>
          <a:xfrm>
            <a:off x="4880596" y="2450352"/>
            <a:ext cx="3031053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hteck 73"/>
          <p:cNvSpPr/>
          <p:nvPr/>
        </p:nvSpPr>
        <p:spPr>
          <a:xfrm>
            <a:off x="915155" y="5367659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sig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45" name="Ellipse 76"/>
          <p:cNvSpPr/>
          <p:nvPr/>
        </p:nvSpPr>
        <p:spPr>
          <a:xfrm>
            <a:off x="4140647" y="5439667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46" name="Ellipse 77"/>
          <p:cNvSpPr/>
          <p:nvPr/>
        </p:nvSpPr>
        <p:spPr>
          <a:xfrm>
            <a:off x="4644703" y="5439667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47" name="Ellipse 78"/>
          <p:cNvSpPr/>
          <p:nvPr/>
        </p:nvSpPr>
        <p:spPr>
          <a:xfrm>
            <a:off x="5148759" y="5439667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48" name="Rechteck 79"/>
          <p:cNvSpPr/>
          <p:nvPr/>
        </p:nvSpPr>
        <p:spPr>
          <a:xfrm>
            <a:off x="4140964" y="1629587"/>
            <a:ext cx="936104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*</a:t>
            </a:r>
            <a:endParaRPr lang="en-US" sz="1400" b="1" baseline="-25000" dirty="0">
              <a:solidFill>
                <a:schemeClr val="tx1"/>
              </a:solidFill>
            </a:endParaRPr>
          </a:p>
        </p:txBody>
      </p:sp>
      <p:grpSp>
        <p:nvGrpSpPr>
          <p:cNvPr id="49" name="Gruppieren 99"/>
          <p:cNvGrpSpPr/>
          <p:nvPr/>
        </p:nvGrpSpPr>
        <p:grpSpPr>
          <a:xfrm>
            <a:off x="540247" y="3187809"/>
            <a:ext cx="1262588" cy="2179850"/>
            <a:chOff x="1509212" y="2833326"/>
            <a:chExt cx="1262588" cy="2179850"/>
          </a:xfrm>
        </p:grpSpPr>
        <p:sp>
          <p:nvSpPr>
            <p:cNvPr id="50" name="Flussdiagramm: Manuelle Verarbeitung 80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rgbClr val="00090C"/>
                  </a:solidFill>
                </a:rPr>
                <a:t>Mux</a:t>
              </a:r>
            </a:p>
          </p:txBody>
        </p:sp>
        <p:cxnSp>
          <p:nvCxnSpPr>
            <p:cNvPr id="51" name="Gerade Verbindung mit Pfeil 81"/>
            <p:cNvCxnSpPr/>
            <p:nvPr/>
          </p:nvCxnSpPr>
          <p:spPr>
            <a:xfrm>
              <a:off x="2095028" y="2833326"/>
              <a:ext cx="0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mit Pfeil 84"/>
            <p:cNvCxnSpPr/>
            <p:nvPr/>
          </p:nvCxnSpPr>
          <p:spPr>
            <a:xfrm>
              <a:off x="2570816" y="3907889"/>
              <a:ext cx="1" cy="3907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mit Pfeil 88"/>
            <p:cNvCxnSpPr>
              <a:endCxn id="50" idx="1"/>
            </p:cNvCxnSpPr>
            <p:nvPr/>
          </p:nvCxnSpPr>
          <p:spPr>
            <a:xfrm>
              <a:off x="1789900" y="4545124"/>
              <a:ext cx="204214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feld 92"/>
            <p:cNvSpPr txBox="1"/>
            <p:nvPr/>
          </p:nvSpPr>
          <p:spPr>
            <a:xfrm>
              <a:off x="1509212" y="439027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b1</a:t>
              </a:r>
            </a:p>
          </p:txBody>
        </p:sp>
        <p:cxnSp>
          <p:nvCxnSpPr>
            <p:cNvPr id="55" name="Gerade Verbindung mit Pfeil 96"/>
            <p:cNvCxnSpPr>
              <a:stCxn id="50" idx="2"/>
              <a:endCxn id="42" idx="0"/>
            </p:cNvCxnSpPr>
            <p:nvPr/>
          </p:nvCxnSpPr>
          <p:spPr>
            <a:xfrm>
              <a:off x="2339752" y="4797152"/>
              <a:ext cx="12420" cy="21602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echteck 73"/>
          <p:cNvSpPr/>
          <p:nvPr/>
        </p:nvSpPr>
        <p:spPr>
          <a:xfrm>
            <a:off x="1862548" y="5367661"/>
            <a:ext cx="936104" cy="2215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sig</a:t>
            </a:r>
            <a:r>
              <a:rPr lang="en-US" sz="1400" b="1" baseline="-25000" dirty="0">
                <a:solidFill>
                  <a:schemeClr val="tx1"/>
                </a:solidFill>
              </a:rPr>
              <a:t>1,1</a:t>
            </a:r>
          </a:p>
        </p:txBody>
      </p:sp>
      <p:grpSp>
        <p:nvGrpSpPr>
          <p:cNvPr id="82" name="Gruppieren 99"/>
          <p:cNvGrpSpPr/>
          <p:nvPr/>
        </p:nvGrpSpPr>
        <p:grpSpPr>
          <a:xfrm>
            <a:off x="1874843" y="3193368"/>
            <a:ext cx="1617732" cy="2174293"/>
            <a:chOff x="1907704" y="2833326"/>
            <a:chExt cx="1617732" cy="2174293"/>
          </a:xfrm>
        </p:grpSpPr>
        <p:sp>
          <p:nvSpPr>
            <p:cNvPr id="83" name="Flussdiagramm: Manuelle Verarbeitung 80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rgbClr val="00090C"/>
                  </a:solidFill>
                </a:rPr>
                <a:t>Mux</a:t>
              </a:r>
            </a:p>
          </p:txBody>
        </p:sp>
        <p:cxnSp>
          <p:nvCxnSpPr>
            <p:cNvPr id="84" name="Gerade Verbindung mit Pfeil 81"/>
            <p:cNvCxnSpPr/>
            <p:nvPr/>
          </p:nvCxnSpPr>
          <p:spPr>
            <a:xfrm>
              <a:off x="2095028" y="2833326"/>
              <a:ext cx="0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mit Pfeil 84"/>
            <p:cNvCxnSpPr/>
            <p:nvPr/>
          </p:nvCxnSpPr>
          <p:spPr>
            <a:xfrm>
              <a:off x="2570816" y="3907889"/>
              <a:ext cx="1" cy="3907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8"/>
            <p:cNvCxnSpPr>
              <a:stCxn id="87" idx="1"/>
              <a:endCxn id="83" idx="3"/>
            </p:cNvCxnSpPr>
            <p:nvPr/>
          </p:nvCxnSpPr>
          <p:spPr>
            <a:xfrm flipH="1" flipV="1">
              <a:off x="2685390" y="4545124"/>
              <a:ext cx="248602" cy="1043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feld 92"/>
                <p:cNvSpPr txBox="1"/>
                <p:nvPr/>
              </p:nvSpPr>
              <p:spPr>
                <a:xfrm>
                  <a:off x="2933992" y="4401672"/>
                  <a:ext cx="59144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</m:oMath>
                  </a14:m>
                  <a:r>
                    <a:rPr lang="en-US" sz="1400" b="1" dirty="0"/>
                    <a:t>b1</a:t>
                  </a:r>
                </a:p>
              </p:txBody>
            </p:sp>
          </mc:Choice>
          <mc:Fallback xmlns="">
            <p:sp>
              <p:nvSpPr>
                <p:cNvPr id="87" name="Textfeld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3992" y="4401672"/>
                  <a:ext cx="591444" cy="307777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3922" b="-196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Gerade Verbindung mit Pfeil 96"/>
            <p:cNvCxnSpPr>
              <a:stCxn id="83" idx="2"/>
              <a:endCxn id="81" idx="0"/>
            </p:cNvCxnSpPr>
            <p:nvPr/>
          </p:nvCxnSpPr>
          <p:spPr>
            <a:xfrm>
              <a:off x="2339752" y="4797152"/>
              <a:ext cx="23709" cy="21046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hteck 73"/>
          <p:cNvSpPr/>
          <p:nvPr/>
        </p:nvSpPr>
        <p:spPr>
          <a:xfrm>
            <a:off x="6456192" y="5365974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sig</a:t>
            </a:r>
            <a:r>
              <a:rPr lang="en-US" sz="1400" b="1" baseline="-25000" dirty="0">
                <a:solidFill>
                  <a:schemeClr val="tx1"/>
                </a:solidFill>
              </a:rPr>
              <a:t>m,0</a:t>
            </a:r>
          </a:p>
        </p:txBody>
      </p:sp>
      <p:grpSp>
        <p:nvGrpSpPr>
          <p:cNvPr id="95" name="Gruppieren 99"/>
          <p:cNvGrpSpPr/>
          <p:nvPr/>
        </p:nvGrpSpPr>
        <p:grpSpPr>
          <a:xfrm>
            <a:off x="5988142" y="3186124"/>
            <a:ext cx="1359311" cy="2179850"/>
            <a:chOff x="1412489" y="2833326"/>
            <a:chExt cx="1359311" cy="2179850"/>
          </a:xfrm>
        </p:grpSpPr>
        <p:sp>
          <p:nvSpPr>
            <p:cNvPr id="96" name="Flussdiagramm: Manuelle Verarbeitung 80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rgbClr val="00090C"/>
                  </a:solidFill>
                </a:rPr>
                <a:t>Mux</a:t>
              </a:r>
            </a:p>
          </p:txBody>
        </p:sp>
        <p:cxnSp>
          <p:nvCxnSpPr>
            <p:cNvPr id="97" name="Gerade Verbindung mit Pfeil 81"/>
            <p:cNvCxnSpPr/>
            <p:nvPr/>
          </p:nvCxnSpPr>
          <p:spPr>
            <a:xfrm>
              <a:off x="2095028" y="2833326"/>
              <a:ext cx="0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 Verbindung mit Pfeil 84"/>
            <p:cNvCxnSpPr/>
            <p:nvPr/>
          </p:nvCxnSpPr>
          <p:spPr>
            <a:xfrm>
              <a:off x="2570816" y="3907889"/>
              <a:ext cx="1" cy="3907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 Verbindung mit Pfeil 88"/>
            <p:cNvCxnSpPr>
              <a:endCxn id="96" idx="1"/>
            </p:cNvCxnSpPr>
            <p:nvPr/>
          </p:nvCxnSpPr>
          <p:spPr>
            <a:xfrm>
              <a:off x="1789900" y="4545124"/>
              <a:ext cx="204214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feld 92"/>
            <p:cNvSpPr txBox="1"/>
            <p:nvPr/>
          </p:nvSpPr>
          <p:spPr>
            <a:xfrm>
              <a:off x="1412489" y="4390271"/>
              <a:ext cx="5287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bm</a:t>
              </a:r>
              <a:endParaRPr lang="en-US" sz="1400" b="1" dirty="0"/>
            </a:p>
          </p:txBody>
        </p:sp>
        <p:cxnSp>
          <p:nvCxnSpPr>
            <p:cNvPr id="101" name="Gerade Verbindung mit Pfeil 96"/>
            <p:cNvCxnSpPr>
              <a:stCxn id="96" idx="2"/>
              <a:endCxn id="94" idx="0"/>
            </p:cNvCxnSpPr>
            <p:nvPr/>
          </p:nvCxnSpPr>
          <p:spPr>
            <a:xfrm>
              <a:off x="2339752" y="4797152"/>
              <a:ext cx="8841" cy="21602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hteck 73"/>
          <p:cNvSpPr/>
          <p:nvPr/>
        </p:nvSpPr>
        <p:spPr>
          <a:xfrm>
            <a:off x="7403585" y="5365976"/>
            <a:ext cx="936104" cy="2215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sig</a:t>
            </a:r>
            <a:r>
              <a:rPr lang="en-US" sz="1400" b="1" baseline="-25000" dirty="0">
                <a:solidFill>
                  <a:schemeClr val="tx1"/>
                </a:solidFill>
              </a:rPr>
              <a:t>m,1</a:t>
            </a:r>
          </a:p>
        </p:txBody>
      </p:sp>
      <p:grpSp>
        <p:nvGrpSpPr>
          <p:cNvPr id="103" name="Gruppieren 99"/>
          <p:cNvGrpSpPr/>
          <p:nvPr/>
        </p:nvGrpSpPr>
        <p:grpSpPr>
          <a:xfrm>
            <a:off x="7419459" y="3191683"/>
            <a:ext cx="1617732" cy="2174293"/>
            <a:chOff x="1907704" y="2833326"/>
            <a:chExt cx="1617732" cy="2174293"/>
          </a:xfrm>
        </p:grpSpPr>
        <p:sp>
          <p:nvSpPr>
            <p:cNvPr id="104" name="Flussdiagramm: Manuelle Verarbeitung 80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rgbClr val="00090C"/>
                  </a:solidFill>
                </a:rPr>
                <a:t>Mux</a:t>
              </a:r>
            </a:p>
          </p:txBody>
        </p:sp>
        <p:cxnSp>
          <p:nvCxnSpPr>
            <p:cNvPr id="105" name="Gerade Verbindung mit Pfeil 81"/>
            <p:cNvCxnSpPr/>
            <p:nvPr/>
          </p:nvCxnSpPr>
          <p:spPr>
            <a:xfrm>
              <a:off x="2095028" y="2833326"/>
              <a:ext cx="0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 Verbindung mit Pfeil 84"/>
            <p:cNvCxnSpPr/>
            <p:nvPr/>
          </p:nvCxnSpPr>
          <p:spPr>
            <a:xfrm>
              <a:off x="2570816" y="3907889"/>
              <a:ext cx="1" cy="3907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 Verbindung mit Pfeil 88"/>
            <p:cNvCxnSpPr>
              <a:stCxn id="108" idx="1"/>
              <a:endCxn id="104" idx="3"/>
            </p:cNvCxnSpPr>
            <p:nvPr/>
          </p:nvCxnSpPr>
          <p:spPr>
            <a:xfrm flipH="1" flipV="1">
              <a:off x="2685390" y="4545124"/>
              <a:ext cx="248602" cy="1043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feld 92"/>
                <p:cNvSpPr txBox="1"/>
                <p:nvPr/>
              </p:nvSpPr>
              <p:spPr>
                <a:xfrm>
                  <a:off x="2933992" y="4401672"/>
                  <a:ext cx="59144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</m:oMath>
                  </a14:m>
                  <a:r>
                    <a:rPr lang="en-US" sz="1400" b="1" dirty="0"/>
                    <a:t>bm</a:t>
                  </a:r>
                </a:p>
              </p:txBody>
            </p:sp>
          </mc:Choice>
          <mc:Fallback xmlns="">
            <p:sp>
              <p:nvSpPr>
                <p:cNvPr id="108" name="Textfeld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3992" y="4401672"/>
                  <a:ext cx="591444" cy="30777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4000" r="-2062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Gerade Verbindung mit Pfeil 96"/>
            <p:cNvCxnSpPr>
              <a:stCxn id="104" idx="2"/>
              <a:endCxn id="102" idx="0"/>
            </p:cNvCxnSpPr>
            <p:nvPr/>
          </p:nvCxnSpPr>
          <p:spPr>
            <a:xfrm>
              <a:off x="2339752" y="4797152"/>
              <a:ext cx="20130" cy="21046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/>
          <p:cNvSpPr/>
          <p:nvPr/>
        </p:nvSpPr>
        <p:spPr>
          <a:xfrm>
            <a:off x="204347" y="5289320"/>
            <a:ext cx="458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b="1" kern="0" dirty="0" smtClean="0"/>
              <a:t>Sig</a:t>
            </a:r>
            <a:endParaRPr lang="en-US" b="1" kern="0" dirty="0"/>
          </a:p>
        </p:txBody>
      </p:sp>
      <p:sp>
        <p:nvSpPr>
          <p:cNvPr id="44" name="Rectangle 43"/>
          <p:cNvSpPr/>
          <p:nvPr/>
        </p:nvSpPr>
        <p:spPr>
          <a:xfrm>
            <a:off x="204347" y="3969694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b="1" kern="0" dirty="0" smtClean="0"/>
              <a:t>PK</a:t>
            </a:r>
            <a:endParaRPr lang="en-US" b="1" kern="0" dirty="0"/>
          </a:p>
        </p:txBody>
      </p:sp>
      <p:sp>
        <p:nvSpPr>
          <p:cNvPr id="56" name="Rectangle 55"/>
          <p:cNvSpPr/>
          <p:nvPr/>
        </p:nvSpPr>
        <p:spPr>
          <a:xfrm>
            <a:off x="182769" y="2889574"/>
            <a:ext cx="420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0" dirty="0" smtClean="0"/>
              <a:t>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68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Optimized LD-OTS in MSS</a:t>
            </a:r>
            <a:endParaRPr 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 smtClean="0"/>
              <a:t>Verification: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	</a:t>
            </a:r>
            <a:r>
              <a:rPr lang="de-DE" dirty="0" smtClean="0"/>
              <a:t>1. Compute        from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	</a:t>
            </a:r>
            <a:r>
              <a:rPr lang="de-DE" dirty="0" smtClean="0"/>
              <a:t>2. Verify authenticity of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 smtClean="0"/>
              <a:t>Steps 1 + 2 together verify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4" name="Text Box 41"/>
          <p:cNvSpPr txBox="1">
            <a:spLocks noChangeArrowheads="1"/>
          </p:cNvSpPr>
          <p:nvPr/>
        </p:nvSpPr>
        <p:spPr bwMode="auto">
          <a:xfrm>
            <a:off x="1892160" y="1615899"/>
            <a:ext cx="50768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500" kern="0" dirty="0">
                <a:solidFill>
                  <a:sysClr val="windowText" lastClr="000000"/>
                </a:solidFill>
              </a:rPr>
              <a:t>SIG </a:t>
            </a:r>
            <a:r>
              <a:rPr lang="en-US" sz="2500" kern="0" dirty="0">
                <a:solidFill>
                  <a:sysClr val="windowText" lastClr="000000"/>
                </a:solidFill>
                <a:latin typeface="Times New Roman" pitchFamily="18" charset="0"/>
              </a:rPr>
              <a:t>= (</a:t>
            </a:r>
            <a:r>
              <a:rPr lang="en-US" sz="2500" i="1" kern="0" dirty="0" err="1">
                <a:solidFill>
                  <a:sysClr val="windowText" lastClr="000000"/>
                </a:solidFill>
                <a:latin typeface="Times New Roman" pitchFamily="18" charset="0"/>
              </a:rPr>
              <a:t>i</a:t>
            </a:r>
            <a:r>
              <a:rPr lang="en-US" sz="2500" i="1" kern="0" dirty="0">
                <a:solidFill>
                  <a:sysClr val="windowText" lastClr="000000"/>
                </a:solidFill>
                <a:latin typeface="Times New Roman" pitchFamily="18" charset="0"/>
              </a:rPr>
              <a:t>=2</a:t>
            </a:r>
            <a:r>
              <a:rPr lang="en-US" sz="2500" kern="0" dirty="0">
                <a:solidFill>
                  <a:sysClr val="windowText" lastClr="000000"/>
                </a:solidFill>
                <a:latin typeface="Times New Roman" pitchFamily="18" charset="0"/>
              </a:rPr>
              <a:t>,    </a:t>
            </a:r>
            <a:r>
              <a:rPr lang="en-US" sz="2500" kern="0" dirty="0" smtClean="0">
                <a:solidFill>
                  <a:sysClr val="windowText" lastClr="000000"/>
                </a:solidFill>
                <a:latin typeface="Times New Roman" pitchFamily="18" charset="0"/>
              </a:rPr>
              <a:t>,     </a:t>
            </a:r>
            <a:r>
              <a:rPr lang="en-US" sz="2500" kern="0" dirty="0">
                <a:solidFill>
                  <a:sysClr val="windowText" lastClr="000000"/>
                </a:solidFill>
                <a:latin typeface="Times New Roman" pitchFamily="18" charset="0"/>
              </a:rPr>
              <a:t>,     ,     ,      )</a:t>
            </a:r>
          </a:p>
        </p:txBody>
      </p:sp>
      <p:pic>
        <p:nvPicPr>
          <p:cNvPr id="5" name="Picture 42" descr="doc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84336" y="1630710"/>
            <a:ext cx="3937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44"/>
          <p:cNvSpPr>
            <a:spLocks noChangeArrowheads="1"/>
          </p:cNvSpPr>
          <p:nvPr/>
        </p:nvSpPr>
        <p:spPr bwMode="auto">
          <a:xfrm>
            <a:off x="4265747" y="1640692"/>
            <a:ext cx="360362" cy="36036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DE" kern="0">
              <a:solidFill>
                <a:sysClr val="windowText" lastClr="000000"/>
              </a:solidFill>
            </a:endParaRPr>
          </a:p>
        </p:txBody>
      </p:sp>
      <p:sp>
        <p:nvSpPr>
          <p:cNvPr id="7" name="Oval 45"/>
          <p:cNvSpPr>
            <a:spLocks noChangeArrowheads="1"/>
          </p:cNvSpPr>
          <p:nvPr/>
        </p:nvSpPr>
        <p:spPr bwMode="auto">
          <a:xfrm>
            <a:off x="4737264" y="1640692"/>
            <a:ext cx="360362" cy="36036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DE" kern="0">
              <a:solidFill>
                <a:sysClr val="windowText" lastClr="000000"/>
              </a:solidFill>
            </a:endParaRPr>
          </a:p>
        </p:txBody>
      </p:sp>
      <p:sp>
        <p:nvSpPr>
          <p:cNvPr id="8" name="Oval 46"/>
          <p:cNvSpPr>
            <a:spLocks noChangeArrowheads="1"/>
          </p:cNvSpPr>
          <p:nvPr/>
        </p:nvSpPr>
        <p:spPr bwMode="auto">
          <a:xfrm>
            <a:off x="5240998" y="1640692"/>
            <a:ext cx="360362" cy="36036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DE" kern="0">
              <a:solidFill>
                <a:sysClr val="windowText" lastClr="000000"/>
              </a:solidFill>
            </a:endParaRPr>
          </a:p>
        </p:txBody>
      </p:sp>
      <p:pic>
        <p:nvPicPr>
          <p:cNvPr id="9" name="Picture 220" descr="rup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35320" y="1748642"/>
            <a:ext cx="274638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2" descr="doc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6877" y="2858384"/>
            <a:ext cx="3937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0" descr="rup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2639" y="2941462"/>
            <a:ext cx="274638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3271826" y="1251864"/>
            <a:ext cx="5557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b="1" dirty="0" smtClean="0">
                <a:solidFill>
                  <a:srgbClr val="FF0000"/>
                </a:solidFill>
              </a:rPr>
              <a:t>X</a:t>
            </a:r>
            <a:endParaRPr lang="en-US" sz="7200" b="1" dirty="0">
              <a:solidFill>
                <a:srgbClr val="FF0000"/>
              </a:solidFill>
            </a:endParaRPr>
          </a:p>
        </p:txBody>
      </p:sp>
      <p:pic>
        <p:nvPicPr>
          <p:cNvPr id="13" name="Picture 220" descr="rup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97626" y="3468767"/>
            <a:ext cx="274638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42" descr="doc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9473" y="4401046"/>
            <a:ext cx="429984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3541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Germans love their „Ordnung“!</a:t>
            </a:r>
            <a:endParaRPr lang="en-US" dirty="0"/>
          </a:p>
        </p:txBody>
      </p:sp>
      <p:sp>
        <p:nvSpPr>
          <p:cNvPr id="3" name="Inhaltsplatzhalter 2"/>
          <p:cNvSpPr txBox="1">
            <a:spLocks/>
          </p:cNvSpPr>
          <p:nvPr/>
        </p:nvSpPr>
        <p:spPr>
          <a:xfrm>
            <a:off x="-108519" y="1592263"/>
            <a:ext cx="8640763" cy="4500562"/>
          </a:xfrm>
          <a:prstGeom prst="rect">
            <a:avLst/>
          </a:prstGeom>
        </p:spPr>
        <p:txBody>
          <a:bodyPr/>
          <a:lstStyle>
            <a:lvl1pPr marL="179388" indent="-17938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2pPr>
            <a:lvl3pPr marL="538163" indent="-18732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3pPr>
            <a:lvl4pPr marL="717550" indent="-17303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4pPr>
            <a:lvl5pPr marL="908050" indent="-1889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5pPr>
            <a:lvl6pPr marL="13652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/>
              <p:cNvSpPr txBox="1">
                <a:spLocks/>
              </p:cNvSpPr>
              <p:nvPr/>
            </p:nvSpPr>
            <p:spPr>
              <a:xfrm>
                <a:off x="180207" y="1551458"/>
                <a:ext cx="7993062" cy="4541838"/>
              </a:xfrm>
              <a:prstGeom prst="rect">
                <a:avLst/>
              </a:prstGeom>
            </p:spPr>
            <p:txBody>
              <a:bodyPr/>
              <a:lstStyle>
                <a:lvl1pPr marL="179388" indent="-17938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9250" indent="-1682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2pPr>
                <a:lvl3pPr marL="538163" indent="-1873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3pPr>
                <a:lvl4pPr marL="717550" indent="-1730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</a:defRPr>
                </a:lvl4pPr>
                <a:lvl5pPr marL="908050" indent="-188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</a:defRPr>
                </a:lvl5pPr>
                <a:lvl6pPr marL="1365250" indent="-1889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</a:defRPr>
                </a:lvl6pPr>
                <a:lvl7pPr marL="1822450" indent="-1889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</a:defRPr>
                </a:lvl7pPr>
                <a:lvl8pPr marL="2279650" indent="-1889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</a:defRPr>
                </a:lvl8pPr>
                <a:lvl9pPr marL="2736850" indent="-1889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None/>
                </a:pPr>
                <a:r>
                  <a:rPr lang="en-US" b="1" kern="0" dirty="0"/>
                  <a:t>Message</a:t>
                </a:r>
                <a:r>
                  <a:rPr lang="en-US" kern="0" dirty="0"/>
                  <a:t> M = b</a:t>
                </a:r>
                <a:r>
                  <a:rPr lang="en-US" kern="0" baseline="-25000" dirty="0"/>
                  <a:t>1</a:t>
                </a:r>
                <a:r>
                  <a:rPr lang="en-US" kern="0" dirty="0"/>
                  <a:t>,…,</a:t>
                </a:r>
                <a:r>
                  <a:rPr lang="en-US" kern="0" dirty="0" err="1"/>
                  <a:t>b</a:t>
                </a:r>
                <a:r>
                  <a:rPr lang="en-US" kern="0" baseline="-25000" dirty="0" err="1"/>
                  <a:t>m</a:t>
                </a:r>
                <a:r>
                  <a:rPr lang="en-US" kern="0" dirty="0"/>
                  <a:t>, OWF H                    </a:t>
                </a:r>
              </a:p>
              <a:p>
                <a:pPr>
                  <a:buNone/>
                </a:pPr>
                <a:r>
                  <a:rPr lang="en-US" b="1" kern="0" dirty="0"/>
                  <a:t>SK: </a:t>
                </a:r>
                <a:r>
                  <a:rPr lang="en-US" kern="0" dirty="0"/>
                  <a:t>sk</a:t>
                </a:r>
                <a:r>
                  <a:rPr lang="en-US" kern="0" baseline="-25000" dirty="0"/>
                  <a:t>1</a:t>
                </a:r>
                <a:r>
                  <a:rPr lang="en-US" kern="0" dirty="0"/>
                  <a:t>,…,sk</a:t>
                </a:r>
                <a:r>
                  <a:rPr lang="en-US" kern="0" baseline="-25000" dirty="0"/>
                  <a:t>m</a:t>
                </a:r>
                <a:r>
                  <a:rPr lang="en-US" kern="0" dirty="0"/>
                  <a:t>,sk</a:t>
                </a:r>
                <a:r>
                  <a:rPr lang="en-US" kern="0" baseline="-25000" dirty="0"/>
                  <a:t>m+1</a:t>
                </a:r>
                <a:r>
                  <a:rPr lang="en-US" kern="0" dirty="0"/>
                  <a:t>,…,sk</a:t>
                </a:r>
                <a:r>
                  <a:rPr lang="en-US" kern="0" baseline="-25000" dirty="0"/>
                  <a:t>2m</a:t>
                </a:r>
              </a:p>
              <a:p>
                <a:pPr>
                  <a:buNone/>
                </a:pPr>
                <a:r>
                  <a:rPr lang="en-US" b="1" kern="0" dirty="0"/>
                  <a:t>PK: </a:t>
                </a:r>
                <a:r>
                  <a:rPr lang="en-US" kern="0" dirty="0"/>
                  <a:t>H(sk</a:t>
                </a:r>
                <a:r>
                  <a:rPr lang="en-US" kern="0" baseline="-25000" dirty="0"/>
                  <a:t>1</a:t>
                </a:r>
                <a:r>
                  <a:rPr lang="en-US" kern="0" dirty="0"/>
                  <a:t>),…,H(</a:t>
                </a:r>
                <a:r>
                  <a:rPr lang="en-US" kern="0" dirty="0" err="1"/>
                  <a:t>sk</a:t>
                </a:r>
                <a:r>
                  <a:rPr lang="en-US" kern="0" baseline="-25000" dirty="0" err="1"/>
                  <a:t>m</a:t>
                </a:r>
                <a:r>
                  <a:rPr lang="en-US" kern="0" dirty="0"/>
                  <a:t>),H(sk</a:t>
                </a:r>
                <a:r>
                  <a:rPr lang="en-US" kern="0" baseline="-25000" dirty="0"/>
                  <a:t>m+1</a:t>
                </a:r>
                <a:r>
                  <a:rPr lang="en-US" kern="0" dirty="0"/>
                  <a:t>),…,H(sk</a:t>
                </a:r>
                <a:r>
                  <a:rPr lang="en-US" kern="0" baseline="-25000" dirty="0"/>
                  <a:t>2m</a:t>
                </a:r>
                <a:r>
                  <a:rPr lang="en-US" kern="0" dirty="0"/>
                  <a:t>)</a:t>
                </a:r>
                <a:endParaRPr lang="en-US" b="1" kern="0" dirty="0"/>
              </a:p>
              <a:p>
                <a:pPr>
                  <a:buNone/>
                </a:pPr>
                <a:r>
                  <a:rPr lang="de-DE" b="1" kern="0" dirty="0"/>
                  <a:t>Encode M: </a:t>
                </a:r>
                <a:r>
                  <a:rPr lang="de-DE" kern="0" dirty="0"/>
                  <a:t>M‘ </a:t>
                </a:r>
                <a:r>
                  <a:rPr lang="de-DE" kern="0" dirty="0" smtClean="0"/>
                  <a:t>= M||</a:t>
                </a:r>
                <a14:m>
                  <m:oMath xmlns:m="http://schemas.openxmlformats.org/officeDocument/2006/math">
                    <m:r>
                      <a:rPr lang="en-US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de-DE" kern="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M</a:t>
                </a:r>
                <a:r>
                  <a:rPr lang="de-DE" b="1" kern="0" dirty="0" smtClean="0"/>
                  <a:t> = </a:t>
                </a:r>
                <a:r>
                  <a:rPr lang="en-US" kern="0" dirty="0" smtClean="0"/>
                  <a:t>b</a:t>
                </a:r>
                <a:r>
                  <a:rPr lang="en-US" kern="0" baseline="-25000" dirty="0" smtClean="0"/>
                  <a:t>1</a:t>
                </a:r>
                <a:r>
                  <a:rPr lang="en-US" kern="0" dirty="0"/>
                  <a:t>,…,</a:t>
                </a:r>
                <a:r>
                  <a:rPr lang="en-US" kern="0" dirty="0" err="1"/>
                  <a:t>b</a:t>
                </a:r>
                <a:r>
                  <a:rPr lang="en-US" kern="0" baseline="-25000" dirty="0" err="1"/>
                  <a:t>m</a:t>
                </a:r>
                <a:r>
                  <a:rPr lang="en-US" kern="0" dirty="0"/>
                  <a:t>,</a:t>
                </a:r>
                <a14:m>
                  <m:oMath xmlns:m="http://schemas.openxmlformats.org/officeDocument/2006/math">
                    <m:r>
                      <a:rPr lang="en-US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kern="0" dirty="0">
                    <a:solidFill>
                      <a:srgbClr val="0070C0"/>
                    </a:solidFill>
                  </a:rPr>
                  <a:t>b</a:t>
                </a:r>
                <a:r>
                  <a:rPr lang="en-US" kern="0" baseline="-25000" dirty="0">
                    <a:solidFill>
                      <a:srgbClr val="0070C0"/>
                    </a:solidFill>
                  </a:rPr>
                  <a:t>1</a:t>
                </a:r>
                <a:r>
                  <a:rPr lang="en-US" kern="0" dirty="0">
                    <a:solidFill>
                      <a:srgbClr val="0070C0"/>
                    </a:solidFill>
                  </a:rPr>
                  <a:t>,…,</a:t>
                </a:r>
                <a14:m>
                  <m:oMath xmlns:m="http://schemas.openxmlformats.org/officeDocument/2006/math">
                    <m:r>
                      <a:rPr lang="en-US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kern="0" dirty="0" err="1">
                    <a:solidFill>
                      <a:srgbClr val="0070C0"/>
                    </a:solidFill>
                  </a:rPr>
                  <a:t>b</a:t>
                </a:r>
                <a:r>
                  <a:rPr lang="en-US" kern="0" baseline="-25000" dirty="0" err="1">
                    <a:solidFill>
                      <a:srgbClr val="0070C0"/>
                    </a:solidFill>
                  </a:rPr>
                  <a:t>m</a:t>
                </a:r>
                <a:r>
                  <a:rPr lang="en-US" kern="0" dirty="0">
                    <a:solidFill>
                      <a:srgbClr val="0070C0"/>
                    </a:solidFill>
                  </a:rPr>
                  <a:t> </a:t>
                </a:r>
                <a:r>
                  <a:rPr lang="en-US" kern="0" dirty="0" smtClean="0">
                    <a:solidFill>
                      <a:srgbClr val="0070C0"/>
                    </a:solidFill>
                  </a:rPr>
                  <a:t>             </a:t>
                </a:r>
                <a:br>
                  <a:rPr lang="en-US" kern="0" dirty="0" smtClean="0">
                    <a:solidFill>
                      <a:srgbClr val="0070C0"/>
                    </a:solidFill>
                  </a:rPr>
                </a:br>
                <a:r>
                  <a:rPr lang="en-US" kern="0" dirty="0" smtClean="0">
                    <a:solidFill>
                      <a:srgbClr val="0070C0"/>
                    </a:solidFill>
                  </a:rPr>
                  <a:t>		</a:t>
                </a:r>
                <a:r>
                  <a:rPr lang="en-US" kern="0" dirty="0" smtClean="0"/>
                  <a:t>(instead of</a:t>
                </a:r>
                <a:r>
                  <a:rPr lang="en-US" kern="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kern="0" dirty="0" smtClean="0"/>
                  <a:t>b</a:t>
                </a:r>
                <a:r>
                  <a:rPr lang="en-US" kern="0" baseline="-25000" dirty="0" smtClean="0"/>
                  <a:t>1</a:t>
                </a:r>
                <a:r>
                  <a:rPr lang="en-US" kern="0" dirty="0"/>
                  <a:t>,</a:t>
                </a:r>
                <a:r>
                  <a:rPr lang="en-US" kern="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kern="0" dirty="0">
                    <a:solidFill>
                      <a:srgbClr val="0070C0"/>
                    </a:solidFill>
                  </a:rPr>
                  <a:t>b</a:t>
                </a:r>
                <a:r>
                  <a:rPr lang="en-US" kern="0" baseline="-25000" dirty="0">
                    <a:solidFill>
                      <a:srgbClr val="0070C0"/>
                    </a:solidFill>
                  </a:rPr>
                  <a:t>1</a:t>
                </a:r>
                <a:r>
                  <a:rPr lang="en-US" kern="0" dirty="0">
                    <a:solidFill>
                      <a:srgbClr val="0070C0"/>
                    </a:solidFill>
                  </a:rPr>
                  <a:t>,</a:t>
                </a:r>
                <a:r>
                  <a:rPr lang="en-US" kern="0" dirty="0"/>
                  <a:t>…,</a:t>
                </a:r>
                <a:r>
                  <a:rPr lang="en-US" kern="0" dirty="0" err="1"/>
                  <a:t>b</a:t>
                </a:r>
                <a:r>
                  <a:rPr lang="en-US" kern="0" baseline="-25000" dirty="0" err="1"/>
                  <a:t>m</a:t>
                </a:r>
                <a:r>
                  <a:rPr lang="en-US" kern="0" dirty="0"/>
                  <a:t>,</a:t>
                </a:r>
                <a14:m>
                  <m:oMath xmlns:m="http://schemas.openxmlformats.org/officeDocument/2006/math">
                    <m:r>
                      <a:rPr lang="en-US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kern="0" dirty="0" err="1">
                    <a:solidFill>
                      <a:srgbClr val="0070C0"/>
                    </a:solidFill>
                  </a:rPr>
                  <a:t>b</a:t>
                </a:r>
                <a:r>
                  <a:rPr lang="en-US" kern="0" baseline="-25000" dirty="0" err="1">
                    <a:solidFill>
                      <a:srgbClr val="0070C0"/>
                    </a:solidFill>
                  </a:rPr>
                  <a:t>m</a:t>
                </a:r>
                <a:r>
                  <a:rPr lang="en-US" kern="0" dirty="0">
                    <a:solidFill>
                      <a:srgbClr val="0070C0"/>
                    </a:solidFill>
                  </a:rPr>
                  <a:t> </a:t>
                </a:r>
                <a:r>
                  <a:rPr lang="en-US" kern="0" dirty="0" smtClean="0">
                    <a:solidFill>
                      <a:srgbClr val="0070C0"/>
                    </a:solidFill>
                  </a:rPr>
                  <a:t>)</a:t>
                </a:r>
                <a:endParaRPr lang="en-US" b="1" kern="0" dirty="0"/>
              </a:p>
              <a:p>
                <a:pPr>
                  <a:buFont typeface="Wingdings" pitchFamily="2" charset="2"/>
                  <a:buNone/>
                </a:pPr>
                <a:endParaRPr lang="en-US" kern="0" dirty="0"/>
              </a:p>
              <a:p>
                <a:pPr>
                  <a:buNone/>
                </a:pPr>
                <a:r>
                  <a:rPr lang="de-DE" b="1" kern="0" dirty="0"/>
                  <a:t>			</a:t>
                </a:r>
                <a:r>
                  <a:rPr lang="en-US" kern="0" dirty="0"/>
                  <a:t> sk</a:t>
                </a:r>
                <a:r>
                  <a:rPr lang="en-US" kern="0" baseline="-25000" dirty="0"/>
                  <a:t>i 	</a:t>
                </a:r>
                <a:r>
                  <a:rPr lang="en-US" kern="0" dirty="0" smtClean="0"/>
                  <a:t>, </a:t>
                </a:r>
                <a:r>
                  <a:rPr lang="en-US" kern="0" dirty="0"/>
                  <a:t>if b</a:t>
                </a:r>
                <a:r>
                  <a:rPr lang="en-US" kern="0" baseline="-25000" dirty="0"/>
                  <a:t>i</a:t>
                </a:r>
                <a:r>
                  <a:rPr lang="en-US" kern="0" dirty="0"/>
                  <a:t> = 1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US" b="1" kern="0" dirty="0"/>
                  <a:t>Sig: </a:t>
                </a:r>
                <a:r>
                  <a:rPr lang="en-US" kern="0" dirty="0"/>
                  <a:t>sig</a:t>
                </a:r>
                <a:r>
                  <a:rPr lang="en-US" kern="0" baseline="-25000" dirty="0"/>
                  <a:t>i</a:t>
                </a:r>
                <a:r>
                  <a:rPr lang="en-US" b="1" kern="0" dirty="0"/>
                  <a:t> = 	</a:t>
                </a:r>
              </a:p>
              <a:p>
                <a:pPr>
                  <a:buNone/>
                </a:pPr>
                <a:r>
                  <a:rPr lang="de-DE" b="1" kern="0" dirty="0"/>
                  <a:t>			</a:t>
                </a:r>
                <a:r>
                  <a:rPr lang="de-DE" kern="0" dirty="0"/>
                  <a:t>H</a:t>
                </a:r>
                <a:r>
                  <a:rPr lang="en-US" kern="0" dirty="0"/>
                  <a:t>(sk</a:t>
                </a:r>
                <a:r>
                  <a:rPr lang="en-US" kern="0" baseline="-25000" dirty="0"/>
                  <a:t>i</a:t>
                </a:r>
                <a:r>
                  <a:rPr lang="en-US" kern="0" dirty="0"/>
                  <a:t>)  	, otherwise</a:t>
                </a:r>
              </a:p>
              <a:p>
                <a:pPr>
                  <a:buNone/>
                </a:pPr>
                <a:endParaRPr lang="de-DE" b="1" kern="0" dirty="0"/>
              </a:p>
            </p:txBody>
          </p:sp>
        </mc:Choice>
        <mc:Fallback xmlns="">
          <p:sp>
            <p:nvSpPr>
              <p:cNvPr id="4" name="Inhaltsplatzhalt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07" y="1551458"/>
                <a:ext cx="7993062" cy="4541838"/>
              </a:xfrm>
              <a:prstGeom prst="rect">
                <a:avLst/>
              </a:prstGeom>
              <a:blipFill rotWithShape="0">
                <a:blip r:embed="rId2"/>
                <a:stretch>
                  <a:fillRect l="-839" t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Left Brace 42"/>
          <p:cNvSpPr/>
          <p:nvPr/>
        </p:nvSpPr>
        <p:spPr>
          <a:xfrm>
            <a:off x="1763688" y="3674230"/>
            <a:ext cx="216024" cy="122413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4355976" y="4869160"/>
            <a:ext cx="3096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de-DE" b="1" kern="0" dirty="0">
                <a:solidFill>
                  <a:srgbClr val="CC0927"/>
                </a:solidFill>
              </a:rPr>
              <a:t>Checksum with bad performance!</a:t>
            </a:r>
            <a:endParaRPr lang="en-US" b="1" kern="0" dirty="0">
              <a:solidFill>
                <a:srgbClr val="CC0927"/>
              </a:solidFill>
            </a:endParaRPr>
          </a:p>
          <a:p>
            <a:endParaRPr lang="en-US" dirty="0"/>
          </a:p>
        </p:txBody>
      </p:sp>
      <p:sp>
        <p:nvSpPr>
          <p:cNvPr id="56" name="Oval 55"/>
          <p:cNvSpPr/>
          <p:nvPr/>
        </p:nvSpPr>
        <p:spPr>
          <a:xfrm>
            <a:off x="3752932" y="2583566"/>
            <a:ext cx="2088232" cy="576064"/>
          </a:xfrm>
          <a:prstGeom prst="ellipse">
            <a:avLst/>
          </a:prstGeom>
          <a:noFill/>
          <a:ln>
            <a:solidFill>
              <a:srgbClr val="CC09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5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5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Optimized LD-OTS</a:t>
            </a:r>
            <a:endParaRPr lang="en-US" dirty="0"/>
          </a:p>
        </p:txBody>
      </p:sp>
      <p:sp>
        <p:nvSpPr>
          <p:cNvPr id="3" name="Inhaltsplatzhalter 2"/>
          <p:cNvSpPr txBox="1">
            <a:spLocks/>
          </p:cNvSpPr>
          <p:nvPr/>
        </p:nvSpPr>
        <p:spPr>
          <a:xfrm>
            <a:off x="-108519" y="1592263"/>
            <a:ext cx="8640763" cy="4500562"/>
          </a:xfrm>
          <a:prstGeom prst="rect">
            <a:avLst/>
          </a:prstGeom>
        </p:spPr>
        <p:txBody>
          <a:bodyPr/>
          <a:lstStyle>
            <a:lvl1pPr marL="179388" indent="-17938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2pPr>
            <a:lvl3pPr marL="538163" indent="-18732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3pPr>
            <a:lvl4pPr marL="717550" indent="-17303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4pPr>
            <a:lvl5pPr marL="908050" indent="-1889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5pPr>
            <a:lvl6pPr marL="13652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kern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Inhaltsplatzhalter 2"/>
              <p:cNvSpPr txBox="1">
                <a:spLocks/>
              </p:cNvSpPr>
              <p:nvPr/>
            </p:nvSpPr>
            <p:spPr>
              <a:xfrm>
                <a:off x="180207" y="1551458"/>
                <a:ext cx="7993062" cy="4541838"/>
              </a:xfrm>
              <a:prstGeom prst="rect">
                <a:avLst/>
              </a:prstGeom>
            </p:spPr>
            <p:txBody>
              <a:bodyPr/>
              <a:lstStyle>
                <a:lvl1pPr marL="179388" indent="-17938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9250" indent="-1682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2pPr>
                <a:lvl3pPr marL="538163" indent="-1873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3pPr>
                <a:lvl4pPr marL="717550" indent="-1730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</a:defRPr>
                </a:lvl4pPr>
                <a:lvl5pPr marL="908050" indent="-188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</a:defRPr>
                </a:lvl5pPr>
                <a:lvl6pPr marL="1365250" indent="-1889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</a:defRPr>
                </a:lvl6pPr>
                <a:lvl7pPr marL="1822450" indent="-1889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</a:defRPr>
                </a:lvl7pPr>
                <a:lvl8pPr marL="2279650" indent="-1889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</a:defRPr>
                </a:lvl8pPr>
                <a:lvl9pPr marL="2736850" indent="-1889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None/>
                </a:pPr>
                <a:r>
                  <a:rPr lang="en-US" b="1" kern="0" dirty="0"/>
                  <a:t>Message</a:t>
                </a:r>
                <a:r>
                  <a:rPr lang="en-US" kern="0" dirty="0"/>
                  <a:t> M = b</a:t>
                </a:r>
                <a:r>
                  <a:rPr lang="en-US" kern="0" baseline="-25000" dirty="0"/>
                  <a:t>1</a:t>
                </a:r>
                <a:r>
                  <a:rPr lang="en-US" kern="0" dirty="0"/>
                  <a:t>,…,</a:t>
                </a:r>
                <a:r>
                  <a:rPr lang="en-US" kern="0" dirty="0" err="1"/>
                  <a:t>b</a:t>
                </a:r>
                <a:r>
                  <a:rPr lang="en-US" kern="0" baseline="-25000" dirty="0" err="1"/>
                  <a:t>m</a:t>
                </a:r>
                <a:r>
                  <a:rPr lang="en-US" kern="0" dirty="0"/>
                  <a:t>, OWF H                    </a:t>
                </a:r>
              </a:p>
              <a:p>
                <a:pPr>
                  <a:buNone/>
                </a:pPr>
                <a:r>
                  <a:rPr lang="en-US" b="1" kern="0" dirty="0"/>
                  <a:t>SK: </a:t>
                </a:r>
                <a:r>
                  <a:rPr lang="en-US" kern="0" dirty="0"/>
                  <a:t>sk</a:t>
                </a:r>
                <a:r>
                  <a:rPr lang="en-US" kern="0" baseline="-25000" dirty="0"/>
                  <a:t>1</a:t>
                </a:r>
                <a:r>
                  <a:rPr lang="en-US" kern="0" dirty="0"/>
                  <a:t>,…,sk</a:t>
                </a:r>
                <a:r>
                  <a:rPr lang="en-US" kern="0" baseline="-25000" dirty="0"/>
                  <a:t>m</a:t>
                </a:r>
                <a:r>
                  <a:rPr lang="en-US" kern="0" dirty="0"/>
                  <a:t>,sk</a:t>
                </a:r>
                <a:r>
                  <a:rPr lang="en-US" kern="0" baseline="-25000" dirty="0"/>
                  <a:t>m+1</a:t>
                </a:r>
                <a:r>
                  <a:rPr lang="en-US" kern="0" dirty="0"/>
                  <a:t>,…,</a:t>
                </a:r>
                <a:r>
                  <a:rPr lang="en-US" kern="0" dirty="0" smtClean="0"/>
                  <a:t>sk</a:t>
                </a:r>
                <a:r>
                  <a:rPr lang="en-US" kern="0" baseline="-25000" dirty="0" smtClean="0">
                    <a:solidFill>
                      <a:srgbClr val="0070C0"/>
                    </a:solidFill>
                  </a:rPr>
                  <a:t>m+1+log </a:t>
                </a:r>
                <a:r>
                  <a:rPr lang="en-US" kern="0" baseline="-25000" dirty="0">
                    <a:solidFill>
                      <a:srgbClr val="0070C0"/>
                    </a:solidFill>
                  </a:rPr>
                  <a:t>m</a:t>
                </a:r>
              </a:p>
              <a:p>
                <a:pPr>
                  <a:buNone/>
                </a:pPr>
                <a:r>
                  <a:rPr lang="en-US" b="1" kern="0" dirty="0"/>
                  <a:t>PK: </a:t>
                </a:r>
                <a:r>
                  <a:rPr lang="en-US" kern="0" dirty="0"/>
                  <a:t>H(sk</a:t>
                </a:r>
                <a:r>
                  <a:rPr lang="en-US" kern="0" baseline="-25000" dirty="0"/>
                  <a:t>1</a:t>
                </a:r>
                <a:r>
                  <a:rPr lang="en-US" kern="0" dirty="0"/>
                  <a:t>),…,H(</a:t>
                </a:r>
                <a:r>
                  <a:rPr lang="en-US" kern="0" dirty="0" err="1"/>
                  <a:t>sk</a:t>
                </a:r>
                <a:r>
                  <a:rPr lang="en-US" kern="0" baseline="-25000" dirty="0" err="1"/>
                  <a:t>m</a:t>
                </a:r>
                <a:r>
                  <a:rPr lang="en-US" kern="0" dirty="0"/>
                  <a:t>),H(sk</a:t>
                </a:r>
                <a:r>
                  <a:rPr lang="en-US" kern="0" baseline="-25000" dirty="0"/>
                  <a:t>m+1</a:t>
                </a:r>
                <a:r>
                  <a:rPr lang="en-US" kern="0" dirty="0"/>
                  <a:t>),…,</a:t>
                </a:r>
                <a:r>
                  <a:rPr lang="en-US" kern="0" dirty="0" smtClean="0"/>
                  <a:t>H(sk</a:t>
                </a:r>
                <a:r>
                  <a:rPr lang="en-US" kern="0" baseline="-25000" dirty="0" smtClean="0">
                    <a:solidFill>
                      <a:srgbClr val="0070C0"/>
                    </a:solidFill>
                  </a:rPr>
                  <a:t>m+1+log </a:t>
                </a:r>
                <a:r>
                  <a:rPr lang="en-US" kern="0" baseline="-25000" dirty="0">
                    <a:solidFill>
                      <a:srgbClr val="0070C0"/>
                    </a:solidFill>
                  </a:rPr>
                  <a:t>m</a:t>
                </a:r>
                <a:r>
                  <a:rPr lang="en-US" kern="0" dirty="0"/>
                  <a:t>)</a:t>
                </a:r>
                <a:endParaRPr lang="en-US" b="1" kern="0" dirty="0"/>
              </a:p>
              <a:p>
                <a:pPr>
                  <a:buNone/>
                </a:pPr>
                <a:r>
                  <a:rPr lang="de-DE" b="1" kern="0" dirty="0"/>
                  <a:t>Encode M: </a:t>
                </a:r>
                <a:r>
                  <a:rPr lang="de-DE" kern="0" dirty="0"/>
                  <a:t>M‘ =</a:t>
                </a:r>
                <a:r>
                  <a:rPr lang="de-DE" b="1" kern="0" dirty="0"/>
                  <a:t> </a:t>
                </a:r>
                <a:r>
                  <a:rPr lang="en-US" kern="0" dirty="0"/>
                  <a:t>b</a:t>
                </a:r>
                <a:r>
                  <a:rPr lang="en-US" kern="0" baseline="-25000" dirty="0"/>
                  <a:t>1</a:t>
                </a:r>
                <a:r>
                  <a:rPr lang="en-US" kern="0" dirty="0"/>
                  <a:t>,…,</a:t>
                </a:r>
                <a:r>
                  <a:rPr lang="en-US" kern="0" dirty="0" err="1"/>
                  <a:t>b</a:t>
                </a:r>
                <a:r>
                  <a:rPr lang="en-US" kern="0" baseline="-25000" dirty="0" err="1"/>
                  <a:t>m</a:t>
                </a:r>
                <a:r>
                  <a:rPr lang="en-US" kern="0" dirty="0"/>
                  <a:t>,</a:t>
                </a:r>
                <a14:m>
                  <m:oMath xmlns:m="http://schemas.openxmlformats.org/officeDocument/2006/math">
                    <m:r>
                      <a:rPr lang="en-US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nary>
                      <m:naryPr>
                        <m:chr m:val="∑"/>
                        <m:ctrlPr>
                          <a:rPr lang="en-US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de-DE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i="1" ker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ker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 ker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b="1" kern="0" dirty="0"/>
              </a:p>
              <a:p>
                <a:pPr>
                  <a:buFont typeface="Wingdings" pitchFamily="2" charset="2"/>
                  <a:buNone/>
                </a:pPr>
                <a:endParaRPr lang="en-US" kern="0" dirty="0"/>
              </a:p>
              <a:p>
                <a:pPr>
                  <a:buNone/>
                </a:pPr>
                <a:r>
                  <a:rPr lang="de-DE" b="1" kern="0" dirty="0"/>
                  <a:t>			</a:t>
                </a:r>
                <a:r>
                  <a:rPr lang="en-US" kern="0" dirty="0"/>
                  <a:t> sk</a:t>
                </a:r>
                <a:r>
                  <a:rPr lang="en-US" kern="0" baseline="-25000" dirty="0"/>
                  <a:t>i 	</a:t>
                </a:r>
                <a:r>
                  <a:rPr lang="en-US" kern="0" dirty="0"/>
                  <a:t>, if b</a:t>
                </a:r>
                <a:r>
                  <a:rPr lang="en-US" kern="0" baseline="-25000" dirty="0"/>
                  <a:t>i</a:t>
                </a:r>
                <a:r>
                  <a:rPr lang="en-US" kern="0" dirty="0"/>
                  <a:t> = 1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US" b="1" kern="0" dirty="0"/>
                  <a:t>Sig: </a:t>
                </a:r>
                <a:r>
                  <a:rPr lang="en-US" kern="0" dirty="0"/>
                  <a:t>sig</a:t>
                </a:r>
                <a:r>
                  <a:rPr lang="en-US" kern="0" baseline="-25000" dirty="0"/>
                  <a:t>i</a:t>
                </a:r>
                <a:r>
                  <a:rPr lang="en-US" b="1" kern="0" dirty="0"/>
                  <a:t> = 	</a:t>
                </a:r>
              </a:p>
              <a:p>
                <a:pPr>
                  <a:buNone/>
                </a:pPr>
                <a:r>
                  <a:rPr lang="de-DE" b="1" kern="0" dirty="0"/>
                  <a:t>			</a:t>
                </a:r>
                <a:r>
                  <a:rPr lang="de-DE" kern="0" dirty="0"/>
                  <a:t>H</a:t>
                </a:r>
                <a:r>
                  <a:rPr lang="en-US" kern="0" dirty="0"/>
                  <a:t>(sk</a:t>
                </a:r>
                <a:r>
                  <a:rPr lang="en-US" kern="0" baseline="-25000" dirty="0"/>
                  <a:t>i</a:t>
                </a:r>
                <a:r>
                  <a:rPr lang="en-US" kern="0" dirty="0"/>
                  <a:t>)  	, otherwise</a:t>
                </a:r>
              </a:p>
              <a:p>
                <a:pPr>
                  <a:buNone/>
                </a:pPr>
                <a:endParaRPr lang="de-DE" b="1" kern="0" dirty="0"/>
              </a:p>
              <a:p>
                <a:pPr>
                  <a:buNone/>
                </a:pPr>
                <a:r>
                  <a:rPr lang="de-DE" b="1" kern="0" dirty="0"/>
                  <a:t>IF one b</a:t>
                </a:r>
                <a:r>
                  <a:rPr lang="de-DE" b="1" kern="0" baseline="-25000" dirty="0"/>
                  <a:t>i</a:t>
                </a:r>
                <a:r>
                  <a:rPr lang="de-DE" b="1" kern="0" dirty="0"/>
                  <a:t> is flipped from 1 to 0, another b</a:t>
                </a:r>
                <a:r>
                  <a:rPr lang="de-DE" b="1" kern="0" baseline="-25000" dirty="0"/>
                  <a:t>j</a:t>
                </a:r>
                <a:r>
                  <a:rPr lang="de-DE" b="1" kern="0" dirty="0"/>
                  <a:t> will flip from 0 to 1</a:t>
                </a:r>
              </a:p>
              <a:p>
                <a:pPr>
                  <a:buNone/>
                </a:pPr>
                <a:endParaRPr lang="de-DE" b="1" kern="0" dirty="0"/>
              </a:p>
            </p:txBody>
          </p:sp>
        </mc:Choice>
        <mc:Fallback>
          <p:sp>
            <p:nvSpPr>
              <p:cNvPr id="4" name="Inhaltsplatzhalt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07" y="1551458"/>
                <a:ext cx="7993062" cy="4541838"/>
              </a:xfrm>
              <a:prstGeom prst="rect">
                <a:avLst/>
              </a:prstGeom>
              <a:blipFill rotWithShape="0">
                <a:blip r:embed="rId2"/>
                <a:stretch>
                  <a:fillRect l="-839" t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Left Brace 42"/>
          <p:cNvSpPr/>
          <p:nvPr/>
        </p:nvSpPr>
        <p:spPr>
          <a:xfrm>
            <a:off x="1763688" y="3356992"/>
            <a:ext cx="216024" cy="122413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1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 smtClean="0"/>
              <a:t>Function chains</a:t>
            </a:r>
            <a:endParaRPr lang="de-DE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Inhaltsplatzhalt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>
                    <a:solidFill>
                      <a:srgbClr val="00090C"/>
                    </a:solidFill>
                    <a:ea typeface="Verdana" pitchFamily="34" charset="0"/>
                    <a:cs typeface="Verdana" pitchFamily="34" charset="0"/>
                  </a:rPr>
                  <a:t>Function family: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{0,1}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{0,1}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$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r>
                  <a:rPr lang="en-US" dirty="0" smtClean="0">
                    <a:solidFill>
                      <a:srgbClr val="00090C"/>
                    </a:solidFill>
                    <a:ea typeface="Verdana" pitchFamily="34" charset="0"/>
                    <a:cs typeface="Verdana" pitchFamily="34" charset="0"/>
                  </a:rPr>
                  <a:t>Parameter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rgbClr val="00090C"/>
                        </a:solidFill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𝑤</m:t>
                    </m:r>
                  </m:oMath>
                </a14:m>
                <a:endParaRPr lang="en-US" dirty="0" smtClean="0">
                  <a:solidFill>
                    <a:srgbClr val="00090C"/>
                  </a:solidFill>
                  <a:ea typeface="Verdana" pitchFamily="34" charset="0"/>
                  <a:cs typeface="Verdana" pitchFamily="34" charset="0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r>
                  <a:rPr lang="en-US" dirty="0" smtClean="0">
                    <a:solidFill>
                      <a:srgbClr val="00090C"/>
                    </a:solidFill>
                    <a:ea typeface="Verdana" pitchFamily="34" charset="0"/>
                    <a:cs typeface="Verdana" pitchFamily="34" charset="0"/>
                  </a:rPr>
                  <a:t>Chain: </a:t>
                </a:r>
              </a:p>
              <a:p>
                <a:pPr eaLnBrk="1" hangingPunct="1">
                  <a:buFont typeface="Wingdings" pitchFamily="2" charset="2"/>
                  <a:buNone/>
                </a:pPr>
                <a:endParaRPr lang="en-US" b="1" baseline="30000" dirty="0" smtClean="0">
                  <a:solidFill>
                    <a:srgbClr val="00090C"/>
                  </a:solidFill>
                  <a:ea typeface="Verdana" pitchFamily="34" charset="0"/>
                  <a:cs typeface="Verdana" pitchFamily="34" charset="0"/>
                </a:endParaRPr>
              </a:p>
            </p:txBody>
          </p:sp>
        </mc:Choice>
        <mc:Fallback xmlns="">
          <p:sp>
            <p:nvSpPr>
              <p:cNvPr id="1028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4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llipse 6"/>
          <p:cNvSpPr/>
          <p:nvPr/>
        </p:nvSpPr>
        <p:spPr>
          <a:xfrm>
            <a:off x="468313" y="5181600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1116013" y="5181600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0" name="Gerade Verbindung mit Pfeil 9"/>
          <p:cNvCxnSpPr>
            <a:stCxn id="7" idx="6"/>
            <a:endCxn id="8" idx="2"/>
          </p:cNvCxnSpPr>
          <p:nvPr/>
        </p:nvCxnSpPr>
        <p:spPr>
          <a:xfrm>
            <a:off x="684213" y="5289550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/>
          <p:cNvSpPr/>
          <p:nvPr/>
        </p:nvSpPr>
        <p:spPr>
          <a:xfrm>
            <a:off x="1763713" y="5181600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2" name="Ellipse 11"/>
          <p:cNvSpPr/>
          <p:nvPr/>
        </p:nvSpPr>
        <p:spPr>
          <a:xfrm>
            <a:off x="2411413" y="5181600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3" name="Gerade Verbindung mit Pfeil 12"/>
          <p:cNvCxnSpPr>
            <a:stCxn id="11" idx="6"/>
            <a:endCxn id="12" idx="2"/>
          </p:cNvCxnSpPr>
          <p:nvPr/>
        </p:nvCxnSpPr>
        <p:spPr>
          <a:xfrm>
            <a:off x="1979613" y="5289550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/>
          <p:cNvCxnSpPr/>
          <p:nvPr/>
        </p:nvCxnSpPr>
        <p:spPr>
          <a:xfrm>
            <a:off x="1331913" y="5289550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e 14"/>
          <p:cNvSpPr/>
          <p:nvPr/>
        </p:nvSpPr>
        <p:spPr>
          <a:xfrm>
            <a:off x="3059115" y="5181600"/>
            <a:ext cx="217487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6" name="Ellipse 15"/>
          <p:cNvSpPr/>
          <p:nvPr/>
        </p:nvSpPr>
        <p:spPr>
          <a:xfrm>
            <a:off x="3708400" y="5181600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7" name="Gerade Verbindung mit Pfeil 16"/>
          <p:cNvCxnSpPr>
            <a:stCxn id="15" idx="6"/>
            <a:endCxn id="16" idx="2"/>
          </p:cNvCxnSpPr>
          <p:nvPr/>
        </p:nvCxnSpPr>
        <p:spPr>
          <a:xfrm>
            <a:off x="3276600" y="5289550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e 17"/>
          <p:cNvSpPr/>
          <p:nvPr/>
        </p:nvSpPr>
        <p:spPr>
          <a:xfrm>
            <a:off x="4356100" y="5181600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9" name="Ellipse 18"/>
          <p:cNvSpPr/>
          <p:nvPr/>
        </p:nvSpPr>
        <p:spPr>
          <a:xfrm>
            <a:off x="5003800" y="5181600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20" name="Gerade Verbindung mit Pfeil 19"/>
          <p:cNvCxnSpPr>
            <a:stCxn id="18" idx="6"/>
            <a:endCxn id="19" idx="2"/>
          </p:cNvCxnSpPr>
          <p:nvPr/>
        </p:nvCxnSpPr>
        <p:spPr>
          <a:xfrm>
            <a:off x="4572000" y="5289550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/>
          <p:nvPr/>
        </p:nvCxnSpPr>
        <p:spPr>
          <a:xfrm>
            <a:off x="3924300" y="5289550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/>
          <p:nvPr/>
        </p:nvCxnSpPr>
        <p:spPr>
          <a:xfrm>
            <a:off x="2627313" y="5289550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lipse 22"/>
          <p:cNvSpPr/>
          <p:nvPr/>
        </p:nvSpPr>
        <p:spPr>
          <a:xfrm>
            <a:off x="5651500" y="5181600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24" name="Gerade Verbindung mit Pfeil 23"/>
          <p:cNvCxnSpPr>
            <a:endCxn id="23" idx="2"/>
          </p:cNvCxnSpPr>
          <p:nvPr/>
        </p:nvCxnSpPr>
        <p:spPr>
          <a:xfrm>
            <a:off x="5219700" y="5289550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lipse 24"/>
          <p:cNvSpPr/>
          <p:nvPr/>
        </p:nvSpPr>
        <p:spPr>
          <a:xfrm>
            <a:off x="6300788" y="5181600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6948488" y="5181600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27" name="Gerade Verbindung mit Pfeil 26"/>
          <p:cNvCxnSpPr>
            <a:stCxn id="25" idx="6"/>
            <a:endCxn id="26" idx="2"/>
          </p:cNvCxnSpPr>
          <p:nvPr/>
        </p:nvCxnSpPr>
        <p:spPr>
          <a:xfrm>
            <a:off x="6516688" y="5289550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lipse 27"/>
          <p:cNvSpPr/>
          <p:nvPr/>
        </p:nvSpPr>
        <p:spPr>
          <a:xfrm>
            <a:off x="7596188" y="5181600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9" name="Ellipse 28"/>
          <p:cNvSpPr/>
          <p:nvPr/>
        </p:nvSpPr>
        <p:spPr>
          <a:xfrm>
            <a:off x="8243888" y="5181600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30" name="Gerade Verbindung mit Pfeil 29"/>
          <p:cNvCxnSpPr>
            <a:stCxn id="28" idx="6"/>
            <a:endCxn id="29" idx="2"/>
          </p:cNvCxnSpPr>
          <p:nvPr/>
        </p:nvCxnSpPr>
        <p:spPr>
          <a:xfrm>
            <a:off x="7812088" y="5289550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/>
          <p:nvPr/>
        </p:nvCxnSpPr>
        <p:spPr>
          <a:xfrm>
            <a:off x="7164388" y="5289550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/>
          <p:nvPr/>
        </p:nvCxnSpPr>
        <p:spPr>
          <a:xfrm>
            <a:off x="5867400" y="5289550"/>
            <a:ext cx="433388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6" name="Textfeld 32"/>
          <p:cNvSpPr txBox="1">
            <a:spLocks noChangeArrowheads="1"/>
          </p:cNvSpPr>
          <p:nvPr/>
        </p:nvSpPr>
        <p:spPr bwMode="auto">
          <a:xfrm>
            <a:off x="111869" y="4745002"/>
            <a:ext cx="12969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</a:t>
            </a:r>
            <a:r>
              <a:rPr lang="en-US" sz="2000" i="1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0</a:t>
            </a:r>
            <a:r>
              <a:rPr lang="en-US" sz="2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n-US" sz="20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</a:t>
            </a:r>
            <a:r>
              <a:rPr lang="en-US" sz="20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= x</a:t>
            </a:r>
            <a:endParaRPr lang="de-DE" sz="2000" i="1" dirty="0">
              <a:ea typeface="Verdana" pitchFamily="34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7" name="Textfeld 33"/>
              <p:cNvSpPr txBox="1">
                <a:spLocks noChangeArrowheads="1"/>
              </p:cNvSpPr>
              <p:nvPr/>
            </p:nvSpPr>
            <p:spPr bwMode="auto">
              <a:xfrm>
                <a:off x="554557" y="5590735"/>
                <a:ext cx="1810137" cy="3929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Verdana" pitchFamily="34" charset="0"/>
                        <a:cs typeface="Times New Roman" pitchFamily="18" charset="0"/>
                      </a:rPr>
                      <m:t>𝑐</m:t>
                    </m:r>
                    <m:r>
                      <a:rPr lang="en-US" sz="2000" i="1" baseline="30000" dirty="0">
                        <a:latin typeface="Cambria Math" panose="02040503050406030204" pitchFamily="18" charset="0"/>
                        <a:ea typeface="Verdana" pitchFamily="34" charset="0"/>
                        <a:cs typeface="Times New Roman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itchFamily="34" charset="0"/>
                        <a:cs typeface="Times New Roman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itchFamily="34" charset="0"/>
                        <a:cs typeface="Times New Roman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itchFamily="34" charset="0"/>
                        <a:cs typeface="Times New Roman" pitchFamily="18" charset="0"/>
                      </a:rPr>
                      <m:t>) =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de-DE" sz="2000" b="0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h</m:t>
                        </m:r>
                      </m:e>
                      <m:sub>
                        <m:r>
                          <a:rPr lang="de-DE" sz="2000" b="0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𝑘</m:t>
                        </m:r>
                      </m:sub>
                    </m:sSub>
                    <m:r>
                      <a:rPr lang="de-DE" sz="2000" b="0" i="1" dirty="0" smtClean="0">
                        <a:latin typeface="Cambria Math" panose="02040503050406030204" pitchFamily="18" charset="0"/>
                        <a:ea typeface="Verdana" pitchFamily="34" charset="0"/>
                        <a:cs typeface="Times New Roman" pitchFamily="18" charset="0"/>
                      </a:rPr>
                      <m:t>(</m:t>
                    </m:r>
                    <m:r>
                      <a:rPr lang="de-DE" sz="2000" b="0" i="1" dirty="0" smtClean="0">
                        <a:latin typeface="Cambria Math" panose="02040503050406030204" pitchFamily="18" charset="0"/>
                        <a:ea typeface="Verdana" pitchFamily="34" charset="0"/>
                        <a:cs typeface="Times New Roman" pitchFamily="18" charset="0"/>
                      </a:rPr>
                      <m:t>𝑥</m:t>
                    </m:r>
                    <m:r>
                      <a:rPr lang="de-DE" sz="2000" b="0" i="1" dirty="0" smtClean="0">
                        <a:latin typeface="Cambria Math" panose="02040503050406030204" pitchFamily="18" charset="0"/>
                        <a:ea typeface="Verdana" pitchFamily="34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 </a:t>
                </a:r>
                <a:endParaRPr lang="de-DE" sz="1400" dirty="0">
                  <a:ea typeface="Verdan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57" name="Textfeld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4557" y="5590735"/>
                <a:ext cx="1810137" cy="392993"/>
              </a:xfrm>
              <a:prstGeom prst="rect">
                <a:avLst/>
              </a:prstGeom>
              <a:blipFill rotWithShape="0">
                <a:blip r:embed="rId5"/>
                <a:stretch>
                  <a:fillRect b="-1846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Textfeld 34"/>
              <p:cNvSpPr txBox="1">
                <a:spLocks noChangeArrowheads="1"/>
              </p:cNvSpPr>
              <p:nvPr/>
            </p:nvSpPr>
            <p:spPr bwMode="auto">
              <a:xfrm>
                <a:off x="7921691" y="5425283"/>
                <a:ext cx="1330832" cy="4070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  <a:ea typeface="Verdana" pitchFamily="34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de-DE" sz="2000" b="1" i="1" dirty="0" smtClean="0">
                              <a:latin typeface="Cambria Math" panose="02040503050406030204" pitchFamily="18" charset="0"/>
                              <a:ea typeface="Verdana" pitchFamily="34" charset="0"/>
                              <a:cs typeface="Times New Roman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de-DE" sz="2000" b="1" i="1" dirty="0" smtClean="0">
                              <a:latin typeface="Cambria Math" panose="02040503050406030204" pitchFamily="18" charset="0"/>
                              <a:ea typeface="Verdana" pitchFamily="34" charset="0"/>
                              <a:cs typeface="Times New Roman" pitchFamily="18" charset="0"/>
                            </a:rPr>
                            <m:t>𝒘</m:t>
                          </m:r>
                          <m:r>
                            <a:rPr lang="de-DE" sz="2000" b="1" i="1" dirty="0" smtClean="0">
                              <a:latin typeface="Cambria Math" panose="02040503050406030204" pitchFamily="18" charset="0"/>
                              <a:ea typeface="Verdana" pitchFamily="34" charset="0"/>
                              <a:cs typeface="Times New Roman" pitchFamily="18" charset="0"/>
                            </a:rPr>
                            <m:t>−</m:t>
                          </m:r>
                          <m:r>
                            <a:rPr lang="de-DE" sz="2000" b="1" i="1" dirty="0" smtClean="0">
                              <a:latin typeface="Cambria Math" panose="02040503050406030204" pitchFamily="18" charset="0"/>
                              <a:ea typeface="Verdana" pitchFamily="34" charset="0"/>
                              <a:cs typeface="Times New Roman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  <a:ea typeface="Verdana" pitchFamily="34" charset="0"/>
                          <a:cs typeface="Times New Roman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itchFamily="34" charset="0"/>
                          <a:cs typeface="Times New Roman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itchFamily="34" charset="0"/>
                          <a:cs typeface="Times New Roman" pitchFamily="18" charset="0"/>
                        </a:rPr>
                        <m:t>)  </m:t>
                      </m:r>
                    </m:oMath>
                  </m:oMathPara>
                </a14:m>
                <a:endParaRPr lang="de-DE" sz="2000" dirty="0">
                  <a:ea typeface="Verdan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58" name="Textfeld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21691" y="5425283"/>
                <a:ext cx="1330832" cy="407099"/>
              </a:xfrm>
              <a:prstGeom prst="rect">
                <a:avLst/>
              </a:prstGeom>
              <a:blipFill rotWithShape="0">
                <a:blip r:embed="rId6"/>
                <a:stretch>
                  <a:fillRect b="-1492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2" name="Objek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043163"/>
              </p:ext>
            </p:extLst>
          </p:nvPr>
        </p:nvGraphicFramePr>
        <p:xfrm>
          <a:off x="2052285" y="3363913"/>
          <a:ext cx="5032728" cy="853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3" name="Equation" r:id="rId7" imgW="2323800" imgH="393480" progId="Equation.3">
                  <p:embed/>
                </p:oleObj>
              </mc:Choice>
              <mc:Fallback>
                <p:oleObj name="Equation" r:id="rId7" imgW="2323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285" y="3363913"/>
                        <a:ext cx="5032728" cy="85352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99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8" grpId="0" animBg="1"/>
      <p:bldP spid="19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1056" grpId="0"/>
      <p:bldP spid="1057" grpId="0"/>
      <p:bldP spid="105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 smtClean="0"/>
              <a:t>WOTS</a:t>
            </a:r>
            <a:r>
              <a:rPr lang="de-DE" baseline="30000" dirty="0" smtClean="0"/>
              <a:t> </a:t>
            </a:r>
            <a:endParaRPr lang="de-DE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9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94921"/>
                <a:ext cx="7886700" cy="4351338"/>
              </a:xfrm>
            </p:spPr>
            <p:txBody>
              <a:bodyPr/>
              <a:lstStyle/>
              <a:p>
                <a:pPr>
                  <a:buNone/>
                </a:pPr>
                <a:r>
                  <a:rPr lang="en-US" dirty="0" smtClean="0">
                    <a:ea typeface="Verdana" pitchFamily="34" charset="0"/>
                    <a:cs typeface="Verdana" pitchFamily="34" charset="0"/>
                  </a:rPr>
                  <a:t>Winternitz parameter </a:t>
                </a:r>
                <a:r>
                  <a:rPr lang="en-US" b="1" i="1" dirty="0" smtClean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w</a:t>
                </a:r>
                <a:r>
                  <a:rPr lang="en-US" dirty="0" smtClean="0">
                    <a:ea typeface="Verdana" pitchFamily="34" charset="0"/>
                    <a:cs typeface="Verdana" pitchFamily="34" charset="0"/>
                  </a:rPr>
                  <a:t>, security parameter </a:t>
                </a:r>
                <a:r>
                  <a:rPr lang="en-US" b="1" i="1" dirty="0" smtClean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n</a:t>
                </a:r>
                <a:r>
                  <a:rPr lang="en-US" dirty="0" smtClean="0">
                    <a:ea typeface="Verdana" pitchFamily="34" charset="0"/>
                    <a:cs typeface="Verdana" pitchFamily="34" charset="0"/>
                  </a:rPr>
                  <a:t>, message length </a:t>
                </a:r>
                <a:r>
                  <a:rPr lang="en-US" b="1" i="1" dirty="0" smtClean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m</a:t>
                </a:r>
                <a:r>
                  <a:rPr lang="en-US" dirty="0" smtClean="0">
                    <a:ea typeface="Verdana" pitchFamily="34" charset="0"/>
                    <a:cs typeface="Verdana" pitchFamily="34" charset="0"/>
                  </a:rPr>
                  <a:t>, function family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 smtClean="0">
                  <a:ea typeface="Verdana" pitchFamily="34" charset="0"/>
                  <a:cs typeface="Verdana" pitchFamily="34" charset="0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endParaRPr lang="en-US" dirty="0" smtClean="0">
                  <a:ea typeface="Verdana" pitchFamily="34" charset="0"/>
                  <a:cs typeface="Verdana" pitchFamily="34" charset="0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r>
                  <a:rPr lang="en-US" b="1" dirty="0" smtClean="0">
                    <a:ea typeface="Verdana" pitchFamily="34" charset="0"/>
                    <a:cs typeface="Verdana" pitchFamily="34" charset="0"/>
                  </a:rPr>
                  <a:t>Key Generation: </a:t>
                </a:r>
                <a:r>
                  <a:rPr lang="en-US" dirty="0" smtClean="0">
                    <a:ea typeface="Verdana" pitchFamily="34" charset="0"/>
                    <a:cs typeface="Verdana" pitchFamily="34" charset="0"/>
                  </a:rPr>
                  <a:t>Compute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𝑙</m:t>
                    </m:r>
                  </m:oMath>
                </a14:m>
                <a:r>
                  <a:rPr lang="en-US" dirty="0" smtClean="0">
                    <a:ea typeface="Verdana" pitchFamily="34" charset="0"/>
                    <a:cs typeface="Verdana" pitchFamily="34" charset="0"/>
                  </a:rPr>
                  <a:t>,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h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200" dirty="0">
                  <a:ea typeface="Verdana" pitchFamily="34" charset="0"/>
                  <a:cs typeface="Verdana" pitchFamily="34" charset="0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endParaRPr lang="en-US" sz="2200" dirty="0">
                  <a:ea typeface="Verdana" pitchFamily="34" charset="0"/>
                  <a:cs typeface="Verdana" pitchFamily="34" charset="0"/>
                </a:endParaRPr>
              </a:p>
            </p:txBody>
          </p:sp>
        </mc:Choice>
        <mc:Fallback xmlns="">
          <p:sp>
            <p:nvSpPr>
              <p:cNvPr id="4099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94921"/>
                <a:ext cx="7886700" cy="4351338"/>
              </a:xfrm>
              <a:blipFill rotWithShape="0">
                <a:blip r:embed="rId3"/>
                <a:stretch>
                  <a:fillRect l="-1546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llipse 6"/>
          <p:cNvSpPr/>
          <p:nvPr/>
        </p:nvSpPr>
        <p:spPr>
          <a:xfrm>
            <a:off x="468313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1116013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0" name="Gerade Verbindung mit Pfeil 9"/>
          <p:cNvCxnSpPr>
            <a:stCxn id="7" idx="6"/>
            <a:endCxn id="8" idx="2"/>
          </p:cNvCxnSpPr>
          <p:nvPr/>
        </p:nvCxnSpPr>
        <p:spPr>
          <a:xfrm>
            <a:off x="684213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/>
          <p:cNvSpPr/>
          <p:nvPr/>
        </p:nvSpPr>
        <p:spPr>
          <a:xfrm>
            <a:off x="1763713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2" name="Ellipse 11"/>
          <p:cNvSpPr/>
          <p:nvPr/>
        </p:nvSpPr>
        <p:spPr>
          <a:xfrm>
            <a:off x="2411413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3" name="Gerade Verbindung mit Pfeil 12"/>
          <p:cNvCxnSpPr>
            <a:stCxn id="11" idx="6"/>
            <a:endCxn id="12" idx="2"/>
          </p:cNvCxnSpPr>
          <p:nvPr/>
        </p:nvCxnSpPr>
        <p:spPr>
          <a:xfrm>
            <a:off x="1979613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/>
          <p:cNvCxnSpPr/>
          <p:nvPr/>
        </p:nvCxnSpPr>
        <p:spPr>
          <a:xfrm>
            <a:off x="1331913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e 14"/>
          <p:cNvSpPr/>
          <p:nvPr/>
        </p:nvSpPr>
        <p:spPr>
          <a:xfrm>
            <a:off x="3059115" y="5445125"/>
            <a:ext cx="217487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6" name="Ellipse 15"/>
          <p:cNvSpPr/>
          <p:nvPr/>
        </p:nvSpPr>
        <p:spPr>
          <a:xfrm>
            <a:off x="3708400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7" name="Gerade Verbindung mit Pfeil 16"/>
          <p:cNvCxnSpPr>
            <a:stCxn id="15" idx="6"/>
            <a:endCxn id="16" idx="2"/>
          </p:cNvCxnSpPr>
          <p:nvPr/>
        </p:nvCxnSpPr>
        <p:spPr>
          <a:xfrm>
            <a:off x="3276600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e 17"/>
          <p:cNvSpPr/>
          <p:nvPr/>
        </p:nvSpPr>
        <p:spPr>
          <a:xfrm>
            <a:off x="4356100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9" name="Ellipse 18"/>
          <p:cNvSpPr/>
          <p:nvPr/>
        </p:nvSpPr>
        <p:spPr>
          <a:xfrm>
            <a:off x="5003800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20" name="Gerade Verbindung mit Pfeil 19"/>
          <p:cNvCxnSpPr>
            <a:stCxn id="18" idx="6"/>
            <a:endCxn id="19" idx="2"/>
          </p:cNvCxnSpPr>
          <p:nvPr/>
        </p:nvCxnSpPr>
        <p:spPr>
          <a:xfrm>
            <a:off x="4572000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/>
          <p:nvPr/>
        </p:nvCxnSpPr>
        <p:spPr>
          <a:xfrm>
            <a:off x="3924300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/>
          <p:nvPr/>
        </p:nvCxnSpPr>
        <p:spPr>
          <a:xfrm>
            <a:off x="2627313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lipse 22"/>
          <p:cNvSpPr/>
          <p:nvPr/>
        </p:nvSpPr>
        <p:spPr>
          <a:xfrm>
            <a:off x="5651500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24" name="Gerade Verbindung mit Pfeil 23"/>
          <p:cNvCxnSpPr>
            <a:endCxn id="23" idx="2"/>
          </p:cNvCxnSpPr>
          <p:nvPr/>
        </p:nvCxnSpPr>
        <p:spPr>
          <a:xfrm>
            <a:off x="5219700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lipse 24"/>
          <p:cNvSpPr/>
          <p:nvPr/>
        </p:nvSpPr>
        <p:spPr>
          <a:xfrm>
            <a:off x="6300788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6948488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27" name="Gerade Verbindung mit Pfeil 26"/>
          <p:cNvCxnSpPr>
            <a:stCxn id="25" idx="6"/>
            <a:endCxn id="26" idx="2"/>
          </p:cNvCxnSpPr>
          <p:nvPr/>
        </p:nvCxnSpPr>
        <p:spPr>
          <a:xfrm>
            <a:off x="6516688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lipse 27"/>
          <p:cNvSpPr/>
          <p:nvPr/>
        </p:nvSpPr>
        <p:spPr>
          <a:xfrm>
            <a:off x="7596188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9" name="Ellipse 28"/>
          <p:cNvSpPr/>
          <p:nvPr/>
        </p:nvSpPr>
        <p:spPr>
          <a:xfrm>
            <a:off x="8243888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30" name="Gerade Verbindung mit Pfeil 29"/>
          <p:cNvCxnSpPr>
            <a:stCxn id="28" idx="6"/>
            <a:endCxn id="29" idx="2"/>
          </p:cNvCxnSpPr>
          <p:nvPr/>
        </p:nvCxnSpPr>
        <p:spPr>
          <a:xfrm>
            <a:off x="7812088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/>
          <p:nvPr/>
        </p:nvCxnSpPr>
        <p:spPr>
          <a:xfrm>
            <a:off x="7164388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/>
          <p:nvPr/>
        </p:nvCxnSpPr>
        <p:spPr>
          <a:xfrm>
            <a:off x="5867400" y="5553075"/>
            <a:ext cx="433388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6" name="Textfeld 32"/>
          <p:cNvSpPr txBox="1">
            <a:spLocks noChangeArrowheads="1"/>
          </p:cNvSpPr>
          <p:nvPr/>
        </p:nvSpPr>
        <p:spPr bwMode="auto">
          <a:xfrm>
            <a:off x="2" y="5732465"/>
            <a:ext cx="17637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</a:t>
            </a:r>
            <a:r>
              <a:rPr lang="en-US" sz="1400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0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="1" i="1" baseline="-25000" dirty="0" err="1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en-US" sz="1400" b="1" i="1" baseline="-25000" dirty="0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 = </a:t>
            </a:r>
            <a:r>
              <a:rPr lang="en-US" sz="1400" dirty="0" err="1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="1" i="1" baseline="-25000" dirty="0" err="1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en-US" sz="1400" b="1" i="1" baseline="-25000" dirty="0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 </a:t>
            </a:r>
            <a:endParaRPr lang="de-DE" sz="1400" dirty="0">
              <a:solidFill>
                <a:srgbClr val="C00000"/>
              </a:solidFill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4127" name="Textfeld 33"/>
          <p:cNvSpPr txBox="1">
            <a:spLocks noChangeArrowheads="1"/>
          </p:cNvSpPr>
          <p:nvPr/>
        </p:nvSpPr>
        <p:spPr bwMode="auto">
          <a:xfrm>
            <a:off x="755652" y="5060952"/>
            <a:ext cx="10080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</a:t>
            </a:r>
            <a:r>
              <a:rPr lang="en-US" sz="1400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="1" i="1" baseline="-25000" dirty="0" err="1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en-US" sz="1400" b="1" i="1" baseline="-25000" dirty="0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</a:t>
            </a:r>
            <a:endParaRPr lang="de-DE" sz="1400" dirty="0"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4128" name="Textfeld 34"/>
          <p:cNvSpPr txBox="1">
            <a:spLocks noChangeArrowheads="1"/>
          </p:cNvSpPr>
          <p:nvPr/>
        </p:nvSpPr>
        <p:spPr bwMode="auto">
          <a:xfrm>
            <a:off x="7956552" y="5060952"/>
            <a:ext cx="16557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 err="1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pk</a:t>
            </a:r>
            <a:r>
              <a:rPr lang="en-US" sz="1400" b="1" i="1" baseline="-25000" dirty="0" err="1">
                <a:solidFill>
                  <a:srgbClr val="0070C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en-US" sz="1400" baseline="-25000" dirty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= </a:t>
            </a:r>
            <a:r>
              <a:rPr lang="en-US" sz="14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</a:t>
            </a:r>
            <a:r>
              <a:rPr lang="en-US" sz="1400" i="1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w</a:t>
            </a:r>
            <a:r>
              <a:rPr lang="en-US" sz="1400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-1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="1" i="1" baseline="-25000" dirty="0" err="1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en-US" sz="1400" b="1" i="1" baseline="-25000" dirty="0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</a:t>
            </a:r>
            <a:endParaRPr lang="de-DE" sz="1400" dirty="0"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468313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7" name="Ellipse 36"/>
          <p:cNvSpPr/>
          <p:nvPr/>
        </p:nvSpPr>
        <p:spPr>
          <a:xfrm>
            <a:off x="1116013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38" name="Gerade Verbindung mit Pfeil 37"/>
          <p:cNvCxnSpPr>
            <a:stCxn id="36" idx="6"/>
            <a:endCxn id="37" idx="2"/>
          </p:cNvCxnSpPr>
          <p:nvPr/>
        </p:nvCxnSpPr>
        <p:spPr>
          <a:xfrm>
            <a:off x="684213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/>
          <p:cNvSpPr/>
          <p:nvPr/>
        </p:nvSpPr>
        <p:spPr>
          <a:xfrm>
            <a:off x="1763713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0" name="Ellipse 39"/>
          <p:cNvSpPr/>
          <p:nvPr/>
        </p:nvSpPr>
        <p:spPr>
          <a:xfrm>
            <a:off x="2411413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41" name="Gerade Verbindung mit Pfeil 40"/>
          <p:cNvCxnSpPr>
            <a:stCxn id="39" idx="6"/>
            <a:endCxn id="40" idx="2"/>
          </p:cNvCxnSpPr>
          <p:nvPr/>
        </p:nvCxnSpPr>
        <p:spPr>
          <a:xfrm>
            <a:off x="1979613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/>
          <p:cNvCxnSpPr/>
          <p:nvPr/>
        </p:nvCxnSpPr>
        <p:spPr>
          <a:xfrm>
            <a:off x="1331913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lipse 42"/>
          <p:cNvSpPr/>
          <p:nvPr/>
        </p:nvSpPr>
        <p:spPr>
          <a:xfrm>
            <a:off x="3059115" y="3697288"/>
            <a:ext cx="217487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4" name="Ellipse 43"/>
          <p:cNvSpPr/>
          <p:nvPr/>
        </p:nvSpPr>
        <p:spPr>
          <a:xfrm>
            <a:off x="3708400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45" name="Gerade Verbindung mit Pfeil 44"/>
          <p:cNvCxnSpPr>
            <a:stCxn id="43" idx="6"/>
            <a:endCxn id="44" idx="2"/>
          </p:cNvCxnSpPr>
          <p:nvPr/>
        </p:nvCxnSpPr>
        <p:spPr>
          <a:xfrm>
            <a:off x="3276600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lipse 45"/>
          <p:cNvSpPr/>
          <p:nvPr/>
        </p:nvSpPr>
        <p:spPr>
          <a:xfrm>
            <a:off x="4356100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7" name="Ellipse 46"/>
          <p:cNvSpPr/>
          <p:nvPr/>
        </p:nvSpPr>
        <p:spPr>
          <a:xfrm>
            <a:off x="5003800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48" name="Gerade Verbindung mit Pfeil 47"/>
          <p:cNvCxnSpPr>
            <a:stCxn id="46" idx="6"/>
            <a:endCxn id="47" idx="2"/>
          </p:cNvCxnSpPr>
          <p:nvPr/>
        </p:nvCxnSpPr>
        <p:spPr>
          <a:xfrm>
            <a:off x="4572000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/>
          <p:cNvCxnSpPr/>
          <p:nvPr/>
        </p:nvCxnSpPr>
        <p:spPr>
          <a:xfrm>
            <a:off x="3924300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>
            <a:off x="2627313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lipse 50"/>
          <p:cNvSpPr/>
          <p:nvPr/>
        </p:nvSpPr>
        <p:spPr>
          <a:xfrm>
            <a:off x="5651500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52" name="Gerade Verbindung mit Pfeil 51"/>
          <p:cNvCxnSpPr>
            <a:endCxn id="51" idx="2"/>
          </p:cNvCxnSpPr>
          <p:nvPr/>
        </p:nvCxnSpPr>
        <p:spPr>
          <a:xfrm>
            <a:off x="5219700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/>
          <p:cNvSpPr/>
          <p:nvPr/>
        </p:nvSpPr>
        <p:spPr>
          <a:xfrm>
            <a:off x="6300788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54" name="Ellipse 53"/>
          <p:cNvSpPr/>
          <p:nvPr/>
        </p:nvSpPr>
        <p:spPr>
          <a:xfrm>
            <a:off x="6948488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55" name="Gerade Verbindung mit Pfeil 54"/>
          <p:cNvCxnSpPr>
            <a:stCxn id="53" idx="6"/>
            <a:endCxn id="54" idx="2"/>
          </p:cNvCxnSpPr>
          <p:nvPr/>
        </p:nvCxnSpPr>
        <p:spPr>
          <a:xfrm>
            <a:off x="6516688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lipse 55"/>
          <p:cNvSpPr/>
          <p:nvPr/>
        </p:nvSpPr>
        <p:spPr>
          <a:xfrm>
            <a:off x="7596188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57" name="Ellipse 56"/>
          <p:cNvSpPr/>
          <p:nvPr/>
        </p:nvSpPr>
        <p:spPr>
          <a:xfrm>
            <a:off x="8243888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58" name="Gerade Verbindung mit Pfeil 57"/>
          <p:cNvCxnSpPr>
            <a:stCxn id="56" idx="6"/>
            <a:endCxn id="57" idx="2"/>
          </p:cNvCxnSpPr>
          <p:nvPr/>
        </p:nvCxnSpPr>
        <p:spPr>
          <a:xfrm>
            <a:off x="7812088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/>
          <p:nvPr/>
        </p:nvCxnSpPr>
        <p:spPr>
          <a:xfrm>
            <a:off x="7164388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>
            <a:off x="5867400" y="3805238"/>
            <a:ext cx="433388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4" name="Textfeld 60"/>
          <p:cNvSpPr txBox="1">
            <a:spLocks noChangeArrowheads="1"/>
          </p:cNvSpPr>
          <p:nvPr/>
        </p:nvSpPr>
        <p:spPr bwMode="auto">
          <a:xfrm>
            <a:off x="2" y="3359152"/>
            <a:ext cx="17637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</a:t>
            </a:r>
            <a:r>
              <a:rPr lang="en-US" sz="1400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0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n-US" sz="14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aseline="-250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 = </a:t>
            </a:r>
            <a:r>
              <a:rPr lang="en-US" sz="14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aseline="-250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endParaRPr lang="de-DE" sz="1400" dirty="0">
              <a:solidFill>
                <a:srgbClr val="C00000"/>
              </a:solidFill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4155" name="Textfeld 61"/>
          <p:cNvSpPr txBox="1">
            <a:spLocks noChangeArrowheads="1"/>
          </p:cNvSpPr>
          <p:nvPr/>
        </p:nvSpPr>
        <p:spPr bwMode="auto">
          <a:xfrm>
            <a:off x="755652" y="4057652"/>
            <a:ext cx="10080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</a:t>
            </a:r>
            <a:r>
              <a:rPr lang="en-US" sz="1400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n-US" sz="14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aseline="-250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</a:t>
            </a:r>
            <a:endParaRPr lang="de-DE" sz="1400" dirty="0"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4156" name="Textfeld 62"/>
          <p:cNvSpPr txBox="1">
            <a:spLocks noChangeArrowheads="1"/>
          </p:cNvSpPr>
          <p:nvPr/>
        </p:nvSpPr>
        <p:spPr bwMode="auto">
          <a:xfrm>
            <a:off x="7885115" y="3313115"/>
            <a:ext cx="18002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pk</a:t>
            </a:r>
            <a:r>
              <a:rPr lang="en-US" sz="1400" baseline="-25000" dirty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en-US" sz="1400" baseline="-25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= </a:t>
            </a:r>
            <a:r>
              <a:rPr lang="en-US" sz="14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</a:t>
            </a:r>
            <a:r>
              <a:rPr lang="en-US" sz="1400" i="1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w</a:t>
            </a:r>
            <a:r>
              <a:rPr lang="en-US" sz="1400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-1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n-US" sz="14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aseline="-250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</a:t>
            </a:r>
            <a:endParaRPr lang="de-DE" sz="1400" dirty="0">
              <a:ea typeface="Verdana" pitchFamily="34" charset="0"/>
              <a:cs typeface="Times New Roman" pitchFamily="18" charset="0"/>
            </a:endParaRPr>
          </a:p>
        </p:txBody>
      </p:sp>
      <p:pic>
        <p:nvPicPr>
          <p:cNvPr id="4157" name="Picture 18" descr="C:\Users\huelsing\AppData\Local\Microsoft\Windows\Temporary Internet Files\Content.IE5\OYDSBIUA\MC900333394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900" y="4365627"/>
            <a:ext cx="32385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6" name="Gerade Verbindung mit Pfeil 65"/>
          <p:cNvCxnSpPr/>
          <p:nvPr/>
        </p:nvCxnSpPr>
        <p:spPr>
          <a:xfrm flipV="1">
            <a:off x="250825" y="3913190"/>
            <a:ext cx="217488" cy="45243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/>
          <p:cNvCxnSpPr>
            <a:endCxn id="7" idx="1"/>
          </p:cNvCxnSpPr>
          <p:nvPr/>
        </p:nvCxnSpPr>
        <p:spPr>
          <a:xfrm>
            <a:off x="250825" y="4941890"/>
            <a:ext cx="247650" cy="5349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72"/>
          <p:cNvCxnSpPr/>
          <p:nvPr/>
        </p:nvCxnSpPr>
        <p:spPr>
          <a:xfrm>
            <a:off x="4468813" y="4292600"/>
            <a:ext cx="0" cy="768350"/>
          </a:xfrm>
          <a:prstGeom prst="line">
            <a:avLst/>
          </a:prstGeom>
          <a:ln w="317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51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 smtClean="0"/>
              <a:t>WOTS Signature generation</a:t>
            </a:r>
          </a:p>
        </p:txBody>
      </p:sp>
      <p:sp>
        <p:nvSpPr>
          <p:cNvPr id="10" name="Rechteck 9"/>
          <p:cNvSpPr/>
          <p:nvPr/>
        </p:nvSpPr>
        <p:spPr>
          <a:xfrm>
            <a:off x="250827" y="1773238"/>
            <a:ext cx="6049963" cy="2159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2" name="Rechteck 11"/>
          <p:cNvSpPr/>
          <p:nvPr/>
        </p:nvSpPr>
        <p:spPr>
          <a:xfrm>
            <a:off x="250827" y="2781300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b</a:t>
            </a:r>
            <a:r>
              <a:rPr lang="de-DE" sz="14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hteck 12"/>
          <p:cNvSpPr/>
          <p:nvPr/>
        </p:nvSpPr>
        <p:spPr>
          <a:xfrm>
            <a:off x="755650" y="2781300"/>
            <a:ext cx="503238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b</a:t>
            </a:r>
            <a:r>
              <a:rPr lang="de-DE" sz="1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Rechteck 14"/>
          <p:cNvSpPr/>
          <p:nvPr/>
        </p:nvSpPr>
        <p:spPr>
          <a:xfrm>
            <a:off x="1258890" y="2781300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b</a:t>
            </a:r>
            <a:r>
              <a:rPr lang="de-DE" sz="1400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Rechteck 15"/>
          <p:cNvSpPr/>
          <p:nvPr/>
        </p:nvSpPr>
        <p:spPr>
          <a:xfrm>
            <a:off x="1763715" y="2781300"/>
            <a:ext cx="503237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b</a:t>
            </a:r>
            <a:r>
              <a:rPr lang="de-DE" sz="1400" baseline="-25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Rechteck 16"/>
          <p:cNvSpPr/>
          <p:nvPr/>
        </p:nvSpPr>
        <p:spPr>
          <a:xfrm>
            <a:off x="2266952" y="2781300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8" name="Rechteck 17"/>
          <p:cNvSpPr/>
          <p:nvPr/>
        </p:nvSpPr>
        <p:spPr>
          <a:xfrm>
            <a:off x="2771777" y="2781300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9" name="Rechteck 18"/>
          <p:cNvSpPr/>
          <p:nvPr/>
        </p:nvSpPr>
        <p:spPr>
          <a:xfrm>
            <a:off x="3276600" y="2781300"/>
            <a:ext cx="503238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0" name="Rechteck 19"/>
          <p:cNvSpPr/>
          <p:nvPr/>
        </p:nvSpPr>
        <p:spPr>
          <a:xfrm>
            <a:off x="3779840" y="2781300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" name="Rechteck 20"/>
          <p:cNvSpPr/>
          <p:nvPr/>
        </p:nvSpPr>
        <p:spPr>
          <a:xfrm>
            <a:off x="4284665" y="2781300"/>
            <a:ext cx="503237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" name="Rechteck 21"/>
          <p:cNvSpPr/>
          <p:nvPr/>
        </p:nvSpPr>
        <p:spPr>
          <a:xfrm>
            <a:off x="4787902" y="2781300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3" name="Rechteck 22"/>
          <p:cNvSpPr/>
          <p:nvPr/>
        </p:nvSpPr>
        <p:spPr>
          <a:xfrm>
            <a:off x="5292725" y="2781300"/>
            <a:ext cx="503238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4" name="Rechteck 23"/>
          <p:cNvSpPr/>
          <p:nvPr/>
        </p:nvSpPr>
        <p:spPr>
          <a:xfrm>
            <a:off x="5795965" y="2781300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b</a:t>
            </a:r>
            <a:r>
              <a:rPr lang="de-DE" sz="1400" baseline="-25000" dirty="0">
                <a:solidFill>
                  <a:schemeClr val="tx1"/>
                </a:solidFill>
              </a:rPr>
              <a:t>m‘</a:t>
            </a:r>
          </a:p>
        </p:txBody>
      </p:sp>
      <p:sp>
        <p:nvSpPr>
          <p:cNvPr id="25" name="Rechteck 24"/>
          <p:cNvSpPr/>
          <p:nvPr/>
        </p:nvSpPr>
        <p:spPr>
          <a:xfrm>
            <a:off x="6300790" y="2781300"/>
            <a:ext cx="503237" cy="2159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000" dirty="0">
                <a:solidFill>
                  <a:schemeClr val="tx1"/>
                </a:solidFill>
              </a:rPr>
              <a:t>b</a:t>
            </a:r>
            <a:r>
              <a:rPr lang="de-DE" sz="1000" baseline="-25000" dirty="0">
                <a:solidFill>
                  <a:schemeClr val="tx1"/>
                </a:solidFill>
              </a:rPr>
              <a:t>m</a:t>
            </a:r>
            <a:r>
              <a:rPr lang="de-DE" sz="1000" b="1" baseline="-25000" dirty="0">
                <a:solidFill>
                  <a:schemeClr val="tx1"/>
                </a:solidFill>
                <a:latin typeface="French Script MT" pitchFamily="66" charset="0"/>
              </a:rPr>
              <a:t>‘</a:t>
            </a:r>
            <a:r>
              <a:rPr lang="de-DE" sz="1000" baseline="-25000" dirty="0">
                <a:solidFill>
                  <a:schemeClr val="tx1"/>
                </a:solidFill>
              </a:rPr>
              <a:t>+1</a:t>
            </a:r>
          </a:p>
        </p:txBody>
      </p:sp>
      <p:sp>
        <p:nvSpPr>
          <p:cNvPr id="26" name="Rechteck 25"/>
          <p:cNvSpPr/>
          <p:nvPr/>
        </p:nvSpPr>
        <p:spPr>
          <a:xfrm>
            <a:off x="6810375" y="2781300"/>
            <a:ext cx="503238" cy="2159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000" dirty="0">
                <a:solidFill>
                  <a:schemeClr val="tx1"/>
                </a:solidFill>
              </a:rPr>
              <a:t>b</a:t>
            </a:r>
            <a:r>
              <a:rPr lang="de-DE" sz="1000" baseline="-25000" dirty="0">
                <a:solidFill>
                  <a:schemeClr val="tx1"/>
                </a:solidFill>
              </a:rPr>
              <a:t>m‘+2</a:t>
            </a:r>
          </a:p>
        </p:txBody>
      </p:sp>
      <p:sp>
        <p:nvSpPr>
          <p:cNvPr id="27" name="Rechteck 26"/>
          <p:cNvSpPr/>
          <p:nvPr/>
        </p:nvSpPr>
        <p:spPr>
          <a:xfrm>
            <a:off x="7313615" y="2781300"/>
            <a:ext cx="504825" cy="2159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…</a:t>
            </a:r>
            <a:endParaRPr lang="de-DE" sz="1400" baseline="-25000" dirty="0">
              <a:solidFill>
                <a:schemeClr val="tx1"/>
              </a:solidFill>
            </a:endParaRPr>
          </a:p>
        </p:txBody>
      </p:sp>
      <p:sp>
        <p:nvSpPr>
          <p:cNvPr id="28" name="Rechteck 27"/>
          <p:cNvSpPr/>
          <p:nvPr/>
        </p:nvSpPr>
        <p:spPr>
          <a:xfrm>
            <a:off x="7824790" y="2781300"/>
            <a:ext cx="503237" cy="2159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…</a:t>
            </a:r>
            <a:endParaRPr lang="de-DE" sz="1400" baseline="-25000" dirty="0">
              <a:solidFill>
                <a:schemeClr val="tx1"/>
              </a:solidFill>
            </a:endParaRPr>
          </a:p>
        </p:txBody>
      </p:sp>
      <p:sp>
        <p:nvSpPr>
          <p:cNvPr id="29" name="Rechteck 28"/>
          <p:cNvSpPr/>
          <p:nvPr/>
        </p:nvSpPr>
        <p:spPr>
          <a:xfrm>
            <a:off x="8328027" y="2781300"/>
            <a:ext cx="504825" cy="2159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 err="1">
                <a:solidFill>
                  <a:schemeClr val="tx1"/>
                </a:solidFill>
              </a:rPr>
              <a:t>b</a:t>
            </a:r>
            <a:r>
              <a:rPr lang="de-DE" sz="1400" b="1" baseline="-25000" dirty="0" err="1">
                <a:solidFill>
                  <a:schemeClr val="tx1"/>
                </a:solidFill>
                <a:latin typeface="French Script MT" pitchFamily="66" charset="0"/>
              </a:rPr>
              <a:t>l</a:t>
            </a:r>
            <a:r>
              <a:rPr lang="de-DE" sz="1400" b="1" baseline="-25000" dirty="0">
                <a:solidFill>
                  <a:schemeClr val="tx1"/>
                </a:solidFill>
                <a:latin typeface="French Script MT" pitchFamily="66" charset="0"/>
              </a:rPr>
              <a:t> </a:t>
            </a:r>
            <a:endParaRPr lang="de-DE" sz="1400" baseline="-25000" dirty="0">
              <a:solidFill>
                <a:schemeClr val="tx1"/>
              </a:solidFill>
            </a:endParaRPr>
          </a:p>
        </p:txBody>
      </p:sp>
      <p:cxnSp>
        <p:nvCxnSpPr>
          <p:cNvPr id="31" name="Gerade Verbindung mit Pfeil 30"/>
          <p:cNvCxnSpPr>
            <a:stCxn id="10" idx="2"/>
            <a:endCxn id="12" idx="0"/>
          </p:cNvCxnSpPr>
          <p:nvPr/>
        </p:nvCxnSpPr>
        <p:spPr>
          <a:xfrm flipH="1">
            <a:off x="503238" y="1989138"/>
            <a:ext cx="2773362" cy="792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10" idx="2"/>
            <a:endCxn id="13" idx="0"/>
          </p:cNvCxnSpPr>
          <p:nvPr/>
        </p:nvCxnSpPr>
        <p:spPr>
          <a:xfrm flipH="1">
            <a:off x="1008065" y="1989138"/>
            <a:ext cx="2268537" cy="792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/>
          <p:cNvCxnSpPr>
            <a:stCxn id="10" idx="2"/>
          </p:cNvCxnSpPr>
          <p:nvPr/>
        </p:nvCxnSpPr>
        <p:spPr>
          <a:xfrm flipH="1">
            <a:off x="1476377" y="1989138"/>
            <a:ext cx="1800225" cy="792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/>
          <p:cNvCxnSpPr>
            <a:stCxn id="10" idx="2"/>
          </p:cNvCxnSpPr>
          <p:nvPr/>
        </p:nvCxnSpPr>
        <p:spPr>
          <a:xfrm flipH="1">
            <a:off x="1979615" y="1989138"/>
            <a:ext cx="1296987" cy="792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10" idx="2"/>
          </p:cNvCxnSpPr>
          <p:nvPr/>
        </p:nvCxnSpPr>
        <p:spPr>
          <a:xfrm flipH="1">
            <a:off x="2484438" y="1989138"/>
            <a:ext cx="792162" cy="792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>
            <a:stCxn id="10" idx="2"/>
          </p:cNvCxnSpPr>
          <p:nvPr/>
        </p:nvCxnSpPr>
        <p:spPr>
          <a:xfrm flipH="1">
            <a:off x="2987677" y="1989138"/>
            <a:ext cx="288925" cy="792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>
            <a:stCxn id="10" idx="2"/>
            <a:endCxn id="19" idx="0"/>
          </p:cNvCxnSpPr>
          <p:nvPr/>
        </p:nvCxnSpPr>
        <p:spPr>
          <a:xfrm>
            <a:off x="3276602" y="1989138"/>
            <a:ext cx="250825" cy="792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>
            <a:stCxn id="10" idx="2"/>
            <a:endCxn id="20" idx="0"/>
          </p:cNvCxnSpPr>
          <p:nvPr/>
        </p:nvCxnSpPr>
        <p:spPr>
          <a:xfrm>
            <a:off x="3276600" y="1989138"/>
            <a:ext cx="755650" cy="792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>
            <a:stCxn id="10" idx="2"/>
            <a:endCxn id="21" idx="0"/>
          </p:cNvCxnSpPr>
          <p:nvPr/>
        </p:nvCxnSpPr>
        <p:spPr>
          <a:xfrm>
            <a:off x="3276600" y="1989138"/>
            <a:ext cx="1258888" cy="792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0" idx="2"/>
            <a:endCxn id="22" idx="0"/>
          </p:cNvCxnSpPr>
          <p:nvPr/>
        </p:nvCxnSpPr>
        <p:spPr>
          <a:xfrm>
            <a:off x="3276602" y="1989138"/>
            <a:ext cx="1763713" cy="792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>
            <a:stCxn id="10" idx="2"/>
            <a:endCxn id="23" idx="0"/>
          </p:cNvCxnSpPr>
          <p:nvPr/>
        </p:nvCxnSpPr>
        <p:spPr>
          <a:xfrm>
            <a:off x="3276600" y="1989138"/>
            <a:ext cx="2266950" cy="792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/>
          <p:cNvCxnSpPr>
            <a:stCxn id="10" idx="2"/>
            <a:endCxn id="24" idx="0"/>
          </p:cNvCxnSpPr>
          <p:nvPr/>
        </p:nvCxnSpPr>
        <p:spPr>
          <a:xfrm>
            <a:off x="3276602" y="1989138"/>
            <a:ext cx="2771775" cy="792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Geschweifte Klammer rechts 65"/>
          <p:cNvSpPr/>
          <p:nvPr/>
        </p:nvSpPr>
        <p:spPr>
          <a:xfrm rot="5400000">
            <a:off x="3150396" y="99221"/>
            <a:ext cx="252413" cy="6048375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srgbClr val="00090C"/>
              </a:solidFill>
            </a:endParaRPr>
          </a:p>
        </p:txBody>
      </p:sp>
      <p:sp>
        <p:nvSpPr>
          <p:cNvPr id="67" name="Bogen 66"/>
          <p:cNvSpPr/>
          <p:nvPr/>
        </p:nvSpPr>
        <p:spPr>
          <a:xfrm>
            <a:off x="3316290" y="3205165"/>
            <a:ext cx="4249737" cy="1512887"/>
          </a:xfrm>
          <a:prstGeom prst="arc">
            <a:avLst>
              <a:gd name="adj1" fmla="val 108423"/>
              <a:gd name="adj2" fmla="val 10786543"/>
            </a:avLst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68" name="Geschweifte Klammer rechts 67"/>
          <p:cNvSpPr/>
          <p:nvPr/>
        </p:nvSpPr>
        <p:spPr>
          <a:xfrm rot="5400000">
            <a:off x="7434263" y="2582863"/>
            <a:ext cx="252412" cy="2519362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70" name="Rechteck 69"/>
          <p:cNvSpPr/>
          <p:nvPr/>
        </p:nvSpPr>
        <p:spPr>
          <a:xfrm>
            <a:off x="6296219" y="3509769"/>
            <a:ext cx="2527300" cy="2159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C</a:t>
            </a:r>
            <a:endParaRPr lang="de-DE" sz="1400" baseline="-25000" dirty="0">
              <a:solidFill>
                <a:schemeClr val="tx1"/>
              </a:solidFill>
            </a:endParaRPr>
          </a:p>
        </p:txBody>
      </p:sp>
      <p:cxnSp>
        <p:nvCxnSpPr>
          <p:cNvPr id="72" name="Gerade Verbindung 71"/>
          <p:cNvCxnSpPr>
            <a:stCxn id="67" idx="2"/>
            <a:endCxn id="66" idx="1"/>
          </p:cNvCxnSpPr>
          <p:nvPr/>
        </p:nvCxnSpPr>
        <p:spPr>
          <a:xfrm flipH="1" flipV="1">
            <a:off x="3276600" y="3249615"/>
            <a:ext cx="39688" cy="720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mit Pfeil 72"/>
          <p:cNvCxnSpPr>
            <a:stCxn id="70" idx="0"/>
            <a:endCxn id="25" idx="2"/>
          </p:cNvCxnSpPr>
          <p:nvPr/>
        </p:nvCxnSpPr>
        <p:spPr>
          <a:xfrm flipH="1" flipV="1">
            <a:off x="6552409" y="2997200"/>
            <a:ext cx="1007460" cy="5125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/>
          <p:cNvCxnSpPr>
            <a:stCxn id="70" idx="0"/>
            <a:endCxn id="26" idx="2"/>
          </p:cNvCxnSpPr>
          <p:nvPr/>
        </p:nvCxnSpPr>
        <p:spPr>
          <a:xfrm flipH="1" flipV="1">
            <a:off x="7061994" y="2997200"/>
            <a:ext cx="497875" cy="5125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/>
          <p:cNvCxnSpPr>
            <a:stCxn id="70" idx="0"/>
            <a:endCxn id="27" idx="2"/>
          </p:cNvCxnSpPr>
          <p:nvPr/>
        </p:nvCxnSpPr>
        <p:spPr>
          <a:xfrm flipV="1">
            <a:off x="7559869" y="2997200"/>
            <a:ext cx="6159" cy="5125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/>
          <p:cNvCxnSpPr>
            <a:stCxn id="70" idx="0"/>
            <a:endCxn id="28" idx="2"/>
          </p:cNvCxnSpPr>
          <p:nvPr/>
        </p:nvCxnSpPr>
        <p:spPr>
          <a:xfrm flipV="1">
            <a:off x="7559869" y="2997200"/>
            <a:ext cx="516540" cy="5125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 Verbindung mit Pfeil 85"/>
          <p:cNvCxnSpPr>
            <a:stCxn id="70" idx="0"/>
            <a:endCxn id="29" idx="2"/>
          </p:cNvCxnSpPr>
          <p:nvPr/>
        </p:nvCxnSpPr>
        <p:spPr>
          <a:xfrm flipV="1">
            <a:off x="7559869" y="2997200"/>
            <a:ext cx="1020571" cy="5125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Ellipse 148"/>
          <p:cNvSpPr/>
          <p:nvPr/>
        </p:nvSpPr>
        <p:spPr>
          <a:xfrm>
            <a:off x="468313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50" name="Ellipse 149"/>
          <p:cNvSpPr/>
          <p:nvPr/>
        </p:nvSpPr>
        <p:spPr>
          <a:xfrm>
            <a:off x="1116013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51" name="Gerade Verbindung mit Pfeil 150"/>
          <p:cNvCxnSpPr>
            <a:stCxn id="149" idx="6"/>
            <a:endCxn id="150" idx="2"/>
          </p:cNvCxnSpPr>
          <p:nvPr/>
        </p:nvCxnSpPr>
        <p:spPr>
          <a:xfrm>
            <a:off x="684213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Ellipse 151"/>
          <p:cNvSpPr/>
          <p:nvPr/>
        </p:nvSpPr>
        <p:spPr>
          <a:xfrm>
            <a:off x="1763713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53" name="Ellipse 152"/>
          <p:cNvSpPr/>
          <p:nvPr/>
        </p:nvSpPr>
        <p:spPr>
          <a:xfrm>
            <a:off x="2411413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54" name="Gerade Verbindung mit Pfeil 153"/>
          <p:cNvCxnSpPr>
            <a:stCxn id="152" idx="6"/>
            <a:endCxn id="153" idx="2"/>
          </p:cNvCxnSpPr>
          <p:nvPr/>
        </p:nvCxnSpPr>
        <p:spPr>
          <a:xfrm>
            <a:off x="1979613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Gerade Verbindung mit Pfeil 154"/>
          <p:cNvCxnSpPr/>
          <p:nvPr/>
        </p:nvCxnSpPr>
        <p:spPr>
          <a:xfrm>
            <a:off x="1331913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Ellipse 155"/>
          <p:cNvSpPr/>
          <p:nvPr/>
        </p:nvSpPr>
        <p:spPr>
          <a:xfrm>
            <a:off x="3059115" y="5445125"/>
            <a:ext cx="217487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57" name="Ellipse 156"/>
          <p:cNvSpPr/>
          <p:nvPr/>
        </p:nvSpPr>
        <p:spPr>
          <a:xfrm>
            <a:off x="3708400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58" name="Gerade Verbindung mit Pfeil 157"/>
          <p:cNvCxnSpPr>
            <a:stCxn id="156" idx="6"/>
            <a:endCxn id="157" idx="2"/>
          </p:cNvCxnSpPr>
          <p:nvPr/>
        </p:nvCxnSpPr>
        <p:spPr>
          <a:xfrm>
            <a:off x="3276600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Ellipse 158"/>
          <p:cNvSpPr/>
          <p:nvPr/>
        </p:nvSpPr>
        <p:spPr>
          <a:xfrm>
            <a:off x="4356100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60" name="Ellipse 159"/>
          <p:cNvSpPr/>
          <p:nvPr/>
        </p:nvSpPr>
        <p:spPr>
          <a:xfrm>
            <a:off x="5003800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61" name="Gerade Verbindung mit Pfeil 160"/>
          <p:cNvCxnSpPr>
            <a:stCxn id="159" idx="6"/>
            <a:endCxn id="160" idx="2"/>
          </p:cNvCxnSpPr>
          <p:nvPr/>
        </p:nvCxnSpPr>
        <p:spPr>
          <a:xfrm>
            <a:off x="4572000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Gerade Verbindung mit Pfeil 161"/>
          <p:cNvCxnSpPr/>
          <p:nvPr/>
        </p:nvCxnSpPr>
        <p:spPr>
          <a:xfrm>
            <a:off x="3924300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Gerade Verbindung mit Pfeil 162"/>
          <p:cNvCxnSpPr/>
          <p:nvPr/>
        </p:nvCxnSpPr>
        <p:spPr>
          <a:xfrm>
            <a:off x="2627313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Ellipse 163"/>
          <p:cNvSpPr/>
          <p:nvPr/>
        </p:nvSpPr>
        <p:spPr>
          <a:xfrm>
            <a:off x="5651500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65" name="Gerade Verbindung mit Pfeil 164"/>
          <p:cNvCxnSpPr>
            <a:endCxn id="164" idx="2"/>
          </p:cNvCxnSpPr>
          <p:nvPr/>
        </p:nvCxnSpPr>
        <p:spPr>
          <a:xfrm>
            <a:off x="5219700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Ellipse 165"/>
          <p:cNvSpPr/>
          <p:nvPr/>
        </p:nvSpPr>
        <p:spPr>
          <a:xfrm>
            <a:off x="6300788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67" name="Ellipse 166"/>
          <p:cNvSpPr/>
          <p:nvPr/>
        </p:nvSpPr>
        <p:spPr>
          <a:xfrm>
            <a:off x="6948488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68" name="Gerade Verbindung mit Pfeil 167"/>
          <p:cNvCxnSpPr>
            <a:stCxn id="166" idx="6"/>
            <a:endCxn id="167" idx="2"/>
          </p:cNvCxnSpPr>
          <p:nvPr/>
        </p:nvCxnSpPr>
        <p:spPr>
          <a:xfrm>
            <a:off x="6516688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lipse 168"/>
          <p:cNvSpPr/>
          <p:nvPr/>
        </p:nvSpPr>
        <p:spPr>
          <a:xfrm>
            <a:off x="7596188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70" name="Ellipse 169"/>
          <p:cNvSpPr/>
          <p:nvPr/>
        </p:nvSpPr>
        <p:spPr>
          <a:xfrm>
            <a:off x="8243888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71" name="Gerade Verbindung mit Pfeil 170"/>
          <p:cNvCxnSpPr>
            <a:stCxn id="169" idx="6"/>
            <a:endCxn id="170" idx="2"/>
          </p:cNvCxnSpPr>
          <p:nvPr/>
        </p:nvCxnSpPr>
        <p:spPr>
          <a:xfrm>
            <a:off x="7812088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Gerade Verbindung mit Pfeil 171"/>
          <p:cNvCxnSpPr/>
          <p:nvPr/>
        </p:nvCxnSpPr>
        <p:spPr>
          <a:xfrm>
            <a:off x="7164388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Gerade Verbindung mit Pfeil 172"/>
          <p:cNvCxnSpPr/>
          <p:nvPr/>
        </p:nvCxnSpPr>
        <p:spPr>
          <a:xfrm>
            <a:off x="5867400" y="5553075"/>
            <a:ext cx="433388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feld 173"/>
          <p:cNvSpPr txBox="1">
            <a:spLocks noChangeArrowheads="1"/>
          </p:cNvSpPr>
          <p:nvPr/>
        </p:nvSpPr>
        <p:spPr bwMode="auto">
          <a:xfrm>
            <a:off x="2" y="5732465"/>
            <a:ext cx="17637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</a:t>
            </a:r>
            <a:r>
              <a:rPr lang="en-US" sz="1400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0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="1" i="1" baseline="-25000" dirty="0" err="1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en-US" sz="1400" b="1" i="1" baseline="-25000" dirty="0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 = </a:t>
            </a:r>
            <a:r>
              <a:rPr lang="en-US" sz="1400" dirty="0" err="1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="1" i="1" baseline="-25000" dirty="0" err="1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en-US" sz="1400" b="1" i="1" baseline="-25000" dirty="0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 </a:t>
            </a:r>
            <a:endParaRPr lang="de-DE" sz="1400" dirty="0">
              <a:solidFill>
                <a:srgbClr val="C00000"/>
              </a:solidFill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176" name="Textfeld 175"/>
          <p:cNvSpPr txBox="1">
            <a:spLocks noChangeArrowheads="1"/>
          </p:cNvSpPr>
          <p:nvPr/>
        </p:nvSpPr>
        <p:spPr bwMode="auto">
          <a:xfrm>
            <a:off x="7596188" y="5013327"/>
            <a:ext cx="16557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 err="1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pk</a:t>
            </a:r>
            <a:r>
              <a:rPr lang="en-US" sz="1400" b="1" i="1" baseline="-25000" dirty="0" err="1">
                <a:solidFill>
                  <a:srgbClr val="0070C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en-US" sz="1400" baseline="-25000" dirty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= </a:t>
            </a:r>
            <a:r>
              <a:rPr lang="en-US" sz="14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</a:t>
            </a:r>
            <a:r>
              <a:rPr lang="en-US" sz="1400" i="1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w</a:t>
            </a:r>
            <a:r>
              <a:rPr lang="en-US" sz="1400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-1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="1" i="1" baseline="-25000" dirty="0" err="1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en-US" sz="1400" b="1" i="1" baseline="-25000" dirty="0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</a:t>
            </a:r>
            <a:endParaRPr lang="de-DE" sz="1400" dirty="0"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177" name="Ellipse 176"/>
          <p:cNvSpPr/>
          <p:nvPr/>
        </p:nvSpPr>
        <p:spPr>
          <a:xfrm>
            <a:off x="468313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78" name="Ellipse 177"/>
          <p:cNvSpPr/>
          <p:nvPr/>
        </p:nvSpPr>
        <p:spPr>
          <a:xfrm>
            <a:off x="1116013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79" name="Gerade Verbindung mit Pfeil 178"/>
          <p:cNvCxnSpPr>
            <a:stCxn id="177" idx="6"/>
            <a:endCxn id="178" idx="2"/>
          </p:cNvCxnSpPr>
          <p:nvPr/>
        </p:nvCxnSpPr>
        <p:spPr>
          <a:xfrm>
            <a:off x="684213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Ellipse 179"/>
          <p:cNvSpPr/>
          <p:nvPr/>
        </p:nvSpPr>
        <p:spPr>
          <a:xfrm>
            <a:off x="1763713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81" name="Ellipse 180"/>
          <p:cNvSpPr/>
          <p:nvPr/>
        </p:nvSpPr>
        <p:spPr>
          <a:xfrm>
            <a:off x="2411413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82" name="Gerade Verbindung mit Pfeil 181"/>
          <p:cNvCxnSpPr>
            <a:stCxn id="180" idx="6"/>
            <a:endCxn id="181" idx="2"/>
          </p:cNvCxnSpPr>
          <p:nvPr/>
        </p:nvCxnSpPr>
        <p:spPr>
          <a:xfrm>
            <a:off x="1979613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mit Pfeil 182"/>
          <p:cNvCxnSpPr/>
          <p:nvPr/>
        </p:nvCxnSpPr>
        <p:spPr>
          <a:xfrm>
            <a:off x="1331913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Ellipse 183"/>
          <p:cNvSpPr/>
          <p:nvPr/>
        </p:nvSpPr>
        <p:spPr>
          <a:xfrm>
            <a:off x="3059115" y="3697288"/>
            <a:ext cx="217487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85" name="Ellipse 184"/>
          <p:cNvSpPr/>
          <p:nvPr/>
        </p:nvSpPr>
        <p:spPr>
          <a:xfrm>
            <a:off x="3708400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86" name="Gerade Verbindung mit Pfeil 185"/>
          <p:cNvCxnSpPr>
            <a:stCxn id="184" idx="6"/>
            <a:endCxn id="185" idx="2"/>
          </p:cNvCxnSpPr>
          <p:nvPr/>
        </p:nvCxnSpPr>
        <p:spPr>
          <a:xfrm>
            <a:off x="3276600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Ellipse 186"/>
          <p:cNvSpPr/>
          <p:nvPr/>
        </p:nvSpPr>
        <p:spPr>
          <a:xfrm>
            <a:off x="4356100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88" name="Ellipse 187"/>
          <p:cNvSpPr/>
          <p:nvPr/>
        </p:nvSpPr>
        <p:spPr>
          <a:xfrm>
            <a:off x="5003800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89" name="Gerade Verbindung mit Pfeil 188"/>
          <p:cNvCxnSpPr>
            <a:stCxn id="187" idx="6"/>
            <a:endCxn id="188" idx="2"/>
          </p:cNvCxnSpPr>
          <p:nvPr/>
        </p:nvCxnSpPr>
        <p:spPr>
          <a:xfrm>
            <a:off x="4572000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Gerade Verbindung mit Pfeil 189"/>
          <p:cNvCxnSpPr/>
          <p:nvPr/>
        </p:nvCxnSpPr>
        <p:spPr>
          <a:xfrm>
            <a:off x="3924300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Gerade Verbindung mit Pfeil 190"/>
          <p:cNvCxnSpPr/>
          <p:nvPr/>
        </p:nvCxnSpPr>
        <p:spPr>
          <a:xfrm>
            <a:off x="2627313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Ellipse 191"/>
          <p:cNvSpPr/>
          <p:nvPr/>
        </p:nvSpPr>
        <p:spPr>
          <a:xfrm>
            <a:off x="5651500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93" name="Gerade Verbindung mit Pfeil 192"/>
          <p:cNvCxnSpPr>
            <a:endCxn id="192" idx="2"/>
          </p:cNvCxnSpPr>
          <p:nvPr/>
        </p:nvCxnSpPr>
        <p:spPr>
          <a:xfrm>
            <a:off x="5219700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Ellipse 193"/>
          <p:cNvSpPr/>
          <p:nvPr/>
        </p:nvSpPr>
        <p:spPr>
          <a:xfrm>
            <a:off x="6300788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95" name="Ellipse 194"/>
          <p:cNvSpPr/>
          <p:nvPr/>
        </p:nvSpPr>
        <p:spPr>
          <a:xfrm>
            <a:off x="6948488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96" name="Gerade Verbindung mit Pfeil 195"/>
          <p:cNvCxnSpPr>
            <a:stCxn id="194" idx="6"/>
            <a:endCxn id="195" idx="2"/>
          </p:cNvCxnSpPr>
          <p:nvPr/>
        </p:nvCxnSpPr>
        <p:spPr>
          <a:xfrm>
            <a:off x="6516688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Ellipse 196"/>
          <p:cNvSpPr/>
          <p:nvPr/>
        </p:nvSpPr>
        <p:spPr>
          <a:xfrm>
            <a:off x="7596188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98" name="Ellipse 197"/>
          <p:cNvSpPr/>
          <p:nvPr/>
        </p:nvSpPr>
        <p:spPr>
          <a:xfrm>
            <a:off x="8243888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99" name="Gerade Verbindung mit Pfeil 198"/>
          <p:cNvCxnSpPr>
            <a:stCxn id="197" idx="6"/>
            <a:endCxn id="198" idx="2"/>
          </p:cNvCxnSpPr>
          <p:nvPr/>
        </p:nvCxnSpPr>
        <p:spPr>
          <a:xfrm>
            <a:off x="7812088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Gerade Verbindung mit Pfeil 199"/>
          <p:cNvCxnSpPr/>
          <p:nvPr/>
        </p:nvCxnSpPr>
        <p:spPr>
          <a:xfrm>
            <a:off x="7164388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Gerade Verbindung mit Pfeil 200"/>
          <p:cNvCxnSpPr/>
          <p:nvPr/>
        </p:nvCxnSpPr>
        <p:spPr>
          <a:xfrm>
            <a:off x="5867400" y="3805238"/>
            <a:ext cx="433388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feld 201"/>
          <p:cNvSpPr txBox="1">
            <a:spLocks noChangeArrowheads="1"/>
          </p:cNvSpPr>
          <p:nvPr/>
        </p:nvSpPr>
        <p:spPr bwMode="auto">
          <a:xfrm>
            <a:off x="2" y="3359152"/>
            <a:ext cx="17637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</a:t>
            </a:r>
            <a:r>
              <a:rPr lang="en-US" sz="1400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0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n-US" sz="14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aseline="-250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 = </a:t>
            </a:r>
            <a:r>
              <a:rPr lang="en-US" sz="14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aseline="-250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endParaRPr lang="de-DE" sz="1400" dirty="0">
              <a:solidFill>
                <a:srgbClr val="C00000"/>
              </a:solidFill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204" name="Textfeld 203"/>
          <p:cNvSpPr txBox="1">
            <a:spLocks noChangeArrowheads="1"/>
          </p:cNvSpPr>
          <p:nvPr/>
        </p:nvSpPr>
        <p:spPr bwMode="auto">
          <a:xfrm>
            <a:off x="7596190" y="3313115"/>
            <a:ext cx="18002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pk</a:t>
            </a:r>
            <a:r>
              <a:rPr lang="en-US" sz="1400" baseline="-25000" dirty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en-US" sz="1400" baseline="-25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= </a:t>
            </a:r>
            <a:r>
              <a:rPr lang="en-US" sz="14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</a:t>
            </a:r>
            <a:r>
              <a:rPr lang="en-US" sz="1400" i="1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w</a:t>
            </a:r>
            <a:r>
              <a:rPr lang="en-US" sz="1400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-1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n-US" sz="14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aseline="-250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</a:t>
            </a:r>
            <a:endParaRPr lang="de-DE" sz="1400" dirty="0">
              <a:ea typeface="Verdana" pitchFamily="34" charset="0"/>
              <a:cs typeface="Times New Roman" pitchFamily="18" charset="0"/>
            </a:endParaRPr>
          </a:p>
        </p:txBody>
      </p:sp>
      <p:cxnSp>
        <p:nvCxnSpPr>
          <p:cNvPr id="208" name="Gerade Verbindung 207"/>
          <p:cNvCxnSpPr/>
          <p:nvPr/>
        </p:nvCxnSpPr>
        <p:spPr>
          <a:xfrm>
            <a:off x="4468813" y="4292600"/>
            <a:ext cx="0" cy="768350"/>
          </a:xfrm>
          <a:prstGeom prst="line">
            <a:avLst/>
          </a:prstGeom>
          <a:ln w="317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Gerade Verbindung mit Pfeil 209"/>
          <p:cNvCxnSpPr>
            <a:endCxn id="181" idx="0"/>
          </p:cNvCxnSpPr>
          <p:nvPr/>
        </p:nvCxnSpPr>
        <p:spPr>
          <a:xfrm>
            <a:off x="503240" y="1989138"/>
            <a:ext cx="2016125" cy="170815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feld 211"/>
          <p:cNvSpPr txBox="1">
            <a:spLocks noChangeArrowheads="1"/>
          </p:cNvSpPr>
          <p:nvPr/>
        </p:nvSpPr>
        <p:spPr bwMode="auto">
          <a:xfrm>
            <a:off x="2057400" y="3984627"/>
            <a:ext cx="14351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l-GR" sz="14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σ</a:t>
            </a:r>
            <a:r>
              <a:rPr lang="de-DE" sz="1400" baseline="-250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=</a:t>
            </a:r>
            <a:r>
              <a:rPr lang="en-US" sz="1400" i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</a:t>
            </a:r>
            <a:r>
              <a:rPr lang="en-US" sz="1400" baseline="3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b</a:t>
            </a:r>
            <a:r>
              <a:rPr lang="en-US" sz="1400" baseline="200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n-US" sz="14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aseline="-250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 </a:t>
            </a:r>
            <a:endParaRPr lang="de-DE" sz="1400" dirty="0">
              <a:ea typeface="Verdana" pitchFamily="34" charset="0"/>
              <a:cs typeface="Times New Roman" pitchFamily="18" charset="0"/>
            </a:endParaRPr>
          </a:p>
        </p:txBody>
      </p:sp>
      <p:cxnSp>
        <p:nvCxnSpPr>
          <p:cNvPr id="213" name="Gerade Verbindung mit Pfeil 212"/>
          <p:cNvCxnSpPr>
            <a:endCxn id="160" idx="0"/>
          </p:cNvCxnSpPr>
          <p:nvPr/>
        </p:nvCxnSpPr>
        <p:spPr>
          <a:xfrm flipH="1">
            <a:off x="5111750" y="1989140"/>
            <a:ext cx="3468688" cy="3455987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feld 216"/>
          <p:cNvSpPr txBox="1">
            <a:spLocks noChangeArrowheads="1"/>
          </p:cNvSpPr>
          <p:nvPr/>
        </p:nvSpPr>
        <p:spPr bwMode="auto">
          <a:xfrm>
            <a:off x="4645025" y="5732465"/>
            <a:ext cx="12954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l-GR" sz="14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σ</a:t>
            </a:r>
            <a:r>
              <a:rPr lang="en-US" sz="1400" b="1" i="1" baseline="-25000" dirty="0">
                <a:solidFill>
                  <a:srgbClr val="7030A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en-US" sz="1400" baseline="-250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de-DE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=</a:t>
            </a:r>
            <a:r>
              <a:rPr lang="en-US" sz="1400" i="1" dirty="0" err="1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</a:t>
            </a:r>
            <a:r>
              <a:rPr lang="en-US" sz="1400" baseline="30000" dirty="0" err="1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b</a:t>
            </a:r>
            <a:r>
              <a:rPr lang="de-DE" sz="1400" b="1" baseline="20000" dirty="0"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de-DE" sz="1400" b="1" baseline="-25000" dirty="0"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sk</a:t>
            </a:r>
            <a:r>
              <a:rPr lang="en-US" sz="1400" b="1" i="1" baseline="-25000" dirty="0" err="1">
                <a:solidFill>
                  <a:srgbClr val="C0000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en-US" sz="1400" baseline="-250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 </a:t>
            </a:r>
            <a:endParaRPr lang="de-DE" sz="1400" dirty="0"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103" name="Rechteck 110"/>
          <p:cNvSpPr/>
          <p:nvPr/>
        </p:nvSpPr>
        <p:spPr>
          <a:xfrm>
            <a:off x="367342" y="4347103"/>
            <a:ext cx="2404458" cy="95410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sz="2800" dirty="0" err="1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Signature</a:t>
            </a:r>
            <a:r>
              <a:rPr lang="de-DE" sz="28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: </a:t>
            </a:r>
            <a:br>
              <a:rPr lang="de-DE" sz="28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</a:br>
            <a:r>
              <a:rPr lang="el-GR" sz="28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σ </a:t>
            </a:r>
            <a:r>
              <a:rPr lang="de-DE" sz="28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= (</a:t>
            </a:r>
            <a:r>
              <a:rPr lang="el-GR" sz="28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σ</a:t>
            </a:r>
            <a:r>
              <a:rPr lang="de-DE" sz="2800" baseline="-250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de-DE" sz="28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, …,</a:t>
            </a:r>
            <a:r>
              <a:rPr lang="de-DE" sz="2800" baseline="-250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l-GR" sz="28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σ</a:t>
            </a:r>
            <a:r>
              <a:rPr lang="en-US" sz="2800" b="1" i="1" baseline="-25000" dirty="0">
                <a:solidFill>
                  <a:srgbClr val="7030A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en-US" sz="2800" baseline="-250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de-DE" sz="28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293938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6 L -4.72222E-6 -0.14699 " pathEditMode="relative" rAng="0" ptsTypes="AA">
                                      <p:cBhvr>
                                        <p:cTn id="1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4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" pathEditMode="relative" ptsTypes="AA">
                                      <p:cBhvr>
                                        <p:cTn id="1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66" grpId="0" animBg="1"/>
      <p:bldP spid="66" grpId="1" animBg="1"/>
      <p:bldP spid="68" grpId="0" animBg="1"/>
      <p:bldP spid="68" grpId="1" animBg="1"/>
      <p:bldP spid="70" grpId="0" animBg="1"/>
      <p:bldP spid="70" grpId="1" animBg="1"/>
      <p:bldP spid="149" grpId="0" animBg="1"/>
      <p:bldP spid="150" grpId="0" animBg="1"/>
      <p:bldP spid="152" grpId="0" animBg="1"/>
      <p:bldP spid="153" grpId="0" animBg="1"/>
      <p:bldP spid="156" grpId="0" animBg="1"/>
      <p:bldP spid="157" grpId="0" animBg="1"/>
      <p:bldP spid="159" grpId="0" animBg="1"/>
      <p:bldP spid="160" grpId="0" animBg="1"/>
      <p:bldP spid="164" grpId="0" animBg="1"/>
      <p:bldP spid="166" grpId="0" animBg="1"/>
      <p:bldP spid="167" grpId="0" animBg="1"/>
      <p:bldP spid="169" grpId="0" animBg="1"/>
      <p:bldP spid="170" grpId="0" animBg="1"/>
      <p:bldP spid="174" grpId="0"/>
      <p:bldP spid="176" grpId="0"/>
      <p:bldP spid="177" grpId="0" animBg="1"/>
      <p:bldP spid="178" grpId="0" animBg="1"/>
      <p:bldP spid="180" grpId="0" animBg="1"/>
      <p:bldP spid="181" grpId="0" animBg="1"/>
      <p:bldP spid="184" grpId="0" animBg="1"/>
      <p:bldP spid="185" grpId="0" animBg="1"/>
      <p:bldP spid="187" grpId="0" animBg="1"/>
      <p:bldP spid="188" grpId="0" animBg="1"/>
      <p:bldP spid="192" grpId="0" animBg="1"/>
      <p:bldP spid="194" grpId="0" animBg="1"/>
      <p:bldP spid="195" grpId="0" animBg="1"/>
      <p:bldP spid="197" grpId="0" animBg="1"/>
      <p:bldP spid="198" grpId="0" animBg="1"/>
      <p:bldP spid="202" grpId="0"/>
      <p:bldP spid="204" grpId="0"/>
      <p:bldP spid="212" grpId="0"/>
      <p:bldP spid="217" grpId="0"/>
      <p:bldP spid="10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 smtClean="0"/>
              <a:t>WOTS Signature Verification</a:t>
            </a:r>
          </a:p>
        </p:txBody>
      </p:sp>
      <p:sp>
        <p:nvSpPr>
          <p:cNvPr id="12" name="Rechteck 11"/>
          <p:cNvSpPr/>
          <p:nvPr/>
        </p:nvSpPr>
        <p:spPr>
          <a:xfrm>
            <a:off x="106934" y="2349004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b</a:t>
            </a:r>
            <a:r>
              <a:rPr lang="de-DE" sz="14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hteck 12"/>
          <p:cNvSpPr/>
          <p:nvPr/>
        </p:nvSpPr>
        <p:spPr>
          <a:xfrm>
            <a:off x="611757" y="2349004"/>
            <a:ext cx="503238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b</a:t>
            </a:r>
            <a:r>
              <a:rPr lang="de-DE" sz="1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Rechteck 14"/>
          <p:cNvSpPr/>
          <p:nvPr/>
        </p:nvSpPr>
        <p:spPr>
          <a:xfrm>
            <a:off x="1114997" y="2349004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b</a:t>
            </a:r>
            <a:r>
              <a:rPr lang="de-DE" sz="1400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Rechteck 15"/>
          <p:cNvSpPr/>
          <p:nvPr/>
        </p:nvSpPr>
        <p:spPr>
          <a:xfrm>
            <a:off x="1619822" y="2349004"/>
            <a:ext cx="503237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b</a:t>
            </a:r>
            <a:r>
              <a:rPr lang="de-DE" sz="1400" baseline="-25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Rechteck 16"/>
          <p:cNvSpPr/>
          <p:nvPr/>
        </p:nvSpPr>
        <p:spPr>
          <a:xfrm>
            <a:off x="2123059" y="2349004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8" name="Rechteck 17"/>
          <p:cNvSpPr/>
          <p:nvPr/>
        </p:nvSpPr>
        <p:spPr>
          <a:xfrm>
            <a:off x="2627884" y="2349004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9" name="Rechteck 18"/>
          <p:cNvSpPr/>
          <p:nvPr/>
        </p:nvSpPr>
        <p:spPr>
          <a:xfrm>
            <a:off x="3132707" y="2349004"/>
            <a:ext cx="503238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0" name="Rechteck 19"/>
          <p:cNvSpPr/>
          <p:nvPr/>
        </p:nvSpPr>
        <p:spPr>
          <a:xfrm>
            <a:off x="3635947" y="2349004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" name="Rechteck 20"/>
          <p:cNvSpPr/>
          <p:nvPr/>
        </p:nvSpPr>
        <p:spPr>
          <a:xfrm>
            <a:off x="4140772" y="2349004"/>
            <a:ext cx="503237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" name="Rechteck 21"/>
          <p:cNvSpPr/>
          <p:nvPr/>
        </p:nvSpPr>
        <p:spPr>
          <a:xfrm>
            <a:off x="4644009" y="2349004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3" name="Rechteck 22"/>
          <p:cNvSpPr/>
          <p:nvPr/>
        </p:nvSpPr>
        <p:spPr>
          <a:xfrm>
            <a:off x="5148832" y="2349004"/>
            <a:ext cx="503238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baseline="-25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4" name="Rechteck 23"/>
          <p:cNvSpPr/>
          <p:nvPr/>
        </p:nvSpPr>
        <p:spPr>
          <a:xfrm>
            <a:off x="5652072" y="2349004"/>
            <a:ext cx="504825" cy="2159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b</a:t>
            </a:r>
            <a:r>
              <a:rPr lang="de-DE" sz="1400" baseline="-25000" dirty="0">
                <a:solidFill>
                  <a:schemeClr val="tx1"/>
                </a:solidFill>
              </a:rPr>
              <a:t>m‘</a:t>
            </a:r>
          </a:p>
        </p:txBody>
      </p:sp>
      <p:sp>
        <p:nvSpPr>
          <p:cNvPr id="25" name="Rechteck 24"/>
          <p:cNvSpPr/>
          <p:nvPr/>
        </p:nvSpPr>
        <p:spPr>
          <a:xfrm>
            <a:off x="6156897" y="2349004"/>
            <a:ext cx="503237" cy="2159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000" dirty="0">
                <a:solidFill>
                  <a:schemeClr val="tx1"/>
                </a:solidFill>
              </a:rPr>
              <a:t>b</a:t>
            </a:r>
            <a:r>
              <a:rPr lang="de-DE" sz="1000" baseline="-25000" dirty="0">
                <a:solidFill>
                  <a:schemeClr val="tx1"/>
                </a:solidFill>
              </a:rPr>
              <a:t>m‘+1</a:t>
            </a:r>
          </a:p>
        </p:txBody>
      </p:sp>
      <p:sp>
        <p:nvSpPr>
          <p:cNvPr id="26" name="Rechteck 25"/>
          <p:cNvSpPr/>
          <p:nvPr/>
        </p:nvSpPr>
        <p:spPr>
          <a:xfrm>
            <a:off x="6666482" y="2349004"/>
            <a:ext cx="503238" cy="2159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000" dirty="0" err="1">
                <a:solidFill>
                  <a:schemeClr val="tx1"/>
                </a:solidFill>
              </a:rPr>
              <a:t>b</a:t>
            </a:r>
            <a:r>
              <a:rPr lang="de-DE" sz="1000" b="1" baseline="-25000" dirty="0" err="1">
                <a:solidFill>
                  <a:schemeClr val="tx1"/>
                </a:solidFill>
                <a:latin typeface="French Script MT" pitchFamily="66" charset="0"/>
              </a:rPr>
              <a:t>l</a:t>
            </a:r>
            <a:r>
              <a:rPr lang="de-DE" sz="1000" b="1" baseline="-25000" dirty="0">
                <a:solidFill>
                  <a:schemeClr val="tx1"/>
                </a:solidFill>
                <a:latin typeface="French Script MT" pitchFamily="66" charset="0"/>
              </a:rPr>
              <a:t> </a:t>
            </a:r>
            <a:r>
              <a:rPr lang="de-DE" sz="1000" baseline="-25000" dirty="0">
                <a:solidFill>
                  <a:schemeClr val="tx1"/>
                </a:solidFill>
              </a:rPr>
              <a:t>1+2</a:t>
            </a:r>
          </a:p>
        </p:txBody>
      </p:sp>
      <p:sp>
        <p:nvSpPr>
          <p:cNvPr id="27" name="Rechteck 26"/>
          <p:cNvSpPr/>
          <p:nvPr/>
        </p:nvSpPr>
        <p:spPr>
          <a:xfrm>
            <a:off x="7169722" y="2349004"/>
            <a:ext cx="504825" cy="2159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…</a:t>
            </a:r>
            <a:endParaRPr lang="de-DE" sz="1400" baseline="-25000" dirty="0">
              <a:solidFill>
                <a:schemeClr val="tx1"/>
              </a:solidFill>
            </a:endParaRPr>
          </a:p>
        </p:txBody>
      </p:sp>
      <p:sp>
        <p:nvSpPr>
          <p:cNvPr id="28" name="Rechteck 27"/>
          <p:cNvSpPr/>
          <p:nvPr/>
        </p:nvSpPr>
        <p:spPr>
          <a:xfrm>
            <a:off x="7680897" y="2349004"/>
            <a:ext cx="503237" cy="2159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1"/>
                </a:solidFill>
              </a:rPr>
              <a:t>…</a:t>
            </a:r>
            <a:endParaRPr lang="de-DE" sz="1400" baseline="-25000" dirty="0">
              <a:solidFill>
                <a:schemeClr val="tx1"/>
              </a:solidFill>
            </a:endParaRPr>
          </a:p>
        </p:txBody>
      </p:sp>
      <p:sp>
        <p:nvSpPr>
          <p:cNvPr id="29" name="Rechteck 28"/>
          <p:cNvSpPr/>
          <p:nvPr/>
        </p:nvSpPr>
        <p:spPr>
          <a:xfrm>
            <a:off x="8184134" y="2349004"/>
            <a:ext cx="504825" cy="2159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 err="1">
                <a:solidFill>
                  <a:schemeClr val="tx1"/>
                </a:solidFill>
              </a:rPr>
              <a:t>b</a:t>
            </a:r>
            <a:r>
              <a:rPr lang="de-DE" sz="1400" b="1" baseline="-25000" dirty="0" err="1">
                <a:solidFill>
                  <a:schemeClr val="tx1"/>
                </a:solidFill>
                <a:latin typeface="French Script MT" pitchFamily="66" charset="0"/>
              </a:rPr>
              <a:t>l</a:t>
            </a:r>
            <a:r>
              <a:rPr lang="de-DE" sz="1400" b="1" baseline="-25000" dirty="0">
                <a:solidFill>
                  <a:schemeClr val="tx1"/>
                </a:solidFill>
                <a:latin typeface="French Script MT" pitchFamily="66" charset="0"/>
              </a:rPr>
              <a:t> </a:t>
            </a:r>
            <a:endParaRPr lang="de-DE" sz="1400" baseline="-25000" dirty="0">
              <a:solidFill>
                <a:schemeClr val="tx1"/>
              </a:solidFill>
            </a:endParaRPr>
          </a:p>
        </p:txBody>
      </p:sp>
      <p:sp>
        <p:nvSpPr>
          <p:cNvPr id="149" name="Ellipse 148"/>
          <p:cNvSpPr/>
          <p:nvPr/>
        </p:nvSpPr>
        <p:spPr>
          <a:xfrm>
            <a:off x="324420" y="5445125"/>
            <a:ext cx="215900" cy="215900"/>
          </a:xfrm>
          <a:prstGeom prst="ellipse">
            <a:avLst/>
          </a:prstGeom>
          <a:noFill/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50" name="Ellipse 149"/>
          <p:cNvSpPr/>
          <p:nvPr/>
        </p:nvSpPr>
        <p:spPr>
          <a:xfrm>
            <a:off x="972120" y="5445125"/>
            <a:ext cx="215900" cy="215900"/>
          </a:xfrm>
          <a:prstGeom prst="ellipse">
            <a:avLst/>
          </a:prstGeom>
          <a:noFill/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51" name="Gerade Verbindung mit Pfeil 150"/>
          <p:cNvCxnSpPr>
            <a:stCxn id="149" idx="6"/>
            <a:endCxn id="150" idx="2"/>
          </p:cNvCxnSpPr>
          <p:nvPr/>
        </p:nvCxnSpPr>
        <p:spPr>
          <a:xfrm>
            <a:off x="540320" y="5553075"/>
            <a:ext cx="431800" cy="0"/>
          </a:xfrm>
          <a:prstGeom prst="straightConnector1">
            <a:avLst/>
          </a:prstGeom>
          <a:ln w="22225"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Ellipse 151"/>
          <p:cNvSpPr/>
          <p:nvPr/>
        </p:nvSpPr>
        <p:spPr>
          <a:xfrm>
            <a:off x="1619820" y="5445125"/>
            <a:ext cx="215900" cy="215900"/>
          </a:xfrm>
          <a:prstGeom prst="ellipse">
            <a:avLst/>
          </a:prstGeom>
          <a:noFill/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53" name="Ellipse 152"/>
          <p:cNvSpPr/>
          <p:nvPr/>
        </p:nvSpPr>
        <p:spPr>
          <a:xfrm>
            <a:off x="2267520" y="5445125"/>
            <a:ext cx="215900" cy="215900"/>
          </a:xfrm>
          <a:prstGeom prst="ellipse">
            <a:avLst/>
          </a:prstGeom>
          <a:noFill/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54" name="Gerade Verbindung mit Pfeil 153"/>
          <p:cNvCxnSpPr>
            <a:stCxn id="152" idx="6"/>
            <a:endCxn id="153" idx="2"/>
          </p:cNvCxnSpPr>
          <p:nvPr/>
        </p:nvCxnSpPr>
        <p:spPr>
          <a:xfrm>
            <a:off x="1835720" y="5553075"/>
            <a:ext cx="431800" cy="0"/>
          </a:xfrm>
          <a:prstGeom prst="straightConnector1">
            <a:avLst/>
          </a:prstGeom>
          <a:ln w="22225"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Gerade Verbindung mit Pfeil 154"/>
          <p:cNvCxnSpPr/>
          <p:nvPr/>
        </p:nvCxnSpPr>
        <p:spPr>
          <a:xfrm>
            <a:off x="1188020" y="5553075"/>
            <a:ext cx="431800" cy="0"/>
          </a:xfrm>
          <a:prstGeom prst="straightConnector1">
            <a:avLst/>
          </a:prstGeom>
          <a:ln w="22225"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Ellipse 155"/>
          <p:cNvSpPr/>
          <p:nvPr/>
        </p:nvSpPr>
        <p:spPr>
          <a:xfrm>
            <a:off x="2915222" y="5445125"/>
            <a:ext cx="217487" cy="215900"/>
          </a:xfrm>
          <a:prstGeom prst="ellipse">
            <a:avLst/>
          </a:prstGeom>
          <a:noFill/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57" name="Ellipse 156"/>
          <p:cNvSpPr/>
          <p:nvPr/>
        </p:nvSpPr>
        <p:spPr>
          <a:xfrm>
            <a:off x="3564507" y="5445125"/>
            <a:ext cx="215900" cy="215900"/>
          </a:xfrm>
          <a:prstGeom prst="ellipse">
            <a:avLst/>
          </a:prstGeom>
          <a:noFill/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58" name="Gerade Verbindung mit Pfeil 157"/>
          <p:cNvCxnSpPr>
            <a:stCxn id="156" idx="6"/>
            <a:endCxn id="157" idx="2"/>
          </p:cNvCxnSpPr>
          <p:nvPr/>
        </p:nvCxnSpPr>
        <p:spPr>
          <a:xfrm>
            <a:off x="3132707" y="5553075"/>
            <a:ext cx="431800" cy="0"/>
          </a:xfrm>
          <a:prstGeom prst="straightConnector1">
            <a:avLst/>
          </a:prstGeom>
          <a:ln w="22225"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Ellipse 158"/>
          <p:cNvSpPr/>
          <p:nvPr/>
        </p:nvSpPr>
        <p:spPr>
          <a:xfrm>
            <a:off x="4212207" y="5445125"/>
            <a:ext cx="215900" cy="215900"/>
          </a:xfrm>
          <a:prstGeom prst="ellipse">
            <a:avLst/>
          </a:prstGeom>
          <a:noFill/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60" name="Ellipse 159"/>
          <p:cNvSpPr/>
          <p:nvPr/>
        </p:nvSpPr>
        <p:spPr>
          <a:xfrm>
            <a:off x="4859907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61" name="Gerade Verbindung mit Pfeil 160"/>
          <p:cNvCxnSpPr>
            <a:stCxn id="159" idx="6"/>
            <a:endCxn id="160" idx="2"/>
          </p:cNvCxnSpPr>
          <p:nvPr/>
        </p:nvCxnSpPr>
        <p:spPr>
          <a:xfrm>
            <a:off x="4428107" y="5553075"/>
            <a:ext cx="431800" cy="0"/>
          </a:xfrm>
          <a:prstGeom prst="straightConnector1">
            <a:avLst/>
          </a:prstGeom>
          <a:ln w="22225"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Gerade Verbindung mit Pfeil 161"/>
          <p:cNvCxnSpPr/>
          <p:nvPr/>
        </p:nvCxnSpPr>
        <p:spPr>
          <a:xfrm>
            <a:off x="3780407" y="5553075"/>
            <a:ext cx="431800" cy="0"/>
          </a:xfrm>
          <a:prstGeom prst="straightConnector1">
            <a:avLst/>
          </a:prstGeom>
          <a:ln w="22225"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Gerade Verbindung mit Pfeil 162"/>
          <p:cNvCxnSpPr/>
          <p:nvPr/>
        </p:nvCxnSpPr>
        <p:spPr>
          <a:xfrm>
            <a:off x="2483420" y="5553075"/>
            <a:ext cx="431800" cy="0"/>
          </a:xfrm>
          <a:prstGeom prst="straightConnector1">
            <a:avLst/>
          </a:prstGeom>
          <a:ln w="22225"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Ellipse 163"/>
          <p:cNvSpPr/>
          <p:nvPr/>
        </p:nvSpPr>
        <p:spPr>
          <a:xfrm>
            <a:off x="5507607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65" name="Gerade Verbindung mit Pfeil 164"/>
          <p:cNvCxnSpPr>
            <a:endCxn id="164" idx="2"/>
          </p:cNvCxnSpPr>
          <p:nvPr/>
        </p:nvCxnSpPr>
        <p:spPr>
          <a:xfrm>
            <a:off x="5075807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Ellipse 165"/>
          <p:cNvSpPr/>
          <p:nvPr/>
        </p:nvSpPr>
        <p:spPr>
          <a:xfrm>
            <a:off x="6156895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67" name="Ellipse 166"/>
          <p:cNvSpPr/>
          <p:nvPr/>
        </p:nvSpPr>
        <p:spPr>
          <a:xfrm>
            <a:off x="6804595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68" name="Gerade Verbindung mit Pfeil 167"/>
          <p:cNvCxnSpPr>
            <a:stCxn id="166" idx="6"/>
            <a:endCxn id="167" idx="2"/>
          </p:cNvCxnSpPr>
          <p:nvPr/>
        </p:nvCxnSpPr>
        <p:spPr>
          <a:xfrm>
            <a:off x="6372795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Ellipse 168"/>
          <p:cNvSpPr/>
          <p:nvPr/>
        </p:nvSpPr>
        <p:spPr>
          <a:xfrm>
            <a:off x="7452295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70" name="Ellipse 169"/>
          <p:cNvSpPr/>
          <p:nvPr/>
        </p:nvSpPr>
        <p:spPr>
          <a:xfrm>
            <a:off x="8099995" y="5445125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71" name="Gerade Verbindung mit Pfeil 170"/>
          <p:cNvCxnSpPr>
            <a:stCxn id="169" idx="6"/>
            <a:endCxn id="170" idx="2"/>
          </p:cNvCxnSpPr>
          <p:nvPr/>
        </p:nvCxnSpPr>
        <p:spPr>
          <a:xfrm>
            <a:off x="7668195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Gerade Verbindung mit Pfeil 171"/>
          <p:cNvCxnSpPr/>
          <p:nvPr/>
        </p:nvCxnSpPr>
        <p:spPr>
          <a:xfrm>
            <a:off x="7020495" y="5553075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Gerade Verbindung mit Pfeil 172"/>
          <p:cNvCxnSpPr/>
          <p:nvPr/>
        </p:nvCxnSpPr>
        <p:spPr>
          <a:xfrm>
            <a:off x="5723507" y="5553075"/>
            <a:ext cx="433388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feld 175"/>
          <p:cNvSpPr txBox="1">
            <a:spLocks noChangeArrowheads="1"/>
          </p:cNvSpPr>
          <p:nvPr/>
        </p:nvSpPr>
        <p:spPr bwMode="auto">
          <a:xfrm>
            <a:off x="8676456" y="5094151"/>
            <a:ext cx="16557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 err="1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pk</a:t>
            </a:r>
            <a:r>
              <a:rPr lang="en-US" sz="1400" b="1" i="1" baseline="-25000" dirty="0" err="1">
                <a:solidFill>
                  <a:srgbClr val="0070C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endParaRPr lang="de-DE" sz="1400" dirty="0"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177" name="Ellipse 176"/>
          <p:cNvSpPr/>
          <p:nvPr/>
        </p:nvSpPr>
        <p:spPr>
          <a:xfrm>
            <a:off x="324420" y="3697288"/>
            <a:ext cx="215900" cy="215900"/>
          </a:xfrm>
          <a:prstGeom prst="ellipse">
            <a:avLst/>
          </a:prstGeom>
          <a:noFill/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78" name="Ellipse 177"/>
          <p:cNvSpPr/>
          <p:nvPr/>
        </p:nvSpPr>
        <p:spPr>
          <a:xfrm>
            <a:off x="972120" y="3697288"/>
            <a:ext cx="215900" cy="215900"/>
          </a:xfrm>
          <a:prstGeom prst="ellipse">
            <a:avLst/>
          </a:prstGeom>
          <a:noFill/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79" name="Gerade Verbindung mit Pfeil 178"/>
          <p:cNvCxnSpPr>
            <a:stCxn id="177" idx="6"/>
            <a:endCxn id="178" idx="2"/>
          </p:cNvCxnSpPr>
          <p:nvPr/>
        </p:nvCxnSpPr>
        <p:spPr>
          <a:xfrm>
            <a:off x="540320" y="3805238"/>
            <a:ext cx="431800" cy="0"/>
          </a:xfrm>
          <a:prstGeom prst="straightConnector1">
            <a:avLst/>
          </a:prstGeom>
          <a:ln w="22225"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Ellipse 179"/>
          <p:cNvSpPr/>
          <p:nvPr/>
        </p:nvSpPr>
        <p:spPr>
          <a:xfrm>
            <a:off x="1619820" y="3697288"/>
            <a:ext cx="215900" cy="215900"/>
          </a:xfrm>
          <a:prstGeom prst="ellipse">
            <a:avLst/>
          </a:prstGeom>
          <a:noFill/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81" name="Ellipse 180"/>
          <p:cNvSpPr/>
          <p:nvPr/>
        </p:nvSpPr>
        <p:spPr>
          <a:xfrm>
            <a:off x="2267520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82" name="Gerade Verbindung mit Pfeil 181"/>
          <p:cNvCxnSpPr>
            <a:stCxn id="180" idx="6"/>
            <a:endCxn id="181" idx="2"/>
          </p:cNvCxnSpPr>
          <p:nvPr/>
        </p:nvCxnSpPr>
        <p:spPr>
          <a:xfrm>
            <a:off x="1835720" y="3805238"/>
            <a:ext cx="431800" cy="0"/>
          </a:xfrm>
          <a:prstGeom prst="straightConnector1">
            <a:avLst/>
          </a:prstGeom>
          <a:ln w="22225"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mit Pfeil 182"/>
          <p:cNvCxnSpPr/>
          <p:nvPr/>
        </p:nvCxnSpPr>
        <p:spPr>
          <a:xfrm>
            <a:off x="1188020" y="3805238"/>
            <a:ext cx="431800" cy="0"/>
          </a:xfrm>
          <a:prstGeom prst="straightConnector1">
            <a:avLst/>
          </a:prstGeom>
          <a:ln w="22225"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Ellipse 183"/>
          <p:cNvSpPr/>
          <p:nvPr/>
        </p:nvSpPr>
        <p:spPr>
          <a:xfrm>
            <a:off x="2915222" y="3697288"/>
            <a:ext cx="217487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85" name="Ellipse 184"/>
          <p:cNvSpPr/>
          <p:nvPr/>
        </p:nvSpPr>
        <p:spPr>
          <a:xfrm>
            <a:off x="3564507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86" name="Gerade Verbindung mit Pfeil 185"/>
          <p:cNvCxnSpPr>
            <a:stCxn id="184" idx="6"/>
            <a:endCxn id="185" idx="2"/>
          </p:cNvCxnSpPr>
          <p:nvPr/>
        </p:nvCxnSpPr>
        <p:spPr>
          <a:xfrm>
            <a:off x="3132707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Ellipse 186"/>
          <p:cNvSpPr/>
          <p:nvPr/>
        </p:nvSpPr>
        <p:spPr>
          <a:xfrm>
            <a:off x="4212207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88" name="Ellipse 187"/>
          <p:cNvSpPr/>
          <p:nvPr/>
        </p:nvSpPr>
        <p:spPr>
          <a:xfrm>
            <a:off x="4859907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89" name="Gerade Verbindung mit Pfeil 188"/>
          <p:cNvCxnSpPr>
            <a:stCxn id="187" idx="6"/>
            <a:endCxn id="188" idx="2"/>
          </p:cNvCxnSpPr>
          <p:nvPr/>
        </p:nvCxnSpPr>
        <p:spPr>
          <a:xfrm>
            <a:off x="4428107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Gerade Verbindung mit Pfeil 189"/>
          <p:cNvCxnSpPr/>
          <p:nvPr/>
        </p:nvCxnSpPr>
        <p:spPr>
          <a:xfrm>
            <a:off x="3780407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Gerade Verbindung mit Pfeil 190"/>
          <p:cNvCxnSpPr/>
          <p:nvPr/>
        </p:nvCxnSpPr>
        <p:spPr>
          <a:xfrm>
            <a:off x="2483420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Ellipse 191"/>
          <p:cNvSpPr/>
          <p:nvPr/>
        </p:nvSpPr>
        <p:spPr>
          <a:xfrm>
            <a:off x="5507607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93" name="Gerade Verbindung mit Pfeil 192"/>
          <p:cNvCxnSpPr>
            <a:endCxn id="192" idx="2"/>
          </p:cNvCxnSpPr>
          <p:nvPr/>
        </p:nvCxnSpPr>
        <p:spPr>
          <a:xfrm>
            <a:off x="5075807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Ellipse 193"/>
          <p:cNvSpPr/>
          <p:nvPr/>
        </p:nvSpPr>
        <p:spPr>
          <a:xfrm>
            <a:off x="6156895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95" name="Ellipse 194"/>
          <p:cNvSpPr/>
          <p:nvPr/>
        </p:nvSpPr>
        <p:spPr>
          <a:xfrm>
            <a:off x="6804595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96" name="Gerade Verbindung mit Pfeil 195"/>
          <p:cNvCxnSpPr>
            <a:stCxn id="194" idx="6"/>
            <a:endCxn id="195" idx="2"/>
          </p:cNvCxnSpPr>
          <p:nvPr/>
        </p:nvCxnSpPr>
        <p:spPr>
          <a:xfrm>
            <a:off x="6372795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Ellipse 196"/>
          <p:cNvSpPr/>
          <p:nvPr/>
        </p:nvSpPr>
        <p:spPr>
          <a:xfrm>
            <a:off x="7452295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98" name="Ellipse 197"/>
          <p:cNvSpPr/>
          <p:nvPr/>
        </p:nvSpPr>
        <p:spPr>
          <a:xfrm>
            <a:off x="8099995" y="369728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99" name="Gerade Verbindung mit Pfeil 198"/>
          <p:cNvCxnSpPr>
            <a:stCxn id="197" idx="6"/>
            <a:endCxn id="198" idx="2"/>
          </p:cNvCxnSpPr>
          <p:nvPr/>
        </p:nvCxnSpPr>
        <p:spPr>
          <a:xfrm>
            <a:off x="7668195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Gerade Verbindung mit Pfeil 199"/>
          <p:cNvCxnSpPr/>
          <p:nvPr/>
        </p:nvCxnSpPr>
        <p:spPr>
          <a:xfrm>
            <a:off x="7020495" y="3805238"/>
            <a:ext cx="4318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Gerade Verbindung mit Pfeil 200"/>
          <p:cNvCxnSpPr/>
          <p:nvPr/>
        </p:nvCxnSpPr>
        <p:spPr>
          <a:xfrm>
            <a:off x="5723507" y="3805238"/>
            <a:ext cx="433388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feld 203"/>
          <p:cNvSpPr txBox="1">
            <a:spLocks noChangeArrowheads="1"/>
          </p:cNvSpPr>
          <p:nvPr/>
        </p:nvSpPr>
        <p:spPr bwMode="auto">
          <a:xfrm>
            <a:off x="8667468" y="3331045"/>
            <a:ext cx="18002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pk</a:t>
            </a:r>
            <a:r>
              <a:rPr lang="en-US" sz="1400" baseline="-25000" dirty="0">
                <a:solidFill>
                  <a:srgbClr val="0070C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endParaRPr lang="de-DE" sz="1400" dirty="0">
              <a:ea typeface="Verdana" pitchFamily="34" charset="0"/>
              <a:cs typeface="Times New Roman" pitchFamily="18" charset="0"/>
            </a:endParaRPr>
          </a:p>
        </p:txBody>
      </p:sp>
      <p:cxnSp>
        <p:nvCxnSpPr>
          <p:cNvPr id="208" name="Gerade Verbindung 207"/>
          <p:cNvCxnSpPr/>
          <p:nvPr/>
        </p:nvCxnSpPr>
        <p:spPr>
          <a:xfrm>
            <a:off x="4324920" y="4292600"/>
            <a:ext cx="0" cy="768350"/>
          </a:xfrm>
          <a:prstGeom prst="line">
            <a:avLst/>
          </a:prstGeom>
          <a:ln w="317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Gerade Verbindung mit Pfeil 209"/>
          <p:cNvCxnSpPr>
            <a:endCxn id="181" idx="0"/>
          </p:cNvCxnSpPr>
          <p:nvPr/>
        </p:nvCxnSpPr>
        <p:spPr>
          <a:xfrm>
            <a:off x="359347" y="2564904"/>
            <a:ext cx="2016125" cy="113238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Gerade Verbindung mit Pfeil 212"/>
          <p:cNvCxnSpPr>
            <a:stCxn id="29" idx="2"/>
            <a:endCxn id="160" idx="0"/>
          </p:cNvCxnSpPr>
          <p:nvPr/>
        </p:nvCxnSpPr>
        <p:spPr>
          <a:xfrm flipH="1">
            <a:off x="4967857" y="2564906"/>
            <a:ext cx="3468688" cy="2880221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hteck 101"/>
          <p:cNvSpPr/>
          <p:nvPr/>
        </p:nvSpPr>
        <p:spPr>
          <a:xfrm>
            <a:off x="221475" y="4216652"/>
            <a:ext cx="2549341" cy="95410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sz="2800" dirty="0" err="1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Signature</a:t>
            </a:r>
            <a:r>
              <a:rPr lang="de-DE" sz="28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: </a:t>
            </a:r>
            <a:br>
              <a:rPr lang="de-DE" sz="28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</a:br>
            <a:r>
              <a:rPr lang="el-GR" sz="28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σ </a:t>
            </a:r>
            <a:r>
              <a:rPr lang="de-DE" sz="28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= </a:t>
            </a:r>
            <a:r>
              <a:rPr lang="de-DE" sz="2800" dirty="0" smtClean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</a:t>
            </a:r>
            <a:r>
              <a:rPr lang="el-GR" sz="2800" dirty="0" smtClean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σ</a:t>
            </a:r>
            <a:r>
              <a:rPr lang="de-DE" sz="2800" baseline="-25000" dirty="0" smtClean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r>
              <a:rPr lang="de-DE" sz="2800" dirty="0" smtClean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, …,</a:t>
            </a:r>
            <a:r>
              <a:rPr lang="de-DE" sz="2800" baseline="-25000" dirty="0" smtClean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el-GR" sz="2800" dirty="0" smtClean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σ</a:t>
            </a:r>
            <a:r>
              <a:rPr lang="en-US" sz="2800" b="1" i="1" baseline="-25000" dirty="0" smtClean="0">
                <a:solidFill>
                  <a:srgbClr val="7030A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</a:t>
            </a:r>
            <a:r>
              <a:rPr lang="de-DE" sz="2800" dirty="0" smtClean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</a:t>
            </a:r>
            <a:endParaRPr lang="de-DE" sz="2800" dirty="0">
              <a:solidFill>
                <a:srgbClr val="7030A0"/>
              </a:solidFill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103" name="Textfeld 102"/>
          <p:cNvSpPr txBox="1">
            <a:spLocks noChangeArrowheads="1"/>
          </p:cNvSpPr>
          <p:nvPr/>
        </p:nvSpPr>
        <p:spPr bwMode="auto">
          <a:xfrm>
            <a:off x="2235632" y="3861050"/>
            <a:ext cx="14351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l-GR" sz="14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σ</a:t>
            </a:r>
            <a:r>
              <a:rPr lang="de-DE" sz="1400" baseline="-250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1</a:t>
            </a:r>
            <a:endParaRPr lang="de-DE" sz="1400" dirty="0"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105" name="Textfeld 104"/>
          <p:cNvSpPr txBox="1">
            <a:spLocks noChangeArrowheads="1"/>
          </p:cNvSpPr>
          <p:nvPr/>
        </p:nvSpPr>
        <p:spPr bwMode="auto">
          <a:xfrm>
            <a:off x="4788024" y="5661250"/>
            <a:ext cx="12954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l-GR" sz="1400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σ</a:t>
            </a:r>
            <a:r>
              <a:rPr lang="en-US" sz="1400" b="1" i="1" baseline="-25000" dirty="0">
                <a:solidFill>
                  <a:srgbClr val="7030A0"/>
                </a:solidFill>
                <a:latin typeface="French Script MT" pitchFamily="66" charset="0"/>
                <a:ea typeface="Verdana" pitchFamily="34" charset="0"/>
                <a:cs typeface="Times New Roman" pitchFamily="18" charset="0"/>
              </a:rPr>
              <a:t>l</a:t>
            </a:r>
            <a:endParaRPr lang="de-DE" sz="1400" dirty="0"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111" name="Ellipse 110"/>
          <p:cNvSpPr/>
          <p:nvPr/>
        </p:nvSpPr>
        <p:spPr>
          <a:xfrm>
            <a:off x="8748588" y="5445348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12" name="Ellipse 111"/>
          <p:cNvSpPr/>
          <p:nvPr/>
        </p:nvSpPr>
        <p:spPr>
          <a:xfrm>
            <a:off x="8748588" y="3697511"/>
            <a:ext cx="215900" cy="2159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feld 112"/>
              <p:cNvSpPr txBox="1">
                <a:spLocks noChangeArrowheads="1"/>
              </p:cNvSpPr>
              <p:nvPr/>
            </p:nvSpPr>
            <p:spPr bwMode="auto">
              <a:xfrm>
                <a:off x="2699793" y="3331045"/>
                <a:ext cx="1080615" cy="3125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𝒄</m:t>
                        </m:r>
                      </m:e>
                      <m:sup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1400" baseline="20000" dirty="0" smtClean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 </a:t>
                </a:r>
                <a:r>
                  <a:rPr lang="en-US" sz="1400" dirty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(</a:t>
                </a:r>
                <a:r>
                  <a:rPr lang="el-GR" sz="1400" dirty="0">
                    <a:solidFill>
                      <a:srgbClr val="7030A0"/>
                    </a:solidFill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σ</a:t>
                </a:r>
                <a:r>
                  <a:rPr lang="de-DE" sz="1400" baseline="-25000" dirty="0">
                    <a:solidFill>
                      <a:srgbClr val="7030A0"/>
                    </a:solidFill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1</a:t>
                </a:r>
                <a:r>
                  <a:rPr lang="en-US" sz="1400" dirty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)</a:t>
                </a:r>
                <a:endParaRPr lang="de-DE" sz="1400" dirty="0">
                  <a:solidFill>
                    <a:srgbClr val="C00000"/>
                  </a:solidFill>
                  <a:ea typeface="Verdan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3" name="Textfeld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9793" y="3331045"/>
                <a:ext cx="1080615" cy="312586"/>
              </a:xfrm>
              <a:prstGeom prst="rect">
                <a:avLst/>
              </a:prstGeom>
              <a:blipFill rotWithShape="0">
                <a:blip r:embed="rId3"/>
                <a:stretch>
                  <a:fillRect t="-1923" b="-1730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feld 113"/>
              <p:cNvSpPr txBox="1">
                <a:spLocks noChangeArrowheads="1"/>
              </p:cNvSpPr>
              <p:nvPr/>
            </p:nvSpPr>
            <p:spPr bwMode="auto">
              <a:xfrm>
                <a:off x="3419379" y="3985321"/>
                <a:ext cx="1080615" cy="3125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𝒄</m:t>
                        </m:r>
                      </m:e>
                      <m:sup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400" dirty="0" smtClean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(</a:t>
                </a:r>
                <a:r>
                  <a:rPr lang="el-GR" sz="1400" dirty="0">
                    <a:solidFill>
                      <a:srgbClr val="7030A0"/>
                    </a:solidFill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σ</a:t>
                </a:r>
                <a:r>
                  <a:rPr lang="de-DE" sz="1400" baseline="-25000" dirty="0">
                    <a:solidFill>
                      <a:srgbClr val="7030A0"/>
                    </a:solidFill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1</a:t>
                </a:r>
                <a:r>
                  <a:rPr lang="en-US" sz="1400" dirty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)</a:t>
                </a:r>
                <a:endParaRPr lang="de-DE" sz="1400" dirty="0">
                  <a:solidFill>
                    <a:srgbClr val="C00000"/>
                  </a:solidFill>
                  <a:ea typeface="Verdan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4" name="Textfeld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379" y="3985321"/>
                <a:ext cx="1080615" cy="312586"/>
              </a:xfrm>
              <a:prstGeom prst="rect">
                <a:avLst/>
              </a:prstGeom>
              <a:blipFill rotWithShape="0">
                <a:blip r:embed="rId4"/>
                <a:stretch>
                  <a:fillRect t="-3922" b="-1764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feld 114"/>
              <p:cNvSpPr txBox="1">
                <a:spLocks noChangeArrowheads="1"/>
              </p:cNvSpPr>
              <p:nvPr/>
            </p:nvSpPr>
            <p:spPr bwMode="auto">
              <a:xfrm>
                <a:off x="3995443" y="3337249"/>
                <a:ext cx="1080615" cy="3125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𝒄</m:t>
                        </m:r>
                      </m:e>
                      <m:sup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1400" dirty="0" smtClean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(</a:t>
                </a:r>
                <a:r>
                  <a:rPr lang="el-GR" sz="1400" dirty="0">
                    <a:solidFill>
                      <a:srgbClr val="7030A0"/>
                    </a:solidFill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σ</a:t>
                </a:r>
                <a:r>
                  <a:rPr lang="de-DE" sz="1400" baseline="-25000" dirty="0">
                    <a:solidFill>
                      <a:srgbClr val="7030A0"/>
                    </a:solidFill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1</a:t>
                </a:r>
                <a:r>
                  <a:rPr lang="en-US" sz="1400" dirty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)</a:t>
                </a:r>
                <a:endParaRPr lang="de-DE" sz="1400" dirty="0">
                  <a:solidFill>
                    <a:srgbClr val="C00000"/>
                  </a:solidFill>
                  <a:ea typeface="Verdan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5" name="Textfeld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443" y="3337249"/>
                <a:ext cx="1080615" cy="312586"/>
              </a:xfrm>
              <a:prstGeom prst="rect">
                <a:avLst/>
              </a:prstGeom>
              <a:blipFill rotWithShape="0">
                <a:blip r:embed="rId5"/>
                <a:stretch>
                  <a:fillRect t="-1923" b="-1730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feld 115"/>
              <p:cNvSpPr txBox="1">
                <a:spLocks noChangeArrowheads="1"/>
              </p:cNvSpPr>
              <p:nvPr/>
            </p:nvSpPr>
            <p:spPr bwMode="auto">
              <a:xfrm>
                <a:off x="7680897" y="4012611"/>
                <a:ext cx="1175307" cy="3158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𝒄</m:t>
                        </m:r>
                      </m:e>
                      <m:sup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𝒘</m:t>
                        </m:r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−</m:t>
                        </m:r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𝟏</m:t>
                        </m:r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sz="1400" b="1" i="1" dirty="0" smtClean="0">
                                <a:latin typeface="Cambria Math" panose="02040503050406030204" pitchFamily="18" charset="0"/>
                                <a:ea typeface="Verdana" pitchFamily="34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de-DE" sz="1400" b="1" i="1" dirty="0" smtClean="0">
                                <a:latin typeface="Cambria Math" panose="02040503050406030204" pitchFamily="18" charset="0"/>
                                <a:ea typeface="Verdana" pitchFamily="34" charset="0"/>
                                <a:cs typeface="Times New Roman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de-DE" sz="1400" b="1" i="1" dirty="0" smtClean="0">
                                <a:latin typeface="Cambria Math" panose="02040503050406030204" pitchFamily="18" charset="0"/>
                                <a:ea typeface="Verdana" pitchFamily="34" charset="0"/>
                                <a:cs typeface="Times New Roman" pitchFamily="18" charset="0"/>
                              </a:rPr>
                              <m:t>𝟏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1400" i="1" dirty="0" smtClean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 </a:t>
                </a:r>
                <a:r>
                  <a:rPr lang="en-US" sz="1400" dirty="0" smtClean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(</a:t>
                </a:r>
                <a:r>
                  <a:rPr lang="el-GR" sz="1400" dirty="0">
                    <a:solidFill>
                      <a:srgbClr val="7030A0"/>
                    </a:solidFill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σ</a:t>
                </a:r>
                <a:r>
                  <a:rPr lang="de-DE" sz="1400" baseline="-25000" dirty="0">
                    <a:solidFill>
                      <a:srgbClr val="7030A0"/>
                    </a:solidFill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1</a:t>
                </a:r>
                <a:r>
                  <a:rPr lang="en-US" sz="1400" dirty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)</a:t>
                </a:r>
                <a:endParaRPr lang="de-DE" sz="1400" dirty="0">
                  <a:solidFill>
                    <a:srgbClr val="C00000"/>
                  </a:solidFill>
                  <a:ea typeface="Verdan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6" name="Textfeld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80897" y="4012611"/>
                <a:ext cx="1175307" cy="315856"/>
              </a:xfrm>
              <a:prstGeom prst="rect">
                <a:avLst/>
              </a:prstGeom>
              <a:blipFill rotWithShape="0">
                <a:blip r:embed="rId6"/>
                <a:stretch>
                  <a:fillRect t="-1923" b="-1923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feld 116"/>
              <p:cNvSpPr txBox="1">
                <a:spLocks noChangeArrowheads="1"/>
              </p:cNvSpPr>
              <p:nvPr/>
            </p:nvSpPr>
            <p:spPr bwMode="auto">
              <a:xfrm>
                <a:off x="7775589" y="5661250"/>
                <a:ext cx="1188899" cy="3158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𝒄</m:t>
                        </m:r>
                      </m:e>
                      <m:sup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𝒘</m:t>
                        </m:r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−</m:t>
                        </m:r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𝟏</m:t>
                        </m:r>
                        <m:r>
                          <a:rPr lang="de-DE" sz="1400" b="1" i="1" dirty="0" smtClean="0">
                            <a:latin typeface="Cambria Math" panose="02040503050406030204" pitchFamily="18" charset="0"/>
                            <a:ea typeface="Verdana" pitchFamily="34" charset="0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sz="1400" b="1" i="1" dirty="0" smtClean="0">
                                <a:latin typeface="Cambria Math" panose="02040503050406030204" pitchFamily="18" charset="0"/>
                                <a:ea typeface="Verdana" pitchFamily="34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de-DE" sz="1400" b="1" i="1" dirty="0" smtClean="0">
                                <a:latin typeface="Cambria Math" panose="02040503050406030204" pitchFamily="18" charset="0"/>
                                <a:ea typeface="Verdana" pitchFamily="34" charset="0"/>
                                <a:cs typeface="Times New Roman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de-DE" sz="1400" b="1" i="1" dirty="0" smtClean="0">
                                <a:latin typeface="Cambria Math" panose="02040503050406030204" pitchFamily="18" charset="0"/>
                                <a:ea typeface="Verdana" pitchFamily="34" charset="0"/>
                                <a:cs typeface="Times New Roman" pitchFamily="18" charset="0"/>
                              </a:rPr>
                              <m:t>𝒍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1400" i="1" dirty="0" smtClean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 </a:t>
                </a:r>
                <a:r>
                  <a:rPr lang="en-US" sz="1400" dirty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(</a:t>
                </a:r>
                <a:r>
                  <a:rPr lang="el-GR" sz="1400" dirty="0" smtClean="0">
                    <a:solidFill>
                      <a:srgbClr val="7030A0"/>
                    </a:solidFill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σ</a:t>
                </a:r>
                <a:r>
                  <a:rPr lang="en-US" sz="1400" b="1" i="1" baseline="-25000" dirty="0" smtClean="0">
                    <a:solidFill>
                      <a:srgbClr val="7030A0"/>
                    </a:solidFill>
                    <a:latin typeface="French Script MT" pitchFamily="66" charset="0"/>
                    <a:ea typeface="Verdana" pitchFamily="34" charset="0"/>
                    <a:cs typeface="Times New Roman" pitchFamily="18" charset="0"/>
                  </a:rPr>
                  <a:t>l</a:t>
                </a:r>
                <a:r>
                  <a:rPr lang="en-US" sz="1400" b="1" i="1" dirty="0" smtClean="0">
                    <a:solidFill>
                      <a:srgbClr val="7030A0"/>
                    </a:solidFill>
                    <a:latin typeface="French Script MT" pitchFamily="66" charset="0"/>
                    <a:ea typeface="Verdana" pitchFamily="34" charset="0"/>
                    <a:cs typeface="Times New Roman" pitchFamily="18" charset="0"/>
                  </a:rPr>
                  <a:t> </a:t>
                </a:r>
                <a:r>
                  <a:rPr lang="en-US" sz="1400" dirty="0" smtClean="0">
                    <a:latin typeface="Times New Roman" pitchFamily="18" charset="0"/>
                    <a:ea typeface="Verdana" pitchFamily="34" charset="0"/>
                    <a:cs typeface="Times New Roman" pitchFamily="18" charset="0"/>
                  </a:rPr>
                  <a:t>)</a:t>
                </a:r>
                <a:endParaRPr lang="de-DE" sz="1400" dirty="0">
                  <a:solidFill>
                    <a:srgbClr val="C00000"/>
                  </a:solidFill>
                  <a:ea typeface="Verdan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7" name="Textfeld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5589" y="5661250"/>
                <a:ext cx="1188899" cy="315856"/>
              </a:xfrm>
              <a:prstGeom prst="rect">
                <a:avLst/>
              </a:prstGeom>
              <a:blipFill rotWithShape="0">
                <a:blip r:embed="rId7"/>
                <a:stretch>
                  <a:fillRect t="-3922" b="-1764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feld 117"/>
          <p:cNvSpPr txBox="1">
            <a:spLocks noChangeArrowheads="1"/>
          </p:cNvSpPr>
          <p:nvPr/>
        </p:nvSpPr>
        <p:spPr bwMode="auto">
          <a:xfrm>
            <a:off x="8316418" y="3608876"/>
            <a:ext cx="10806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de-DE" sz="2000" b="1" i="1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=</a:t>
            </a:r>
            <a:r>
              <a:rPr lang="de-DE" sz="2000" b="1" i="1" baseline="300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?</a:t>
            </a:r>
            <a:endParaRPr lang="de-DE" sz="2000" b="1" baseline="30000" dirty="0">
              <a:solidFill>
                <a:srgbClr val="C00000"/>
              </a:solidFill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119" name="Textfeld 118"/>
          <p:cNvSpPr txBox="1">
            <a:spLocks noChangeArrowheads="1"/>
          </p:cNvSpPr>
          <p:nvPr/>
        </p:nvSpPr>
        <p:spPr bwMode="auto">
          <a:xfrm>
            <a:off x="8361243" y="5355286"/>
            <a:ext cx="10806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de-DE" sz="2000" b="1" i="1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=</a:t>
            </a:r>
            <a:r>
              <a:rPr lang="de-DE" sz="2000" b="1" i="1" baseline="300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?</a:t>
            </a:r>
            <a:endParaRPr lang="de-DE" sz="2000" b="1" baseline="30000" dirty="0">
              <a:solidFill>
                <a:srgbClr val="C00000"/>
              </a:solidFill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122" name="Textfeld 121"/>
          <p:cNvSpPr txBox="1"/>
          <p:nvPr/>
        </p:nvSpPr>
        <p:spPr>
          <a:xfrm>
            <a:off x="250825" y="1628800"/>
            <a:ext cx="417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3"/>
            <a:r>
              <a:rPr lang="en-US" dirty="0">
                <a:solidFill>
                  <a:srgbClr val="00090C"/>
                </a:solidFill>
              </a:rPr>
              <a:t>Verifier knows: M, w </a:t>
            </a:r>
          </a:p>
        </p:txBody>
      </p:sp>
    </p:spTree>
    <p:extLst>
      <p:ext uri="{BB962C8B-B14F-4D97-AF65-F5344CB8AC3E}">
        <p14:creationId xmlns:p14="http://schemas.microsoft.com/office/powerpoint/2010/main" val="269883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/>
      <p:bldP spid="114" grpId="0"/>
      <p:bldP spid="115" grpId="0"/>
      <p:bldP spid="116" grpId="0"/>
      <p:bldP spid="117" grpId="0"/>
      <p:bldP spid="118" grpId="0"/>
      <p:bldP spid="11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WOTS Function Chains</a:t>
            </a:r>
            <a:endParaRPr lang="de-DE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250827" y="1592263"/>
                <a:ext cx="8640763" cy="4500562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 smtClean="0"/>
                  <a:t> </a:t>
                </a:r>
              </a:p>
              <a:p>
                <a:pPr>
                  <a:buNone/>
                </a:pPr>
                <a:endParaRPr lang="de-DE" dirty="0"/>
              </a:p>
              <a:p>
                <a:pPr>
                  <a:buNone/>
                </a:pPr>
                <a:endParaRPr lang="en-US" dirty="0" smtClean="0"/>
              </a:p>
              <a:p>
                <a:pPr>
                  <a:buNone/>
                </a:pPr>
                <a:r>
                  <a:rPr lang="en-US" dirty="0" smtClean="0"/>
                  <a:t>For </a:t>
                </a:r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de-DE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de-DE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de-DE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define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and </a:t>
                </a:r>
              </a:p>
              <a:p>
                <a:r>
                  <a:rPr lang="en-US" dirty="0" smtClean="0"/>
                  <a:t>WOTS: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000" dirty="0"/>
                  <a:t/>
                </a:r>
                <a:br>
                  <a:rPr lang="en-US" sz="1000" dirty="0"/>
                </a:br>
                <a:endParaRPr lang="en-US" sz="1000" dirty="0"/>
              </a:p>
              <a:p>
                <a:r>
                  <a:rPr lang="en-US" dirty="0" smtClean="0"/>
                  <a:t>WOTS</a:t>
                </a:r>
                <a:r>
                  <a:rPr lang="en-US" baseline="30000" dirty="0" smtClean="0"/>
                  <a:t>$</a:t>
                </a:r>
                <a:r>
                  <a:rPr lang="en-US" dirty="0" smtClean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sz="1000" dirty="0"/>
                  <a:t/>
                </a:r>
                <a:br>
                  <a:rPr lang="en-US" sz="1000" dirty="0"/>
                </a:br>
                <a:endParaRPr lang="en-US" sz="1000" dirty="0"/>
              </a:p>
              <a:p>
                <a:r>
                  <a:rPr lang="en-US" dirty="0" smtClean="0"/>
                  <a:t>WOTS</a:t>
                </a:r>
                <a:r>
                  <a:rPr lang="en-US" baseline="30000" dirty="0" smtClean="0"/>
                  <a:t>+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000" dirty="0"/>
                  <a:t/>
                </a:r>
                <a:br>
                  <a:rPr lang="en-US" sz="1000" dirty="0"/>
                </a:br>
                <a:endParaRPr lang="en-US" sz="1000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>
                  <a:buNone/>
                </a:pPr>
                <a:endParaRPr lang="en-US" sz="1000" dirty="0"/>
              </a:p>
            </p:txBody>
          </p:sp>
        </mc:Choice>
        <mc:Fallback xmlns="">
          <p:sp>
            <p:nvSpPr>
              <p:cNvPr id="6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827" y="1592263"/>
                <a:ext cx="8640763" cy="4500562"/>
              </a:xfrm>
              <a:blipFill rotWithShape="0">
                <a:blip r:embed="rId2"/>
                <a:stretch>
                  <a:fillRect l="-1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26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 smtClean="0"/>
              <a:t>WOTS Security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59" name="Inhaltsplatzhalt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eaLnBrk="1" hangingPunct="1">
                  <a:buFont typeface="Wingdings" pitchFamily="2" charset="2"/>
                  <a:buNone/>
                </a:pPr>
                <a:endParaRPr lang="en-US" dirty="0" smtClean="0"/>
              </a:p>
              <a:p>
                <a:pPr eaLnBrk="1" hangingPunct="1">
                  <a:buFont typeface="Wingdings" pitchFamily="2" charset="2"/>
                  <a:buNone/>
                </a:pPr>
                <a:r>
                  <a:rPr lang="en-US" b="1" dirty="0" smtClean="0"/>
                  <a:t>Theorem (informally)</a:t>
                </a:r>
                <a:r>
                  <a:rPr lang="en-US" dirty="0" smtClean="0"/>
                  <a:t>:</a:t>
                </a:r>
              </a:p>
              <a:p>
                <a:pPr eaLnBrk="1" hangingPunct="1">
                  <a:buNone/>
                </a:pPr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W-OTS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 is strongly unforgeable under chosen message attacks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i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is a </a:t>
                </a:r>
                <a:r>
                  <a:rPr lang="en-US" sz="2400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collision resistant family of undetectable one-way functions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eaLnBrk="1" hangingPunct="1">
                  <a:buNone/>
                </a:pPr>
                <a:endParaRPr lang="en-US" sz="2400" i="1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W-OTS</a:t>
                </a:r>
                <a:r>
                  <a:rPr lang="en-US" sz="2400" b="1" i="1" baseline="30000" dirty="0">
                    <a:latin typeface="Times New Roman" pitchFamily="18" charset="0"/>
                    <a:cs typeface="Times New Roman" pitchFamily="18" charset="0"/>
                  </a:rPr>
                  <a:t>$</a:t>
                </a:r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is existentially unforgeable under chosen message attacks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 is a </a:t>
                </a:r>
                <a:r>
                  <a:rPr lang="en-US" sz="2400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pseudorandom function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 family.</a:t>
                </a:r>
              </a:p>
              <a:p>
                <a:pPr eaLnBrk="1" hangingPunct="1">
                  <a:buFont typeface="Wingdings" pitchFamily="2" charset="2"/>
                  <a:buNone/>
                </a:pPr>
                <a:endParaRPr lang="en-US" sz="2400" i="1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W-OTS</a:t>
                </a:r>
                <a:r>
                  <a:rPr lang="en-US" sz="2400" b="1" i="1" baseline="30000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is strongly unforgeable under chosen message attacks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 is a </a:t>
                </a:r>
                <a:r>
                  <a:rPr lang="en-US" sz="2400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i="1" baseline="30000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nd</a:t>
                </a:r>
                <a:r>
                  <a:rPr lang="en-US" sz="2400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-preimage resistant family of undetectable one-way functions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eaLnBrk="1" hangingPunct="1">
                  <a:buFont typeface="Wingdings" pitchFamily="2" charset="2"/>
                  <a:buNone/>
                </a:pPr>
                <a:endParaRPr lang="en-US" sz="2400" i="1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endParaRPr lang="en-US" sz="2400" i="1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endParaRPr lang="en-US" i="1" dirty="0" smtClean="0"/>
              </a:p>
              <a:p>
                <a:pPr eaLnBrk="1" hangingPunct="1">
                  <a:buFont typeface="Wingdings" pitchFamily="2" charset="2"/>
                  <a:buNone/>
                </a:pPr>
                <a:endParaRPr lang="en-US" i="1" dirty="0" smtClean="0"/>
              </a:p>
            </p:txBody>
          </p:sp>
        </mc:Choice>
        <mc:Fallback xmlns="">
          <p:sp>
            <p:nvSpPr>
              <p:cNvPr id="19459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391" r="-1855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1612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WOTS Sizes and Runtimes</a:t>
            </a:r>
            <a:endParaRPr lang="de-DE" dirty="0"/>
          </a:p>
        </p:txBody>
      </p:sp>
      <p:graphicFrame>
        <p:nvGraphicFramePr>
          <p:cNvPr id="7" name="Inhaltsplatzhalter 6"/>
          <p:cNvGraphicFramePr>
            <a:graphicFrameLocks noGrp="1"/>
          </p:cNvGraphicFramePr>
          <p:nvPr>
            <p:ph idx="1"/>
            <p:extLst/>
          </p:nvPr>
        </p:nvGraphicFramePr>
        <p:xfrm>
          <a:off x="179514" y="1412778"/>
          <a:ext cx="8640765" cy="393445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12863"/>
                <a:gridCol w="1368152"/>
                <a:gridCol w="1944216"/>
                <a:gridCol w="1728192"/>
                <a:gridCol w="2087342"/>
              </a:tblGrid>
              <a:tr h="734055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 smtClean="0">
                          <a:solidFill>
                            <a:schemeClr val="tx2"/>
                          </a:solidFill>
                        </a:rPr>
                        <a:t>Lamport</a:t>
                      </a:r>
                      <a:r>
                        <a:rPr lang="de-DE" dirty="0" smtClean="0">
                          <a:solidFill>
                            <a:schemeClr val="tx2"/>
                          </a:solidFill>
                        </a:rPr>
                        <a:t>-Diffie</a:t>
                      </a:r>
                      <a:endParaRPr lang="de-DE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2"/>
                          </a:solidFill>
                        </a:rPr>
                        <a:t>WOTS</a:t>
                      </a:r>
                      <a:endParaRPr lang="de-DE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2"/>
                          </a:solidFill>
                        </a:rPr>
                        <a:t>WOTS</a:t>
                      </a:r>
                      <a:r>
                        <a:rPr lang="de-DE" sz="1800" kern="1200" baseline="30000" dirty="0" smtClean="0">
                          <a:solidFill>
                            <a:schemeClr val="tx2"/>
                          </a:solidFill>
                        </a:rPr>
                        <a:t>$</a:t>
                      </a:r>
                      <a:endParaRPr lang="de-DE" sz="1800" b="1" kern="1200" baseline="300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2"/>
                          </a:solidFill>
                        </a:rPr>
                        <a:t>WOTS</a:t>
                      </a:r>
                      <a:r>
                        <a:rPr lang="de-DE" baseline="30000" dirty="0" smtClean="0">
                          <a:solidFill>
                            <a:schemeClr val="tx2"/>
                          </a:solidFill>
                        </a:rPr>
                        <a:t>+</a:t>
                      </a:r>
                      <a:endParaRPr lang="de-DE" baseline="300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</a:tr>
              <a:tr h="698584"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Public Key</a:t>
                      </a:r>
                    </a:p>
                    <a:p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Size</a:t>
                      </a:r>
                      <a:endParaRPr lang="de-DE" dirty="0">
                        <a:solidFill>
                          <a:srgbClr val="00090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90C"/>
                          </a:solidFill>
                        </a:rPr>
                        <a:t>2bm</a:t>
                      </a:r>
                      <a:endParaRPr lang="de-DE" dirty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90C"/>
                          </a:solidFill>
                          <a:latin typeface="French Script MT" pitchFamily="66" charset="0"/>
                        </a:rPr>
                        <a:t>l</a:t>
                      </a:r>
                      <a:r>
                        <a:rPr lang="en-US" sz="2400" dirty="0" smtClean="0">
                          <a:solidFill>
                            <a:srgbClr val="00090C"/>
                          </a:solidFill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2b </a:t>
                      </a:r>
                      <a:br>
                        <a:rPr lang="en-US" sz="2000" dirty="0" smtClean="0">
                          <a:solidFill>
                            <a:srgbClr val="00090C"/>
                          </a:solidFill>
                        </a:rPr>
                      </a:b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~ 2bm/log w</a:t>
                      </a:r>
                      <a:endParaRPr lang="de-DE" sz="2000" dirty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solidFill>
                            <a:srgbClr val="00090C"/>
                          </a:solidFill>
                          <a:latin typeface="French Script MT" pitchFamily="66" charset="0"/>
                        </a:rPr>
                        <a:t>l</a:t>
                      </a:r>
                      <a:r>
                        <a:rPr kumimoji="0" lang="en-US" sz="240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90C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dirty="0" smtClean="0">
                          <a:solidFill>
                            <a:srgbClr val="00090C"/>
                          </a:solidFill>
                        </a:rPr>
                        <a:t>b (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+b)</a:t>
                      </a:r>
                      <a:r>
                        <a:rPr lang="en-US" dirty="0" smtClean="0">
                          <a:solidFill>
                            <a:srgbClr val="00090C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rgbClr val="00090C"/>
                          </a:solidFill>
                        </a:rPr>
                      </a:br>
                      <a:r>
                        <a:rPr lang="en-US" dirty="0" smtClean="0">
                          <a:solidFill>
                            <a:srgbClr val="00090C"/>
                          </a:solidFill>
                        </a:rPr>
                        <a:t>~ </a:t>
                      </a:r>
                      <a:r>
                        <a:rPr lang="en-US" dirty="0" err="1" smtClean="0">
                          <a:solidFill>
                            <a:srgbClr val="00090C"/>
                          </a:solidFill>
                        </a:rPr>
                        <a:t>bm</a:t>
                      </a:r>
                      <a:r>
                        <a:rPr lang="en-US" dirty="0" smtClean="0">
                          <a:solidFill>
                            <a:srgbClr val="00090C"/>
                          </a:solidFill>
                        </a:rPr>
                        <a:t>/log w</a:t>
                      </a:r>
                      <a:endParaRPr lang="de-DE" dirty="0" smtClean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solidFill>
                            <a:srgbClr val="00090C"/>
                          </a:solidFill>
                          <a:latin typeface="French Script MT" pitchFamily="66" charset="0"/>
                        </a:rPr>
                        <a:t>l</a:t>
                      </a:r>
                      <a:r>
                        <a:rPr kumimoji="0" lang="en-US" sz="240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90C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dirty="0" smtClean="0">
                          <a:solidFill>
                            <a:srgbClr val="00090C"/>
                          </a:solidFill>
                        </a:rPr>
                        <a:t>b ( 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+(w-1)b )</a:t>
                      </a:r>
                      <a:r>
                        <a:rPr lang="en-US" dirty="0" smtClean="0">
                          <a:solidFill>
                            <a:srgbClr val="00090C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rgbClr val="00090C"/>
                          </a:solidFill>
                        </a:rPr>
                      </a:br>
                      <a:r>
                        <a:rPr lang="en-US" dirty="0" smtClean="0">
                          <a:solidFill>
                            <a:srgbClr val="00090C"/>
                          </a:solidFill>
                        </a:rPr>
                        <a:t>~ </a:t>
                      </a:r>
                      <a:r>
                        <a:rPr lang="en-US" dirty="0" err="1" smtClean="0">
                          <a:solidFill>
                            <a:srgbClr val="00090C"/>
                          </a:solidFill>
                        </a:rPr>
                        <a:t>bm</a:t>
                      </a:r>
                      <a:r>
                        <a:rPr lang="en-US" dirty="0" smtClean="0">
                          <a:solidFill>
                            <a:srgbClr val="00090C"/>
                          </a:solidFill>
                        </a:rPr>
                        <a:t>/log w</a:t>
                      </a:r>
                      <a:endParaRPr lang="de-DE" dirty="0" smtClean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</a:tr>
              <a:tr h="698584">
                <a:tc>
                  <a:txBody>
                    <a:bodyPr/>
                    <a:lstStyle/>
                    <a:p>
                      <a:r>
                        <a:rPr lang="de-DE" dirty="0" err="1" smtClean="0">
                          <a:solidFill>
                            <a:srgbClr val="00090C"/>
                          </a:solidFill>
                        </a:rPr>
                        <a:t>Secret</a:t>
                      </a:r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 Key Size</a:t>
                      </a:r>
                      <a:endParaRPr lang="de-DE" dirty="0">
                        <a:solidFill>
                          <a:srgbClr val="00090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90C"/>
                          </a:solidFill>
                        </a:rPr>
                        <a:t>2bm</a:t>
                      </a:r>
                      <a:endParaRPr lang="de-DE" dirty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90C"/>
                          </a:solidFill>
                          <a:latin typeface="French Script MT" pitchFamily="66" charset="0"/>
                        </a:rPr>
                        <a:t>l</a:t>
                      </a:r>
                      <a:r>
                        <a:rPr lang="en-US" sz="2400" dirty="0" smtClean="0">
                          <a:solidFill>
                            <a:srgbClr val="00090C"/>
                          </a:solidFill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2b </a:t>
                      </a:r>
                      <a:br>
                        <a:rPr lang="en-US" sz="2000" dirty="0" smtClean="0">
                          <a:solidFill>
                            <a:srgbClr val="00090C"/>
                          </a:solidFill>
                        </a:rPr>
                      </a:b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~ 2bm/log w</a:t>
                      </a:r>
                      <a:endParaRPr lang="de-DE" sz="2000" dirty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90C"/>
                          </a:solidFill>
                          <a:latin typeface="French Script MT" pitchFamily="66" charset="0"/>
                        </a:rPr>
                        <a:t>l</a:t>
                      </a:r>
                      <a:r>
                        <a:rPr lang="en-US" sz="2400" dirty="0" smtClean="0">
                          <a:solidFill>
                            <a:srgbClr val="00090C"/>
                          </a:solidFill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b </a:t>
                      </a:r>
                      <a:br>
                        <a:rPr lang="en-US" sz="2000" dirty="0" smtClean="0">
                          <a:solidFill>
                            <a:srgbClr val="00090C"/>
                          </a:solidFill>
                        </a:rPr>
                      </a:b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~ </a:t>
                      </a:r>
                      <a:r>
                        <a:rPr lang="en-US" sz="2000" dirty="0" err="1" smtClean="0">
                          <a:solidFill>
                            <a:srgbClr val="00090C"/>
                          </a:solidFill>
                        </a:rPr>
                        <a:t>bm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/log w</a:t>
                      </a:r>
                      <a:endParaRPr lang="de-DE" sz="2000" dirty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90C"/>
                          </a:solidFill>
                          <a:latin typeface="French Script MT" pitchFamily="66" charset="0"/>
                        </a:rPr>
                        <a:t>l</a:t>
                      </a:r>
                      <a:r>
                        <a:rPr lang="en-US" sz="2400" dirty="0" smtClean="0">
                          <a:solidFill>
                            <a:srgbClr val="00090C"/>
                          </a:solidFill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b </a:t>
                      </a:r>
                      <a:br>
                        <a:rPr lang="en-US" sz="2000" dirty="0" smtClean="0">
                          <a:solidFill>
                            <a:srgbClr val="00090C"/>
                          </a:solidFill>
                        </a:rPr>
                      </a:b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~ </a:t>
                      </a:r>
                      <a:r>
                        <a:rPr lang="en-US" sz="2000" dirty="0" err="1" smtClean="0">
                          <a:solidFill>
                            <a:srgbClr val="00090C"/>
                          </a:solidFill>
                        </a:rPr>
                        <a:t>bm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/log w</a:t>
                      </a:r>
                      <a:endParaRPr lang="de-DE" sz="2000" dirty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</a:tr>
              <a:tr h="698584">
                <a:tc>
                  <a:txBody>
                    <a:bodyPr/>
                    <a:lstStyle/>
                    <a:p>
                      <a:r>
                        <a:rPr lang="de-DE" dirty="0" err="1" smtClean="0">
                          <a:solidFill>
                            <a:srgbClr val="00090C"/>
                          </a:solidFill>
                        </a:rPr>
                        <a:t>Signature</a:t>
                      </a:r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 Size</a:t>
                      </a:r>
                      <a:endParaRPr lang="de-DE" dirty="0">
                        <a:solidFill>
                          <a:srgbClr val="00090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bm</a:t>
                      </a:r>
                      <a:endParaRPr lang="de-DE" dirty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90C"/>
                          </a:solidFill>
                          <a:latin typeface="French Script MT" pitchFamily="66" charset="0"/>
                        </a:rPr>
                        <a:t>l</a:t>
                      </a:r>
                      <a:r>
                        <a:rPr lang="en-US" sz="2400" dirty="0" smtClean="0">
                          <a:solidFill>
                            <a:srgbClr val="00090C"/>
                          </a:solidFill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2b </a:t>
                      </a:r>
                      <a:br>
                        <a:rPr lang="en-US" sz="2000" dirty="0" smtClean="0">
                          <a:solidFill>
                            <a:srgbClr val="00090C"/>
                          </a:solidFill>
                        </a:rPr>
                      </a:b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~</a:t>
                      </a:r>
                      <a:r>
                        <a:rPr lang="en-US" sz="2000" baseline="0" dirty="0" smtClean="0">
                          <a:solidFill>
                            <a:srgbClr val="00090C"/>
                          </a:solidFill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2bm/log w</a:t>
                      </a:r>
                      <a:endParaRPr lang="de-DE" sz="2000" dirty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90C"/>
                          </a:solidFill>
                          <a:latin typeface="French Script MT" pitchFamily="66" charset="0"/>
                        </a:rPr>
                        <a:t>l</a:t>
                      </a:r>
                      <a:r>
                        <a:rPr lang="en-US" sz="2400" dirty="0" smtClean="0">
                          <a:solidFill>
                            <a:srgbClr val="00090C"/>
                          </a:solidFill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b </a:t>
                      </a:r>
                      <a:br>
                        <a:rPr lang="en-US" sz="2000" dirty="0" smtClean="0">
                          <a:solidFill>
                            <a:srgbClr val="00090C"/>
                          </a:solidFill>
                        </a:rPr>
                      </a:b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~ </a:t>
                      </a:r>
                      <a:r>
                        <a:rPr lang="en-US" sz="2000" dirty="0" err="1" smtClean="0">
                          <a:solidFill>
                            <a:srgbClr val="00090C"/>
                          </a:solidFill>
                        </a:rPr>
                        <a:t>bm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/log w</a:t>
                      </a:r>
                      <a:endParaRPr lang="de-DE" sz="2000" dirty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90C"/>
                          </a:solidFill>
                          <a:latin typeface="French Script MT" pitchFamily="66" charset="0"/>
                        </a:rPr>
                        <a:t>l</a:t>
                      </a:r>
                      <a:r>
                        <a:rPr lang="en-US" sz="2400" dirty="0" smtClean="0">
                          <a:solidFill>
                            <a:srgbClr val="00090C"/>
                          </a:solidFill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b </a:t>
                      </a:r>
                      <a:br>
                        <a:rPr lang="en-US" sz="2000" dirty="0" smtClean="0">
                          <a:solidFill>
                            <a:srgbClr val="00090C"/>
                          </a:solidFill>
                        </a:rPr>
                      </a:b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~ </a:t>
                      </a:r>
                      <a:r>
                        <a:rPr lang="en-US" sz="2000" dirty="0" err="1" smtClean="0">
                          <a:solidFill>
                            <a:srgbClr val="00090C"/>
                          </a:solidFill>
                        </a:rPr>
                        <a:t>bm</a:t>
                      </a:r>
                      <a:r>
                        <a:rPr lang="en-US" sz="2000" dirty="0" smtClean="0">
                          <a:solidFill>
                            <a:srgbClr val="00090C"/>
                          </a:solidFill>
                        </a:rPr>
                        <a:t>/log w</a:t>
                      </a:r>
                      <a:endParaRPr lang="de-DE" sz="2000" dirty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</a:tr>
              <a:tr h="698584"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Key Generation Time</a:t>
                      </a:r>
                      <a:endParaRPr lang="de-DE" dirty="0">
                        <a:solidFill>
                          <a:srgbClr val="00090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~ 2m</a:t>
                      </a:r>
                      <a:endParaRPr lang="de-DE" dirty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90C"/>
                          </a:solidFill>
                          <a:effectLst/>
                          <a:uLnTx/>
                          <a:uFillTx/>
                          <a:latin typeface="French Script MT" pitchFamily="66" charset="0"/>
                          <a:ea typeface="+mn-ea"/>
                          <a:cs typeface="+mn-cs"/>
                        </a:rPr>
                        <a:t>l</a:t>
                      </a:r>
                      <a:r>
                        <a:rPr lang="en-US" sz="1800" kern="0" baseline="0" dirty="0" smtClean="0">
                          <a:solidFill>
                            <a:srgbClr val="00090C"/>
                          </a:solidFill>
                        </a:rPr>
                        <a:t> </a:t>
                      </a:r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w</a:t>
                      </a:r>
                      <a:br>
                        <a:rPr lang="de-DE" dirty="0" smtClean="0">
                          <a:solidFill>
                            <a:srgbClr val="00090C"/>
                          </a:solidFill>
                        </a:rPr>
                      </a:br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~</a:t>
                      </a:r>
                      <a:r>
                        <a:rPr lang="de-DE" baseline="0" dirty="0" smtClean="0">
                          <a:solidFill>
                            <a:srgbClr val="00090C"/>
                          </a:solidFill>
                        </a:rPr>
                        <a:t> </a:t>
                      </a:r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wm/log w</a:t>
                      </a:r>
                      <a:endParaRPr lang="de-DE" dirty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90C"/>
                          </a:solidFill>
                          <a:effectLst/>
                          <a:uLnTx/>
                          <a:uFillTx/>
                          <a:latin typeface="French Script MT" pitchFamily="66" charset="0"/>
                          <a:ea typeface="+mn-ea"/>
                          <a:cs typeface="+mn-cs"/>
                        </a:rPr>
                        <a:t>l</a:t>
                      </a:r>
                      <a:r>
                        <a:rPr lang="en-US" sz="1800" kern="0" baseline="0" dirty="0" smtClean="0">
                          <a:solidFill>
                            <a:srgbClr val="00090C"/>
                          </a:solidFill>
                        </a:rPr>
                        <a:t> </a:t>
                      </a:r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w</a:t>
                      </a:r>
                      <a:br>
                        <a:rPr lang="de-DE" dirty="0" smtClean="0">
                          <a:solidFill>
                            <a:srgbClr val="00090C"/>
                          </a:solidFill>
                        </a:rPr>
                      </a:br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~wm/log 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90C"/>
                          </a:solidFill>
                          <a:latin typeface="French Script MT" pitchFamily="66" charset="0"/>
                        </a:rPr>
                        <a:t>l</a:t>
                      </a:r>
                      <a:r>
                        <a:rPr lang="en-US" sz="1800" kern="0" baseline="0" dirty="0" smtClean="0">
                          <a:solidFill>
                            <a:srgbClr val="00090C"/>
                          </a:solidFill>
                        </a:rPr>
                        <a:t> </a:t>
                      </a:r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w</a:t>
                      </a:r>
                      <a:br>
                        <a:rPr lang="de-DE" dirty="0" smtClean="0">
                          <a:solidFill>
                            <a:srgbClr val="00090C"/>
                          </a:solidFill>
                        </a:rPr>
                      </a:br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~</a:t>
                      </a:r>
                      <a:r>
                        <a:rPr lang="de-DE" baseline="0" dirty="0" smtClean="0">
                          <a:solidFill>
                            <a:srgbClr val="00090C"/>
                          </a:solidFill>
                        </a:rPr>
                        <a:t> </a:t>
                      </a:r>
                      <a:r>
                        <a:rPr lang="de-DE" dirty="0" smtClean="0">
                          <a:solidFill>
                            <a:srgbClr val="00090C"/>
                          </a:solidFill>
                        </a:rPr>
                        <a:t>wm/log w</a:t>
                      </a:r>
                      <a:endParaRPr lang="de-DE" dirty="0">
                        <a:solidFill>
                          <a:srgbClr val="00090C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hteck 7"/>
          <p:cNvSpPr/>
          <p:nvPr/>
        </p:nvSpPr>
        <p:spPr>
          <a:xfrm>
            <a:off x="322118" y="5661248"/>
            <a:ext cx="828233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090C"/>
                </a:solidFill>
              </a:rPr>
              <a:t>Security level b, </a:t>
            </a:r>
            <a:r>
              <a:rPr lang="en-US" dirty="0" err="1">
                <a:solidFill>
                  <a:srgbClr val="00090C"/>
                </a:solidFill>
              </a:rPr>
              <a:t>Winternitz</a:t>
            </a:r>
            <a:r>
              <a:rPr lang="en-US" dirty="0">
                <a:solidFill>
                  <a:srgbClr val="00090C"/>
                </a:solidFill>
              </a:rPr>
              <a:t> parameter w, Message Length m,</a:t>
            </a:r>
            <a:br>
              <a:rPr lang="en-US" dirty="0">
                <a:solidFill>
                  <a:srgbClr val="00090C"/>
                </a:solidFill>
              </a:rPr>
            </a:br>
            <a:r>
              <a:rPr lang="en-US" sz="2400" b="1" kern="0" dirty="0">
                <a:solidFill>
                  <a:srgbClr val="00090C"/>
                </a:solidFill>
                <a:latin typeface="French Script MT" pitchFamily="66" charset="0"/>
              </a:rPr>
              <a:t>l </a:t>
            </a:r>
            <a:r>
              <a:rPr lang="en-US" dirty="0">
                <a:solidFill>
                  <a:srgbClr val="00090C"/>
                </a:solidFill>
              </a:rPr>
              <a:t> = </a:t>
            </a:r>
            <a:r>
              <a:rPr lang="en-US" sz="2400" b="1" kern="0" dirty="0">
                <a:solidFill>
                  <a:srgbClr val="00090C"/>
                </a:solidFill>
                <a:latin typeface="French Script MT" pitchFamily="66" charset="0"/>
              </a:rPr>
              <a:t>l </a:t>
            </a:r>
            <a:r>
              <a:rPr lang="en-US" dirty="0">
                <a:solidFill>
                  <a:srgbClr val="00090C"/>
                </a:solidFill>
              </a:rPr>
              <a:t>(</a:t>
            </a:r>
            <a:r>
              <a:rPr lang="en-US" dirty="0" err="1">
                <a:solidFill>
                  <a:srgbClr val="00090C"/>
                </a:solidFill>
              </a:rPr>
              <a:t>w,m</a:t>
            </a:r>
            <a:r>
              <a:rPr lang="en-US" dirty="0">
                <a:solidFill>
                  <a:srgbClr val="00090C"/>
                </a:solidFill>
              </a:rPr>
              <a:t>) ~</a:t>
            </a:r>
            <a:r>
              <a:rPr lang="de-DE" dirty="0">
                <a:solidFill>
                  <a:srgbClr val="00090C"/>
                </a:solidFill>
              </a:rPr>
              <a:t> m / log w</a:t>
            </a:r>
            <a:endParaRPr lang="en-US" dirty="0">
              <a:solidFill>
                <a:srgbClr val="0009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46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60457"/>
            <a:ext cx="7886700" cy="1325563"/>
          </a:xfrm>
        </p:spPr>
        <p:txBody>
          <a:bodyPr/>
          <a:lstStyle/>
          <a:p>
            <a:pPr algn="ctr"/>
            <a:r>
              <a:rPr lang="de-DE" sz="6000" dirty="0" smtClean="0"/>
              <a:t>XMSS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73046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XMSS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Tree: </a:t>
            </a:r>
            <a:r>
              <a:rPr lang="de-DE" dirty="0" smtClean="0"/>
              <a:t>Uses bitmasks</a:t>
            </a:r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dirty="0" smtClean="0"/>
              <a:t>Leafs:</a:t>
            </a:r>
            <a:r>
              <a:rPr lang="en-US" dirty="0">
                <a:solidFill>
                  <a:srgbClr val="00090C"/>
                </a:solidFill>
              </a:rPr>
              <a:t> </a:t>
            </a:r>
            <a:r>
              <a:rPr lang="de-DE" dirty="0" smtClean="0"/>
              <a:t>Use binary tree</a:t>
            </a:r>
            <a:br>
              <a:rPr lang="de-DE" dirty="0" smtClean="0"/>
            </a:br>
            <a:r>
              <a:rPr lang="de-DE" dirty="0" smtClean="0"/>
              <a:t>with bitmasks</a:t>
            </a:r>
          </a:p>
          <a:p>
            <a:pPr marL="0" indent="0">
              <a:buNone/>
            </a:pPr>
            <a:endParaRPr lang="de-DE" sz="1300" dirty="0" smtClean="0"/>
          </a:p>
          <a:p>
            <a:pPr marL="0" indent="0">
              <a:buNone/>
            </a:pPr>
            <a:r>
              <a:rPr lang="de-DE" dirty="0" smtClean="0"/>
              <a:t>OTS: WOTS</a:t>
            </a:r>
            <a:r>
              <a:rPr lang="de-DE" baseline="30000" dirty="0" smtClean="0"/>
              <a:t>+</a:t>
            </a:r>
            <a:endParaRPr lang="de-DE" baseline="30000" dirty="0"/>
          </a:p>
          <a:p>
            <a:pPr marL="0" indent="0">
              <a:buNone/>
            </a:pPr>
            <a:endParaRPr lang="de-DE" sz="1300" dirty="0" smtClean="0"/>
          </a:p>
          <a:p>
            <a:pPr marL="0" indent="0">
              <a:buNone/>
            </a:pPr>
            <a:r>
              <a:rPr lang="de-DE" dirty="0" smtClean="0"/>
              <a:t>Mesage digest: </a:t>
            </a:r>
            <a:br>
              <a:rPr lang="de-DE" dirty="0" smtClean="0"/>
            </a:br>
            <a:r>
              <a:rPr lang="de-DE" dirty="0" smtClean="0"/>
              <a:t>Randomized hashing</a:t>
            </a:r>
          </a:p>
          <a:p>
            <a:pPr marL="0" indent="0">
              <a:buNone/>
            </a:pPr>
            <a:endParaRPr lang="de-DE" sz="1200" dirty="0" smtClean="0"/>
          </a:p>
          <a:p>
            <a:pPr marL="0" indent="0">
              <a:buNone/>
            </a:pPr>
            <a:r>
              <a:rPr lang="de-DE" dirty="0" smtClean="0"/>
              <a:t>Collision-resilient</a:t>
            </a:r>
          </a:p>
          <a:p>
            <a:pPr marL="0" indent="0">
              <a:buNone/>
            </a:pPr>
            <a:r>
              <a:rPr lang="de-DE" dirty="0" smtClean="0"/>
              <a:t>-&gt; signature size halved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02" name="Group 101"/>
          <p:cNvGrpSpPr/>
          <p:nvPr/>
        </p:nvGrpSpPr>
        <p:grpSpPr>
          <a:xfrm>
            <a:off x="4376382" y="4456319"/>
            <a:ext cx="4090269" cy="1440160"/>
            <a:chOff x="6195958" y="3933056"/>
            <a:chExt cx="2120458" cy="746601"/>
          </a:xfrm>
        </p:grpSpPr>
        <p:sp>
          <p:nvSpPr>
            <p:cNvPr id="40" name="Oval 39"/>
            <p:cNvSpPr>
              <a:spLocks noChangeArrowheads="1"/>
            </p:cNvSpPr>
            <p:nvPr/>
          </p:nvSpPr>
          <p:spPr bwMode="auto">
            <a:xfrm>
              <a:off x="6195958" y="4558925"/>
              <a:ext cx="117958" cy="120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6487382" y="4558925"/>
              <a:ext cx="117958" cy="120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6759378" y="4558925"/>
              <a:ext cx="117958" cy="120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3" name="Oval 42"/>
            <p:cNvSpPr>
              <a:spLocks noChangeArrowheads="1"/>
            </p:cNvSpPr>
            <p:nvPr/>
          </p:nvSpPr>
          <p:spPr bwMode="auto">
            <a:xfrm>
              <a:off x="7052190" y="4558925"/>
              <a:ext cx="116570" cy="120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7345002" y="4558925"/>
              <a:ext cx="115182" cy="120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7636426" y="4558925"/>
              <a:ext cx="116570" cy="120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>
              <a:off x="7907035" y="4558925"/>
              <a:ext cx="117957" cy="120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7" name="Oval 46"/>
            <p:cNvSpPr>
              <a:spLocks noChangeArrowheads="1"/>
            </p:cNvSpPr>
            <p:nvPr/>
          </p:nvSpPr>
          <p:spPr bwMode="auto">
            <a:xfrm>
              <a:off x="8198459" y="4558925"/>
              <a:ext cx="117957" cy="120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8" name="Oval 47"/>
            <p:cNvSpPr>
              <a:spLocks noChangeArrowheads="1"/>
            </p:cNvSpPr>
            <p:nvPr/>
          </p:nvSpPr>
          <p:spPr bwMode="auto">
            <a:xfrm>
              <a:off x="6351384" y="4356315"/>
              <a:ext cx="116570" cy="12212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9" name="Oval 48"/>
            <p:cNvSpPr>
              <a:spLocks noChangeArrowheads="1"/>
            </p:cNvSpPr>
            <p:nvPr/>
          </p:nvSpPr>
          <p:spPr bwMode="auto">
            <a:xfrm>
              <a:off x="6916192" y="4356315"/>
              <a:ext cx="117957" cy="12212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50" name="Oval 49"/>
            <p:cNvSpPr>
              <a:spLocks noChangeArrowheads="1"/>
            </p:cNvSpPr>
            <p:nvPr/>
          </p:nvSpPr>
          <p:spPr bwMode="auto">
            <a:xfrm>
              <a:off x="7499041" y="4356315"/>
              <a:ext cx="117957" cy="12212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51" name="Oval 50"/>
            <p:cNvSpPr>
              <a:spLocks noChangeArrowheads="1"/>
            </p:cNvSpPr>
            <p:nvPr/>
          </p:nvSpPr>
          <p:spPr bwMode="auto">
            <a:xfrm>
              <a:off x="8063848" y="4356315"/>
              <a:ext cx="116570" cy="12212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52" name="Oval 51"/>
            <p:cNvSpPr>
              <a:spLocks noChangeArrowheads="1"/>
            </p:cNvSpPr>
            <p:nvPr/>
          </p:nvSpPr>
          <p:spPr bwMode="auto">
            <a:xfrm>
              <a:off x="6644196" y="4156482"/>
              <a:ext cx="115182" cy="120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53" name="Oval 52"/>
            <p:cNvSpPr>
              <a:spLocks noChangeArrowheads="1"/>
            </p:cNvSpPr>
            <p:nvPr/>
          </p:nvSpPr>
          <p:spPr bwMode="auto">
            <a:xfrm>
              <a:off x="7793241" y="4156482"/>
              <a:ext cx="113794" cy="120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54" name="Oval 53"/>
            <p:cNvSpPr>
              <a:spLocks noChangeArrowheads="1"/>
            </p:cNvSpPr>
            <p:nvPr/>
          </p:nvSpPr>
          <p:spPr bwMode="auto">
            <a:xfrm>
              <a:off x="7207617" y="3933056"/>
              <a:ext cx="117957" cy="120733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55" name="Line 54"/>
            <p:cNvSpPr>
              <a:spLocks noChangeShapeType="1"/>
            </p:cNvSpPr>
            <p:nvPr/>
          </p:nvSpPr>
          <p:spPr bwMode="auto">
            <a:xfrm flipH="1">
              <a:off x="6293099" y="4478436"/>
              <a:ext cx="117958" cy="102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Line 55"/>
            <p:cNvSpPr>
              <a:spLocks noChangeShapeType="1"/>
            </p:cNvSpPr>
            <p:nvPr/>
          </p:nvSpPr>
          <p:spPr bwMode="auto">
            <a:xfrm>
              <a:off x="6411057" y="4478436"/>
              <a:ext cx="94366" cy="102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 flipH="1">
              <a:off x="6857908" y="4478436"/>
              <a:ext cx="116570" cy="102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>
              <a:off x="6974477" y="4478436"/>
              <a:ext cx="98529" cy="102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9" name="Line 58"/>
            <p:cNvSpPr>
              <a:spLocks noChangeShapeType="1"/>
            </p:cNvSpPr>
            <p:nvPr/>
          </p:nvSpPr>
          <p:spPr bwMode="auto">
            <a:xfrm flipH="1">
              <a:off x="7440756" y="4478436"/>
              <a:ext cx="117957" cy="102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>
              <a:off x="7558713" y="4478436"/>
              <a:ext cx="97141" cy="102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 flipH="1">
              <a:off x="8006952" y="4478436"/>
              <a:ext cx="116570" cy="102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Line 61"/>
            <p:cNvSpPr>
              <a:spLocks noChangeShapeType="1"/>
            </p:cNvSpPr>
            <p:nvPr/>
          </p:nvSpPr>
          <p:spPr bwMode="auto">
            <a:xfrm>
              <a:off x="8123521" y="4478436"/>
              <a:ext cx="95753" cy="102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H="1">
              <a:off x="6449914" y="4277214"/>
              <a:ext cx="252568" cy="98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Line 63"/>
            <p:cNvSpPr>
              <a:spLocks noChangeShapeType="1"/>
            </p:cNvSpPr>
            <p:nvPr/>
          </p:nvSpPr>
          <p:spPr bwMode="auto">
            <a:xfrm>
              <a:off x="6702481" y="4277214"/>
              <a:ext cx="233139" cy="98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 flipH="1">
              <a:off x="7597570" y="4277214"/>
              <a:ext cx="252568" cy="98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" name="Line 65"/>
            <p:cNvSpPr>
              <a:spLocks noChangeShapeType="1"/>
            </p:cNvSpPr>
            <p:nvPr/>
          </p:nvSpPr>
          <p:spPr bwMode="auto">
            <a:xfrm>
              <a:off x="7850137" y="4277214"/>
              <a:ext cx="234528" cy="98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7" name="Line 66"/>
            <p:cNvSpPr>
              <a:spLocks noChangeShapeType="1"/>
            </p:cNvSpPr>
            <p:nvPr/>
          </p:nvSpPr>
          <p:spPr bwMode="auto">
            <a:xfrm flipH="1">
              <a:off x="6741338" y="4053789"/>
              <a:ext cx="525951" cy="1221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7267289" y="4053789"/>
              <a:ext cx="542605" cy="1221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78" name="Oval 34"/>
          <p:cNvSpPr>
            <a:spLocks noChangeArrowheads="1"/>
          </p:cNvSpPr>
          <p:nvPr/>
        </p:nvSpPr>
        <p:spPr bwMode="auto">
          <a:xfrm>
            <a:off x="4694312" y="2196388"/>
            <a:ext cx="407051" cy="407051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9" name="Oval 35"/>
          <p:cNvSpPr>
            <a:spLocks noChangeArrowheads="1"/>
          </p:cNvSpPr>
          <p:nvPr/>
        </p:nvSpPr>
        <p:spPr bwMode="auto">
          <a:xfrm>
            <a:off x="6781874" y="2196388"/>
            <a:ext cx="407051" cy="407051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0" name="Oval 38"/>
          <p:cNvSpPr>
            <a:spLocks noChangeArrowheads="1"/>
          </p:cNvSpPr>
          <p:nvPr/>
        </p:nvSpPr>
        <p:spPr bwMode="auto">
          <a:xfrm>
            <a:off x="5773812" y="1523319"/>
            <a:ext cx="407051" cy="407051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grpSp>
        <p:nvGrpSpPr>
          <p:cNvPr id="81" name="Gruppieren 17"/>
          <p:cNvGrpSpPr/>
          <p:nvPr/>
        </p:nvGrpSpPr>
        <p:grpSpPr>
          <a:xfrm>
            <a:off x="5101363" y="1930369"/>
            <a:ext cx="1680511" cy="485924"/>
            <a:chOff x="1251830" y="3776497"/>
            <a:chExt cx="1680511" cy="485924"/>
          </a:xfrm>
        </p:grpSpPr>
        <p:sp>
          <p:nvSpPr>
            <p:cNvPr id="82" name="Line 57"/>
            <p:cNvSpPr>
              <a:spLocks noChangeShapeType="1"/>
            </p:cNvSpPr>
            <p:nvPr/>
          </p:nvSpPr>
          <p:spPr bwMode="auto">
            <a:xfrm flipH="1">
              <a:off x="1251830" y="4262419"/>
              <a:ext cx="871170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3" name="Line 58"/>
            <p:cNvSpPr>
              <a:spLocks noChangeShapeType="1"/>
            </p:cNvSpPr>
            <p:nvPr/>
          </p:nvSpPr>
          <p:spPr bwMode="auto">
            <a:xfrm>
              <a:off x="2123001" y="4262419"/>
              <a:ext cx="809340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" name="Line 57"/>
            <p:cNvSpPr>
              <a:spLocks noChangeShapeType="1"/>
            </p:cNvSpPr>
            <p:nvPr/>
          </p:nvSpPr>
          <p:spPr bwMode="auto">
            <a:xfrm flipV="1">
              <a:off x="2126001" y="3776497"/>
              <a:ext cx="0" cy="4859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/>
            </a:ln>
          </p:spPr>
          <p:txBody>
            <a:bodyPr/>
            <a:lstStyle/>
            <a:p>
              <a:endParaRPr lang="de-DE"/>
            </a:p>
          </p:txBody>
        </p:sp>
      </p:grpSp>
      <p:graphicFrame>
        <p:nvGraphicFramePr>
          <p:cNvPr id="85" name="Object 203"/>
          <p:cNvGraphicFramePr>
            <a:graphicFrameLocks noChangeAspect="1"/>
          </p:cNvGraphicFramePr>
          <p:nvPr>
            <p:extLst/>
          </p:nvPr>
        </p:nvGraphicFramePr>
        <p:xfrm>
          <a:off x="6130092" y="1980748"/>
          <a:ext cx="388938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2" name="Formel" r:id="rId3" imgW="177492" imgH="164814" progId="Equation.3">
                  <p:embed/>
                </p:oleObj>
              </mc:Choice>
              <mc:Fallback>
                <p:oleObj name="Formel" r:id="rId3" imgW="177492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0092" y="1980748"/>
                        <a:ext cx="388938" cy="363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Oval 34"/>
          <p:cNvSpPr>
            <a:spLocks noChangeArrowheads="1"/>
          </p:cNvSpPr>
          <p:nvPr/>
        </p:nvSpPr>
        <p:spPr bwMode="auto">
          <a:xfrm>
            <a:off x="6397867" y="3742029"/>
            <a:ext cx="407051" cy="407051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7" name="Oval 35"/>
          <p:cNvSpPr>
            <a:spLocks noChangeArrowheads="1"/>
          </p:cNvSpPr>
          <p:nvPr/>
        </p:nvSpPr>
        <p:spPr bwMode="auto">
          <a:xfrm>
            <a:off x="8485429" y="3742029"/>
            <a:ext cx="407051" cy="407051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8" name="Oval 38"/>
          <p:cNvSpPr>
            <a:spLocks noChangeArrowheads="1"/>
          </p:cNvSpPr>
          <p:nvPr/>
        </p:nvSpPr>
        <p:spPr bwMode="auto">
          <a:xfrm>
            <a:off x="7477367" y="3068960"/>
            <a:ext cx="407051" cy="407051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grpSp>
        <p:nvGrpSpPr>
          <p:cNvPr id="89" name="Gruppieren 25"/>
          <p:cNvGrpSpPr/>
          <p:nvPr/>
        </p:nvGrpSpPr>
        <p:grpSpPr>
          <a:xfrm>
            <a:off x="6804918" y="3476011"/>
            <a:ext cx="1680511" cy="485923"/>
            <a:chOff x="1251830" y="3776498"/>
            <a:chExt cx="1680511" cy="485923"/>
          </a:xfrm>
        </p:grpSpPr>
        <p:sp>
          <p:nvSpPr>
            <p:cNvPr id="90" name="Line 57"/>
            <p:cNvSpPr>
              <a:spLocks noChangeShapeType="1"/>
            </p:cNvSpPr>
            <p:nvPr/>
          </p:nvSpPr>
          <p:spPr bwMode="auto">
            <a:xfrm flipH="1">
              <a:off x="1251830" y="4262419"/>
              <a:ext cx="871170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" name="Line 58"/>
            <p:cNvSpPr>
              <a:spLocks noChangeShapeType="1"/>
            </p:cNvSpPr>
            <p:nvPr/>
          </p:nvSpPr>
          <p:spPr bwMode="auto">
            <a:xfrm>
              <a:off x="2123001" y="4262419"/>
              <a:ext cx="809340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grpSp>
          <p:nvGrpSpPr>
            <p:cNvPr id="92" name="Gruppieren 103"/>
            <p:cNvGrpSpPr/>
            <p:nvPr/>
          </p:nvGrpSpPr>
          <p:grpSpPr>
            <a:xfrm>
              <a:off x="2033900" y="4013448"/>
              <a:ext cx="184200" cy="176966"/>
              <a:chOff x="859408" y="3933055"/>
              <a:chExt cx="184200" cy="176966"/>
            </a:xfrm>
          </p:grpSpPr>
          <p:sp>
            <p:nvSpPr>
              <p:cNvPr id="97" name="Ellipse 33"/>
              <p:cNvSpPr/>
              <p:nvPr/>
            </p:nvSpPr>
            <p:spPr>
              <a:xfrm>
                <a:off x="859409" y="3933055"/>
                <a:ext cx="184199" cy="17696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98" name="Gerade Verbindung 34"/>
              <p:cNvCxnSpPr/>
              <p:nvPr/>
            </p:nvCxnSpPr>
            <p:spPr>
              <a:xfrm rot="16200000" flipH="1">
                <a:off x="863026" y="4021538"/>
                <a:ext cx="17696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 Verbindung 35"/>
              <p:cNvCxnSpPr>
                <a:stCxn id="97" idx="2"/>
                <a:endCxn id="97" idx="6"/>
              </p:cNvCxnSpPr>
              <p:nvPr/>
            </p:nvCxnSpPr>
            <p:spPr>
              <a:xfrm rot="10800000" flipH="1">
                <a:off x="859408" y="4021538"/>
                <a:ext cx="18419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Line 57"/>
            <p:cNvSpPr>
              <a:spLocks noChangeShapeType="1"/>
            </p:cNvSpPr>
            <p:nvPr/>
          </p:nvSpPr>
          <p:spPr bwMode="auto">
            <a:xfrm flipH="1" flipV="1">
              <a:off x="2123001" y="4190414"/>
              <a:ext cx="0" cy="720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" name="Line 57"/>
            <p:cNvSpPr>
              <a:spLocks noChangeShapeType="1"/>
            </p:cNvSpPr>
            <p:nvPr/>
          </p:nvSpPr>
          <p:spPr bwMode="auto">
            <a:xfrm flipV="1">
              <a:off x="2126001" y="3776498"/>
              <a:ext cx="0" cy="236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5" name="Textfeld 31"/>
            <p:cNvSpPr txBox="1"/>
            <p:nvPr/>
          </p:nvSpPr>
          <p:spPr>
            <a:xfrm>
              <a:off x="1350309" y="3869432"/>
              <a:ext cx="504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b</a:t>
              </a:r>
              <a:r>
                <a:rPr lang="de-DE" baseline="-25000" dirty="0" smtClean="0"/>
                <a:t>i</a:t>
              </a:r>
              <a:endParaRPr lang="de-DE" baseline="-25000" dirty="0"/>
            </a:p>
          </p:txBody>
        </p:sp>
        <p:sp>
          <p:nvSpPr>
            <p:cNvPr id="96" name="Line 57"/>
            <p:cNvSpPr>
              <a:spLocks noChangeShapeType="1"/>
            </p:cNvSpPr>
            <p:nvPr/>
          </p:nvSpPr>
          <p:spPr bwMode="auto">
            <a:xfrm flipH="1">
              <a:off x="1698520" y="4101931"/>
              <a:ext cx="41074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graphicFrame>
        <p:nvGraphicFramePr>
          <p:cNvPr id="100" name="Object 203"/>
          <p:cNvGraphicFramePr>
            <a:graphicFrameLocks noChangeAspect="1"/>
          </p:cNvGraphicFramePr>
          <p:nvPr>
            <p:extLst/>
          </p:nvPr>
        </p:nvGraphicFramePr>
        <p:xfrm>
          <a:off x="7833647" y="3386311"/>
          <a:ext cx="388938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3" name="Formel" r:id="rId5" imgW="177492" imgH="164814" progId="Equation.3">
                  <p:embed/>
                </p:oleObj>
              </mc:Choice>
              <mc:Fallback>
                <p:oleObj name="Formel" r:id="rId5" imgW="177492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3647" y="3386311"/>
                        <a:ext cx="388938" cy="363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Pfeil nach rechts 37"/>
          <p:cNvSpPr/>
          <p:nvPr/>
        </p:nvSpPr>
        <p:spPr>
          <a:xfrm rot="1495683">
            <a:off x="6225745" y="2607470"/>
            <a:ext cx="936104" cy="580135"/>
          </a:xfrm>
          <a:prstGeom prst="rightArrow">
            <a:avLst/>
          </a:prstGeom>
          <a:solidFill>
            <a:srgbClr val="CC092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435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Multi-Tree </a:t>
            </a:r>
            <a:r>
              <a:rPr lang="de-DE" dirty="0" smtClean="0"/>
              <a:t>XMSS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 smtClean="0"/>
                  <a:t>Uses multiple layers of trees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 smtClean="0"/>
                  <a:t>-&gt; Key </a:t>
                </a:r>
                <a:r>
                  <a:rPr lang="en-US" dirty="0"/>
                  <a:t>generation</a:t>
                </a:r>
                <a:br>
                  <a:rPr lang="en-US" dirty="0"/>
                </a:br>
                <a:r>
                  <a:rPr lang="en-US" sz="2000" dirty="0" smtClean="0"/>
                  <a:t>(= Building first tree on each layer) 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 smtClean="0">
                    <a:solidFill>
                      <a:srgbClr val="00090C"/>
                    </a:solidFill>
                  </a:rPr>
                  <a:t>(</a:t>
                </a:r>
                <a:r>
                  <a:rPr lang="en-US" dirty="0" smtClean="0">
                    <a:solidFill>
                      <a:srgbClr val="00090C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baseline="30000" dirty="0" smtClean="0">
                    <a:solidFill>
                      <a:srgbClr val="00090C"/>
                    </a:solidFill>
                    <a:latin typeface="Times New Roman" pitchFamily="18" charset="0"/>
                    <a:cs typeface="Times New Roman" pitchFamily="18" charset="0"/>
                  </a:rPr>
                  <a:t>h</a:t>
                </a:r>
                <a:r>
                  <a:rPr lang="en-US" dirty="0">
                    <a:solidFill>
                      <a:srgbClr val="00090C"/>
                    </a:solidFill>
                  </a:rPr>
                  <a:t>) </a:t>
                </a:r>
                <a:r>
                  <a:rPr lang="en-US" dirty="0">
                    <a:solidFill>
                      <a:srgbClr val="00090C"/>
                    </a:solidFill>
                    <a:latin typeface="Times New Roman"/>
                    <a:cs typeface="Times New Roman"/>
                  </a:rPr>
                  <a:t>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 smtClean="0">
                    <a:solidFill>
                      <a:srgbClr val="00090C"/>
                    </a:solidFill>
                  </a:rPr>
                  <a:t>(</a:t>
                </a:r>
                <a:r>
                  <a:rPr lang="en-US" i="1" dirty="0" smtClean="0">
                    <a:solidFill>
                      <a:srgbClr val="00090C"/>
                    </a:solidFill>
                    <a:latin typeface="Times New Roman" pitchFamily="18" charset="0"/>
                    <a:cs typeface="Times New Roman" pitchFamily="18" charset="0"/>
                  </a:rPr>
                  <a:t>d*</a:t>
                </a:r>
                <a:r>
                  <a:rPr lang="en-US" dirty="0" smtClean="0">
                    <a:solidFill>
                      <a:srgbClr val="00090C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baseline="30000" dirty="0" smtClean="0">
                    <a:solidFill>
                      <a:srgbClr val="00090C"/>
                    </a:solidFill>
                    <a:latin typeface="Times New Roman" pitchFamily="18" charset="0"/>
                    <a:cs typeface="Times New Roman" pitchFamily="18" charset="0"/>
                  </a:rPr>
                  <a:t>h/d</a:t>
                </a:r>
                <a:r>
                  <a:rPr lang="en-US" dirty="0">
                    <a:solidFill>
                      <a:srgbClr val="00090C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de-DE" dirty="0" smtClean="0"/>
                  <a:t>-&gt; Allows to reduce</a:t>
                </a:r>
                <a:br>
                  <a:rPr lang="de-DE" dirty="0" smtClean="0"/>
                </a:br>
                <a:r>
                  <a:rPr lang="de-DE" dirty="0" smtClean="0"/>
                  <a:t>worst-case signing times</a:t>
                </a:r>
                <a:br>
                  <a:rPr lang="de-DE" dirty="0" smtClean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 smtClean="0">
                    <a:solidFill>
                      <a:srgbClr val="00090C"/>
                    </a:solidFill>
                  </a:rPr>
                  <a:t>(</a:t>
                </a:r>
                <a:r>
                  <a:rPr lang="en-US" dirty="0" smtClean="0">
                    <a:solidFill>
                      <a:srgbClr val="00090C"/>
                    </a:solidFill>
                    <a:latin typeface="Times New Roman" pitchFamily="18" charset="0"/>
                    <a:cs typeface="Times New Roman" pitchFamily="18" charset="0"/>
                  </a:rPr>
                  <a:t>h/2</a:t>
                </a:r>
                <a:r>
                  <a:rPr lang="en-US" dirty="0" smtClean="0">
                    <a:solidFill>
                      <a:srgbClr val="00090C"/>
                    </a:solidFill>
                  </a:rPr>
                  <a:t>) </a:t>
                </a:r>
                <a:r>
                  <a:rPr lang="en-US" dirty="0">
                    <a:solidFill>
                      <a:srgbClr val="00090C"/>
                    </a:solidFill>
                    <a:latin typeface="Times New Roman"/>
                    <a:cs typeface="Times New Roman"/>
                  </a:rPr>
                  <a:t>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 smtClean="0">
                    <a:solidFill>
                      <a:srgbClr val="00090C"/>
                    </a:solidFill>
                  </a:rPr>
                  <a:t>(</a:t>
                </a:r>
                <a:r>
                  <a:rPr lang="en-US" i="1" dirty="0" smtClean="0">
                    <a:solidFill>
                      <a:srgbClr val="00090C"/>
                    </a:solidFill>
                    <a:latin typeface="Times New Roman" pitchFamily="18" charset="0"/>
                    <a:cs typeface="Times New Roman" pitchFamily="18" charset="0"/>
                  </a:rPr>
                  <a:t>h/2d</a:t>
                </a:r>
                <a:r>
                  <a:rPr lang="en-US" dirty="0" smtClean="0">
                    <a:solidFill>
                      <a:srgbClr val="00090C"/>
                    </a:solidFill>
                  </a:rPr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pieren 64"/>
          <p:cNvGrpSpPr/>
          <p:nvPr/>
        </p:nvGrpSpPr>
        <p:grpSpPr>
          <a:xfrm>
            <a:off x="3131841" y="2924944"/>
            <a:ext cx="5847408" cy="3176215"/>
            <a:chOff x="250825" y="2800350"/>
            <a:chExt cx="4448175" cy="2416175"/>
          </a:xfrm>
        </p:grpSpPr>
        <p:pic>
          <p:nvPicPr>
            <p:cNvPr id="6" name="Picture 302" descr="stam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392363" y="3535363"/>
              <a:ext cx="103187" cy="180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301" descr="stam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23963" y="4797425"/>
              <a:ext cx="103187" cy="180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" name="Group 34"/>
            <p:cNvGrpSpPr>
              <a:grpSpLocks/>
            </p:cNvGrpSpPr>
            <p:nvPr/>
          </p:nvGrpSpPr>
          <p:grpSpPr bwMode="auto">
            <a:xfrm>
              <a:off x="1973263" y="3716338"/>
              <a:ext cx="150812" cy="215900"/>
              <a:chOff x="1338" y="1661"/>
              <a:chExt cx="363" cy="523"/>
            </a:xfrm>
          </p:grpSpPr>
          <p:sp>
            <p:nvSpPr>
              <p:cNvPr id="76" name="Oval 35"/>
              <p:cNvSpPr>
                <a:spLocks noChangeArrowheads="1"/>
              </p:cNvSpPr>
              <p:nvPr/>
            </p:nvSpPr>
            <p:spPr bwMode="auto">
              <a:xfrm>
                <a:off x="1338" y="1661"/>
                <a:ext cx="363" cy="363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de-DE" altLang="de-DE"/>
              </a:p>
            </p:txBody>
          </p:sp>
          <p:pic>
            <p:nvPicPr>
              <p:cNvPr id="77" name="Picture 36" descr="cert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FEFFF9"/>
                  </a:clrFrom>
                  <a:clrTo>
                    <a:srgbClr val="FEFFF9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 rot="-584219">
                <a:off x="1519" y="1842"/>
                <a:ext cx="158" cy="3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9" name="Picture 37" descr="doc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50825" y="4914900"/>
              <a:ext cx="158750" cy="166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38" descr="docsig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EFEFC"/>
                </a:clrFrom>
                <a:clrTo>
                  <a:srgbClr val="FEFEFC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90575" y="4899025"/>
              <a:ext cx="173038" cy="257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1116013" y="4768850"/>
              <a:ext cx="134937" cy="138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1449388" y="4768850"/>
              <a:ext cx="134937" cy="138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13" name="Oval 7"/>
            <p:cNvSpPr>
              <a:spLocks noChangeArrowheads="1"/>
            </p:cNvSpPr>
            <p:nvPr/>
          </p:nvSpPr>
          <p:spPr bwMode="auto">
            <a:xfrm>
              <a:off x="1762125" y="4768850"/>
              <a:ext cx="133350" cy="138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2095500" y="4768850"/>
              <a:ext cx="134938" cy="138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15" name="Oval 9"/>
            <p:cNvSpPr>
              <a:spLocks noChangeArrowheads="1"/>
            </p:cNvSpPr>
            <p:nvPr/>
          </p:nvSpPr>
          <p:spPr bwMode="auto">
            <a:xfrm>
              <a:off x="2430463" y="4768850"/>
              <a:ext cx="133350" cy="138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16" name="Oval 10"/>
            <p:cNvSpPr>
              <a:spLocks noChangeArrowheads="1"/>
            </p:cNvSpPr>
            <p:nvPr/>
          </p:nvSpPr>
          <p:spPr bwMode="auto">
            <a:xfrm>
              <a:off x="2763838" y="4768850"/>
              <a:ext cx="133350" cy="138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17" name="Oval 11"/>
            <p:cNvSpPr>
              <a:spLocks noChangeArrowheads="1"/>
            </p:cNvSpPr>
            <p:nvPr/>
          </p:nvSpPr>
          <p:spPr bwMode="auto">
            <a:xfrm>
              <a:off x="3073400" y="4768850"/>
              <a:ext cx="134938" cy="138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18" name="Oval 12"/>
            <p:cNvSpPr>
              <a:spLocks noChangeArrowheads="1"/>
            </p:cNvSpPr>
            <p:nvPr/>
          </p:nvSpPr>
          <p:spPr bwMode="auto">
            <a:xfrm>
              <a:off x="3409950" y="4768850"/>
              <a:ext cx="131763" cy="138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19" name="Oval 13"/>
            <p:cNvSpPr>
              <a:spLocks noChangeArrowheads="1"/>
            </p:cNvSpPr>
            <p:nvPr/>
          </p:nvSpPr>
          <p:spPr bwMode="auto">
            <a:xfrm>
              <a:off x="1295400" y="4537075"/>
              <a:ext cx="131763" cy="1397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20" name="Oval 14"/>
            <p:cNvSpPr>
              <a:spLocks noChangeArrowheads="1"/>
            </p:cNvSpPr>
            <p:nvPr/>
          </p:nvSpPr>
          <p:spPr bwMode="auto">
            <a:xfrm>
              <a:off x="1939925" y="4537075"/>
              <a:ext cx="134938" cy="1397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21" name="Oval 15"/>
            <p:cNvSpPr>
              <a:spLocks noChangeArrowheads="1"/>
            </p:cNvSpPr>
            <p:nvPr/>
          </p:nvSpPr>
          <p:spPr bwMode="auto">
            <a:xfrm>
              <a:off x="2608263" y="4537075"/>
              <a:ext cx="133350" cy="1397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22" name="Oval 16"/>
            <p:cNvSpPr>
              <a:spLocks noChangeArrowheads="1"/>
            </p:cNvSpPr>
            <p:nvPr/>
          </p:nvSpPr>
          <p:spPr bwMode="auto">
            <a:xfrm>
              <a:off x="3251200" y="4537075"/>
              <a:ext cx="134938" cy="1397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23" name="Oval 17"/>
            <p:cNvSpPr>
              <a:spLocks noChangeArrowheads="1"/>
            </p:cNvSpPr>
            <p:nvPr/>
          </p:nvSpPr>
          <p:spPr bwMode="auto">
            <a:xfrm>
              <a:off x="1628775" y="4305300"/>
              <a:ext cx="133350" cy="138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24" name="Oval 18"/>
            <p:cNvSpPr>
              <a:spLocks noChangeArrowheads="1"/>
            </p:cNvSpPr>
            <p:nvPr/>
          </p:nvSpPr>
          <p:spPr bwMode="auto">
            <a:xfrm>
              <a:off x="2943225" y="4305300"/>
              <a:ext cx="130175" cy="138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25" name="Oval 19"/>
            <p:cNvSpPr>
              <a:spLocks noChangeArrowheads="1"/>
            </p:cNvSpPr>
            <p:nvPr/>
          </p:nvSpPr>
          <p:spPr bwMode="auto">
            <a:xfrm>
              <a:off x="2273300" y="4049713"/>
              <a:ext cx="134938" cy="14287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 flipH="1">
              <a:off x="1227138" y="4676775"/>
              <a:ext cx="134937" cy="112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1362075" y="4676775"/>
              <a:ext cx="111125" cy="112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 flipH="1">
              <a:off x="1873250" y="4676775"/>
              <a:ext cx="133350" cy="112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2006600" y="4676775"/>
              <a:ext cx="112713" cy="112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 flipH="1">
              <a:off x="2540000" y="4676775"/>
              <a:ext cx="134938" cy="112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2674938" y="4676775"/>
              <a:ext cx="111125" cy="112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 flipH="1">
              <a:off x="3187700" y="4676775"/>
              <a:ext cx="133350" cy="112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3321050" y="4676775"/>
              <a:ext cx="109538" cy="112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 flipH="1">
              <a:off x="1406525" y="4443413"/>
              <a:ext cx="290513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>
              <a:off x="1697038" y="4443413"/>
              <a:ext cx="265112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H="1">
              <a:off x="2719388" y="4443413"/>
              <a:ext cx="288925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Line 31"/>
            <p:cNvSpPr>
              <a:spLocks noChangeShapeType="1"/>
            </p:cNvSpPr>
            <p:nvPr/>
          </p:nvSpPr>
          <p:spPr bwMode="auto">
            <a:xfrm>
              <a:off x="3008313" y="4443413"/>
              <a:ext cx="268287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Line 32"/>
            <p:cNvSpPr>
              <a:spLocks noChangeShapeType="1"/>
            </p:cNvSpPr>
            <p:nvPr/>
          </p:nvSpPr>
          <p:spPr bwMode="auto">
            <a:xfrm flipH="1">
              <a:off x="1739900" y="4192588"/>
              <a:ext cx="601663" cy="136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Line 33"/>
            <p:cNvSpPr>
              <a:spLocks noChangeShapeType="1"/>
            </p:cNvSpPr>
            <p:nvPr/>
          </p:nvSpPr>
          <p:spPr bwMode="auto">
            <a:xfrm>
              <a:off x="2341563" y="4192588"/>
              <a:ext cx="620712" cy="136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Oval 39"/>
            <p:cNvSpPr>
              <a:spLocks noChangeArrowheads="1"/>
            </p:cNvSpPr>
            <p:nvPr/>
          </p:nvSpPr>
          <p:spPr bwMode="auto">
            <a:xfrm>
              <a:off x="2273300" y="3516313"/>
              <a:ext cx="134938" cy="138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2606675" y="3516313"/>
              <a:ext cx="134938" cy="138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2917825" y="3516313"/>
              <a:ext cx="134938" cy="138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3" name="Oval 42"/>
            <p:cNvSpPr>
              <a:spLocks noChangeArrowheads="1"/>
            </p:cNvSpPr>
            <p:nvPr/>
          </p:nvSpPr>
          <p:spPr bwMode="auto">
            <a:xfrm>
              <a:off x="3252788" y="3516313"/>
              <a:ext cx="133350" cy="138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3587750" y="3516313"/>
              <a:ext cx="131763" cy="138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3921125" y="3516313"/>
              <a:ext cx="133350" cy="138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>
              <a:off x="4230688" y="3516313"/>
              <a:ext cx="134937" cy="138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7" name="Oval 46"/>
            <p:cNvSpPr>
              <a:spLocks noChangeArrowheads="1"/>
            </p:cNvSpPr>
            <p:nvPr/>
          </p:nvSpPr>
          <p:spPr bwMode="auto">
            <a:xfrm>
              <a:off x="4564063" y="3516313"/>
              <a:ext cx="134937" cy="138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8" name="Oval 47"/>
            <p:cNvSpPr>
              <a:spLocks noChangeArrowheads="1"/>
            </p:cNvSpPr>
            <p:nvPr/>
          </p:nvSpPr>
          <p:spPr bwMode="auto">
            <a:xfrm>
              <a:off x="2451100" y="3284538"/>
              <a:ext cx="133350" cy="1397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49" name="Oval 48"/>
            <p:cNvSpPr>
              <a:spLocks noChangeArrowheads="1"/>
            </p:cNvSpPr>
            <p:nvPr/>
          </p:nvSpPr>
          <p:spPr bwMode="auto">
            <a:xfrm>
              <a:off x="3097213" y="3284538"/>
              <a:ext cx="134937" cy="1397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50" name="Oval 49"/>
            <p:cNvSpPr>
              <a:spLocks noChangeArrowheads="1"/>
            </p:cNvSpPr>
            <p:nvPr/>
          </p:nvSpPr>
          <p:spPr bwMode="auto">
            <a:xfrm>
              <a:off x="3763963" y="3284538"/>
              <a:ext cx="134937" cy="1397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51" name="Oval 50"/>
            <p:cNvSpPr>
              <a:spLocks noChangeArrowheads="1"/>
            </p:cNvSpPr>
            <p:nvPr/>
          </p:nvSpPr>
          <p:spPr bwMode="auto">
            <a:xfrm>
              <a:off x="4410075" y="3284538"/>
              <a:ext cx="133350" cy="1397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52" name="Oval 51"/>
            <p:cNvSpPr>
              <a:spLocks noChangeArrowheads="1"/>
            </p:cNvSpPr>
            <p:nvPr/>
          </p:nvSpPr>
          <p:spPr bwMode="auto">
            <a:xfrm>
              <a:off x="2786063" y="3055938"/>
              <a:ext cx="131762" cy="138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53" name="Oval 52"/>
            <p:cNvSpPr>
              <a:spLocks noChangeArrowheads="1"/>
            </p:cNvSpPr>
            <p:nvPr/>
          </p:nvSpPr>
          <p:spPr bwMode="auto">
            <a:xfrm>
              <a:off x="4100513" y="3055938"/>
              <a:ext cx="130175" cy="138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54" name="Oval 53"/>
            <p:cNvSpPr>
              <a:spLocks noChangeArrowheads="1"/>
            </p:cNvSpPr>
            <p:nvPr/>
          </p:nvSpPr>
          <p:spPr bwMode="auto">
            <a:xfrm>
              <a:off x="3430588" y="2800350"/>
              <a:ext cx="134937" cy="138113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sp>
          <p:nvSpPr>
            <p:cNvPr id="55" name="Line 54"/>
            <p:cNvSpPr>
              <a:spLocks noChangeShapeType="1"/>
            </p:cNvSpPr>
            <p:nvPr/>
          </p:nvSpPr>
          <p:spPr bwMode="auto">
            <a:xfrm flipH="1">
              <a:off x="2384425" y="3424238"/>
              <a:ext cx="134938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Line 55"/>
            <p:cNvSpPr>
              <a:spLocks noChangeShapeType="1"/>
            </p:cNvSpPr>
            <p:nvPr/>
          </p:nvSpPr>
          <p:spPr bwMode="auto">
            <a:xfrm>
              <a:off x="2519363" y="3424238"/>
              <a:ext cx="107950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 flipH="1">
              <a:off x="3030538" y="3424238"/>
              <a:ext cx="133350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>
              <a:off x="3163888" y="3424238"/>
              <a:ext cx="112712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9" name="Line 58"/>
            <p:cNvSpPr>
              <a:spLocks noChangeShapeType="1"/>
            </p:cNvSpPr>
            <p:nvPr/>
          </p:nvSpPr>
          <p:spPr bwMode="auto">
            <a:xfrm flipH="1">
              <a:off x="3697288" y="3424238"/>
              <a:ext cx="134937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>
              <a:off x="3832225" y="3424238"/>
              <a:ext cx="111125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 flipH="1">
              <a:off x="4344988" y="3424238"/>
              <a:ext cx="133350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Line 61"/>
            <p:cNvSpPr>
              <a:spLocks noChangeShapeType="1"/>
            </p:cNvSpPr>
            <p:nvPr/>
          </p:nvSpPr>
          <p:spPr bwMode="auto">
            <a:xfrm>
              <a:off x="4478338" y="3424238"/>
              <a:ext cx="109537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H="1">
              <a:off x="2563813" y="3194050"/>
              <a:ext cx="288925" cy="112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Line 63"/>
            <p:cNvSpPr>
              <a:spLocks noChangeShapeType="1"/>
            </p:cNvSpPr>
            <p:nvPr/>
          </p:nvSpPr>
          <p:spPr bwMode="auto">
            <a:xfrm>
              <a:off x="2852738" y="3194050"/>
              <a:ext cx="266700" cy="112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 flipH="1">
              <a:off x="3876675" y="3194050"/>
              <a:ext cx="288925" cy="112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" name="Line 65"/>
            <p:cNvSpPr>
              <a:spLocks noChangeShapeType="1"/>
            </p:cNvSpPr>
            <p:nvPr/>
          </p:nvSpPr>
          <p:spPr bwMode="auto">
            <a:xfrm>
              <a:off x="4165600" y="3194050"/>
              <a:ext cx="268288" cy="112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7" name="Line 66"/>
            <p:cNvSpPr>
              <a:spLocks noChangeShapeType="1"/>
            </p:cNvSpPr>
            <p:nvPr/>
          </p:nvSpPr>
          <p:spPr bwMode="auto">
            <a:xfrm flipH="1">
              <a:off x="2897188" y="2938463"/>
              <a:ext cx="601662" cy="139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3498850" y="2938463"/>
              <a:ext cx="620713" cy="139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9" name="Line 247"/>
            <p:cNvSpPr>
              <a:spLocks noChangeShapeType="1"/>
            </p:cNvSpPr>
            <p:nvPr/>
          </p:nvSpPr>
          <p:spPr bwMode="auto">
            <a:xfrm flipH="1">
              <a:off x="2339975" y="3687763"/>
              <a:ext cx="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med"/>
              <a:tailEnd type="triangle" w="sm" len="med"/>
            </a:ln>
          </p:spPr>
          <p:txBody>
            <a:bodyPr/>
            <a:lstStyle/>
            <a:p>
              <a:endParaRPr lang="de-DE"/>
            </a:p>
          </p:txBody>
        </p:sp>
        <p:pic>
          <p:nvPicPr>
            <p:cNvPr id="70" name="Picture 248" descr="stam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727200" y="3573463"/>
              <a:ext cx="103188" cy="180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1" name="Line 256"/>
            <p:cNvSpPr>
              <a:spLocks noChangeShapeType="1"/>
            </p:cNvSpPr>
            <p:nvPr/>
          </p:nvSpPr>
          <p:spPr bwMode="auto">
            <a:xfrm>
              <a:off x="1643063" y="3802063"/>
              <a:ext cx="288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" name="Oval 257"/>
            <p:cNvSpPr>
              <a:spLocks noChangeArrowheads="1"/>
            </p:cNvSpPr>
            <p:nvPr/>
          </p:nvSpPr>
          <p:spPr bwMode="auto">
            <a:xfrm>
              <a:off x="1470025" y="3716338"/>
              <a:ext cx="134938" cy="142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altLang="de-DE"/>
            </a:p>
          </p:txBody>
        </p:sp>
        <p:pic>
          <p:nvPicPr>
            <p:cNvPr id="73" name="Picture 261" descr="stam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44513" y="4797425"/>
              <a:ext cx="103187" cy="180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4" name="Line 262"/>
            <p:cNvSpPr>
              <a:spLocks noChangeShapeType="1"/>
            </p:cNvSpPr>
            <p:nvPr/>
          </p:nvSpPr>
          <p:spPr bwMode="auto">
            <a:xfrm>
              <a:off x="460375" y="5026025"/>
              <a:ext cx="288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  <p:pic>
          <p:nvPicPr>
            <p:cNvPr id="75" name="Picture 304" descr="doc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079500" y="5049838"/>
              <a:ext cx="158750" cy="166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98318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Authentication path computation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1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2138" y="2878832"/>
            <a:ext cx="8498334" cy="838200"/>
          </a:xfrm>
        </p:spPr>
        <p:txBody>
          <a:bodyPr>
            <a:normAutofit fontScale="90000"/>
          </a:bodyPr>
          <a:lstStyle/>
          <a:p>
            <a:pPr algn="ctr" fontAlgn="ctr">
              <a:spcAft>
                <a:spcPts val="600"/>
              </a:spcAft>
            </a:pPr>
            <a:r>
              <a:rPr lang="en-US" sz="4400" dirty="0" err="1" smtClean="0"/>
              <a:t>TreeHash</a:t>
            </a: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2000" dirty="0" smtClean="0"/>
              <a:t>(Mer89)</a:t>
            </a:r>
            <a:endParaRPr lang="en-US" sz="2000" baseline="30000" dirty="0" smtClean="0"/>
          </a:p>
        </p:txBody>
      </p:sp>
    </p:spTree>
    <p:extLst>
      <p:ext uri="{BB962C8B-B14F-4D97-AF65-F5344CB8AC3E}">
        <p14:creationId xmlns:p14="http://schemas.microsoft.com/office/powerpoint/2010/main" val="839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TreeHash</a:t>
            </a:r>
            <a:endParaRPr lang="de-DE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250825" y="1592263"/>
            <a:ext cx="8640763" cy="4500562"/>
          </a:xfrm>
          <a:prstGeom prst="rect">
            <a:avLst/>
          </a:prstGeom>
        </p:spPr>
        <p:txBody>
          <a:bodyPr/>
          <a:lstStyle/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TreeHash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v,i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 Computes node on level v with leftmost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000" kern="0" dirty="0" smtClean="0">
                <a:latin typeface="+mn-lt"/>
              </a:rPr>
              <a:t>descendant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</a:t>
            </a:r>
            <a:r>
              <a:rPr kumimoji="0" lang="en-US" sz="20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2000" kern="0" dirty="0" smtClean="0">
                <a:latin typeface="+mn-lt"/>
              </a:rPr>
              <a:t>Public Key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Generation: Run </a:t>
            </a: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TreeHash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(h,0)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2000" kern="0" dirty="0" smtClean="0">
              <a:latin typeface="+mn-lt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2000" kern="0" dirty="0" smtClean="0">
              <a:latin typeface="+mn-lt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2000" kern="0" dirty="0" smtClean="0">
              <a:latin typeface="+mn-lt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2000" kern="0" dirty="0" smtClean="0">
              <a:latin typeface="+mn-lt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lvl="0" indent="-179388" eaLnBrk="0" hangingPunct="0">
              <a:spcBef>
                <a:spcPct val="20000"/>
              </a:spcBef>
            </a:pPr>
            <a:r>
              <a:rPr lang="en-US" sz="2000" kern="0" dirty="0" smtClean="0"/>
              <a:t>   L</a:t>
            </a:r>
            <a:r>
              <a:rPr lang="en-US" sz="2000" kern="0" baseline="-25000" dirty="0" smtClean="0"/>
              <a:t>0	</a:t>
            </a:r>
            <a:r>
              <a:rPr lang="en-US" sz="2000" kern="0" dirty="0" smtClean="0"/>
              <a:t>      L</a:t>
            </a:r>
            <a:r>
              <a:rPr lang="en-US" sz="2000" kern="0" baseline="-25000" dirty="0" smtClean="0"/>
              <a:t>1                 </a:t>
            </a:r>
            <a:r>
              <a:rPr lang="en-US" sz="2000" kern="0" dirty="0" smtClean="0"/>
              <a:t>L</a:t>
            </a:r>
            <a:r>
              <a:rPr lang="en-US" sz="2000" kern="0" baseline="-25000" dirty="0" smtClean="0"/>
              <a:t>2                 </a:t>
            </a:r>
            <a:r>
              <a:rPr lang="en-US" sz="2000" kern="0" dirty="0" smtClean="0"/>
              <a:t>L</a:t>
            </a:r>
            <a:r>
              <a:rPr lang="en-US" sz="2000" kern="0" baseline="-25000" dirty="0" smtClean="0"/>
              <a:t>3                  </a:t>
            </a:r>
            <a:r>
              <a:rPr lang="en-US" sz="2000" b="1" kern="0" baseline="-25000" dirty="0" smtClean="0"/>
              <a:t>. . .</a:t>
            </a:r>
            <a:r>
              <a:rPr lang="en-US" sz="2000" kern="0" dirty="0" smtClean="0"/>
              <a:t>                                          L</a:t>
            </a:r>
            <a:r>
              <a:rPr lang="en-US" sz="2000" kern="0" baseline="-25000" dirty="0" smtClean="0"/>
              <a:t>7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Oval 26"/>
          <p:cNvSpPr>
            <a:spLocks noChangeArrowheads="1"/>
          </p:cNvSpPr>
          <p:nvPr/>
        </p:nvSpPr>
        <p:spPr bwMode="auto">
          <a:xfrm>
            <a:off x="454795" y="5029869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6" name="Oval 27"/>
          <p:cNvSpPr>
            <a:spLocks noChangeArrowheads="1"/>
          </p:cNvSpPr>
          <p:nvPr/>
        </p:nvSpPr>
        <p:spPr bwMode="auto">
          <a:xfrm>
            <a:off x="1534295" y="5029869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7" name="Oval 28"/>
          <p:cNvSpPr>
            <a:spLocks noChangeArrowheads="1"/>
          </p:cNvSpPr>
          <p:nvPr/>
        </p:nvSpPr>
        <p:spPr bwMode="auto">
          <a:xfrm>
            <a:off x="2542357" y="5029869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8" name="Oval 29"/>
          <p:cNvSpPr>
            <a:spLocks noChangeArrowheads="1"/>
          </p:cNvSpPr>
          <p:nvPr/>
        </p:nvSpPr>
        <p:spPr bwMode="auto">
          <a:xfrm>
            <a:off x="3621857" y="5029869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9" name="Oval 30"/>
          <p:cNvSpPr>
            <a:spLocks noChangeArrowheads="1"/>
          </p:cNvSpPr>
          <p:nvPr/>
        </p:nvSpPr>
        <p:spPr bwMode="auto">
          <a:xfrm>
            <a:off x="4704532" y="5029869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0" name="Oval 31"/>
          <p:cNvSpPr>
            <a:spLocks noChangeArrowheads="1"/>
          </p:cNvSpPr>
          <p:nvPr/>
        </p:nvSpPr>
        <p:spPr bwMode="auto">
          <a:xfrm>
            <a:off x="5784032" y="5029869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1" name="Oval 32"/>
          <p:cNvSpPr>
            <a:spLocks noChangeArrowheads="1"/>
          </p:cNvSpPr>
          <p:nvPr/>
        </p:nvSpPr>
        <p:spPr bwMode="auto">
          <a:xfrm>
            <a:off x="6792095" y="5029869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2" name="Oval 33"/>
          <p:cNvSpPr>
            <a:spLocks noChangeArrowheads="1"/>
          </p:cNvSpPr>
          <p:nvPr/>
        </p:nvSpPr>
        <p:spPr bwMode="auto">
          <a:xfrm>
            <a:off x="7871595" y="5029869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3" name="Oval 34"/>
          <p:cNvSpPr>
            <a:spLocks noChangeArrowheads="1"/>
          </p:cNvSpPr>
          <p:nvPr/>
        </p:nvSpPr>
        <p:spPr bwMode="auto">
          <a:xfrm>
            <a:off x="1032645" y="4310732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4" name="Oval 35"/>
          <p:cNvSpPr>
            <a:spLocks noChangeArrowheads="1"/>
          </p:cNvSpPr>
          <p:nvPr/>
        </p:nvSpPr>
        <p:spPr bwMode="auto">
          <a:xfrm>
            <a:off x="3120207" y="4310732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5" name="Oval 36"/>
          <p:cNvSpPr>
            <a:spLocks noChangeArrowheads="1"/>
          </p:cNvSpPr>
          <p:nvPr/>
        </p:nvSpPr>
        <p:spPr bwMode="auto">
          <a:xfrm>
            <a:off x="5280795" y="4310732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6" name="Oval 37"/>
          <p:cNvSpPr>
            <a:spLocks noChangeArrowheads="1"/>
          </p:cNvSpPr>
          <p:nvPr/>
        </p:nvSpPr>
        <p:spPr bwMode="auto">
          <a:xfrm>
            <a:off x="7368357" y="4310732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7" name="Oval 38"/>
          <p:cNvSpPr>
            <a:spLocks noChangeArrowheads="1"/>
          </p:cNvSpPr>
          <p:nvPr/>
        </p:nvSpPr>
        <p:spPr bwMode="auto">
          <a:xfrm>
            <a:off x="2112145" y="3590007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8" name="Oval 39"/>
          <p:cNvSpPr>
            <a:spLocks noChangeArrowheads="1"/>
          </p:cNvSpPr>
          <p:nvPr/>
        </p:nvSpPr>
        <p:spPr bwMode="auto">
          <a:xfrm>
            <a:off x="6360295" y="3590007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9" name="Oval 40"/>
          <p:cNvSpPr>
            <a:spLocks noChangeArrowheads="1"/>
          </p:cNvSpPr>
          <p:nvPr/>
        </p:nvSpPr>
        <p:spPr bwMode="auto">
          <a:xfrm>
            <a:off x="4199707" y="2797844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20" name="Line 57"/>
          <p:cNvSpPr>
            <a:spLocks noChangeShapeType="1"/>
          </p:cNvSpPr>
          <p:nvPr/>
        </p:nvSpPr>
        <p:spPr bwMode="auto">
          <a:xfrm flipH="1">
            <a:off x="815157" y="4742532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1" name="Line 58"/>
          <p:cNvSpPr>
            <a:spLocks noChangeShapeType="1"/>
          </p:cNvSpPr>
          <p:nvPr/>
        </p:nvSpPr>
        <p:spPr bwMode="auto">
          <a:xfrm>
            <a:off x="1246957" y="4742532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2" name="Line 59"/>
          <p:cNvSpPr>
            <a:spLocks noChangeShapeType="1"/>
          </p:cNvSpPr>
          <p:nvPr/>
        </p:nvSpPr>
        <p:spPr bwMode="auto">
          <a:xfrm flipH="1">
            <a:off x="2904307" y="4742532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3" name="Line 60"/>
          <p:cNvSpPr>
            <a:spLocks noChangeShapeType="1"/>
          </p:cNvSpPr>
          <p:nvPr/>
        </p:nvSpPr>
        <p:spPr bwMode="auto">
          <a:xfrm>
            <a:off x="3336107" y="4742532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4" name="Line 61"/>
          <p:cNvSpPr>
            <a:spLocks noChangeShapeType="1"/>
          </p:cNvSpPr>
          <p:nvPr/>
        </p:nvSpPr>
        <p:spPr bwMode="auto">
          <a:xfrm flipH="1">
            <a:off x="5064895" y="4742532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5" name="Line 62"/>
          <p:cNvSpPr>
            <a:spLocks noChangeShapeType="1"/>
          </p:cNvSpPr>
          <p:nvPr/>
        </p:nvSpPr>
        <p:spPr bwMode="auto">
          <a:xfrm>
            <a:off x="5496695" y="4742532"/>
            <a:ext cx="360362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6" name="Line 63"/>
          <p:cNvSpPr>
            <a:spLocks noChangeShapeType="1"/>
          </p:cNvSpPr>
          <p:nvPr/>
        </p:nvSpPr>
        <p:spPr bwMode="auto">
          <a:xfrm flipH="1">
            <a:off x="7152457" y="4742532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7" name="Line 64"/>
          <p:cNvSpPr>
            <a:spLocks noChangeShapeType="1"/>
          </p:cNvSpPr>
          <p:nvPr/>
        </p:nvSpPr>
        <p:spPr bwMode="auto">
          <a:xfrm>
            <a:off x="7584257" y="4742532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8" name="Line 65"/>
          <p:cNvSpPr>
            <a:spLocks noChangeShapeType="1"/>
          </p:cNvSpPr>
          <p:nvPr/>
        </p:nvSpPr>
        <p:spPr bwMode="auto">
          <a:xfrm flipH="1">
            <a:off x="1391420" y="4021807"/>
            <a:ext cx="9366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9" name="Line 66"/>
          <p:cNvSpPr>
            <a:spLocks noChangeShapeType="1"/>
          </p:cNvSpPr>
          <p:nvPr/>
        </p:nvSpPr>
        <p:spPr bwMode="auto">
          <a:xfrm>
            <a:off x="2328045" y="4021807"/>
            <a:ext cx="8636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0" name="Line 67"/>
          <p:cNvSpPr>
            <a:spLocks noChangeShapeType="1"/>
          </p:cNvSpPr>
          <p:nvPr/>
        </p:nvSpPr>
        <p:spPr bwMode="auto">
          <a:xfrm flipH="1">
            <a:off x="5639570" y="4021807"/>
            <a:ext cx="9366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1" name="Line 68"/>
          <p:cNvSpPr>
            <a:spLocks noChangeShapeType="1"/>
          </p:cNvSpPr>
          <p:nvPr/>
        </p:nvSpPr>
        <p:spPr bwMode="auto">
          <a:xfrm>
            <a:off x="6576195" y="4021807"/>
            <a:ext cx="8636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2" name="Line 69"/>
          <p:cNvSpPr>
            <a:spLocks noChangeShapeType="1"/>
          </p:cNvSpPr>
          <p:nvPr/>
        </p:nvSpPr>
        <p:spPr bwMode="auto">
          <a:xfrm flipH="1">
            <a:off x="2472507" y="3229644"/>
            <a:ext cx="1943100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3" name="Line 70"/>
          <p:cNvSpPr>
            <a:spLocks noChangeShapeType="1"/>
          </p:cNvSpPr>
          <p:nvPr/>
        </p:nvSpPr>
        <p:spPr bwMode="auto">
          <a:xfrm>
            <a:off x="4415607" y="3229644"/>
            <a:ext cx="2016125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4" name="Text Box 105"/>
          <p:cNvSpPr txBox="1">
            <a:spLocks noChangeArrowheads="1"/>
          </p:cNvSpPr>
          <p:nvPr/>
        </p:nvSpPr>
        <p:spPr bwMode="auto">
          <a:xfrm>
            <a:off x="4664845" y="2745457"/>
            <a:ext cx="503237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de-DE" sz="2800">
                <a:latin typeface="Times New Roman" pitchFamily="18" charset="0"/>
              </a:rPr>
              <a:t>=</a:t>
            </a:r>
          </a:p>
        </p:txBody>
      </p:sp>
      <p:pic>
        <p:nvPicPr>
          <p:cNvPr id="35" name="Picture 229" descr="j023817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98232" y="2781969"/>
            <a:ext cx="576263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" name="AutoShape 242"/>
          <p:cNvSpPr>
            <a:spLocks/>
          </p:cNvSpPr>
          <p:nvPr/>
        </p:nvSpPr>
        <p:spPr bwMode="auto">
          <a:xfrm>
            <a:off x="8316094" y="2672432"/>
            <a:ext cx="360362" cy="2844800"/>
          </a:xfrm>
          <a:prstGeom prst="rightBrace">
            <a:avLst>
              <a:gd name="adj1" fmla="val 6578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38" name="Text Box 243"/>
          <p:cNvSpPr txBox="1">
            <a:spLocks noChangeArrowheads="1"/>
          </p:cNvSpPr>
          <p:nvPr/>
        </p:nvSpPr>
        <p:spPr bwMode="auto">
          <a:xfrm>
            <a:off x="8713216" y="3789040"/>
            <a:ext cx="395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de-DE" altLang="de-DE" sz="2800" i="1" dirty="0">
                <a:latin typeface="Times New Roman" pitchFamily="18" charset="0"/>
              </a:rPr>
              <a:t>h</a:t>
            </a:r>
            <a:endParaRPr lang="de-DE" altLang="de-DE" sz="28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0" name="Gerade Verbindung 39"/>
          <p:cNvCxnSpPr/>
          <p:nvPr/>
        </p:nvCxnSpPr>
        <p:spPr>
          <a:xfrm>
            <a:off x="250825" y="3429000"/>
            <a:ext cx="7921575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40"/>
          <p:cNvCxnSpPr/>
          <p:nvPr/>
        </p:nvCxnSpPr>
        <p:spPr>
          <a:xfrm>
            <a:off x="251520" y="4149080"/>
            <a:ext cx="7921575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41"/>
          <p:cNvCxnSpPr/>
          <p:nvPr/>
        </p:nvCxnSpPr>
        <p:spPr>
          <a:xfrm>
            <a:off x="251520" y="4869160"/>
            <a:ext cx="7921575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262483" y="2915652"/>
            <a:ext cx="112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rgbClr val="CC0927"/>
                </a:solidFill>
              </a:rPr>
              <a:t>v = h = 3</a:t>
            </a:r>
            <a:endParaRPr lang="de-DE" dirty="0">
              <a:solidFill>
                <a:srgbClr val="CC0927"/>
              </a:solidFill>
            </a:endParaRPr>
          </a:p>
        </p:txBody>
      </p:sp>
      <p:sp>
        <p:nvSpPr>
          <p:cNvPr id="44" name="Textfeld 43"/>
          <p:cNvSpPr txBox="1"/>
          <p:nvPr/>
        </p:nvSpPr>
        <p:spPr>
          <a:xfrm>
            <a:off x="273528" y="3573016"/>
            <a:ext cx="78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rgbClr val="CC0927"/>
                </a:solidFill>
              </a:rPr>
              <a:t>v = 2</a:t>
            </a:r>
            <a:endParaRPr lang="de-DE" dirty="0">
              <a:solidFill>
                <a:srgbClr val="CC0927"/>
              </a:solidFill>
            </a:endParaRPr>
          </a:p>
        </p:txBody>
      </p:sp>
      <p:sp>
        <p:nvSpPr>
          <p:cNvPr id="45" name="Textfeld 44"/>
          <p:cNvSpPr txBox="1"/>
          <p:nvPr/>
        </p:nvSpPr>
        <p:spPr>
          <a:xfrm>
            <a:off x="262483" y="4293096"/>
            <a:ext cx="78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rgbClr val="CC0927"/>
                </a:solidFill>
              </a:rPr>
              <a:t>v = 1</a:t>
            </a:r>
            <a:endParaRPr lang="de-DE" dirty="0">
              <a:solidFill>
                <a:srgbClr val="CC0927"/>
              </a:solidFill>
            </a:endParaRPr>
          </a:p>
        </p:txBody>
      </p:sp>
      <p:sp>
        <p:nvSpPr>
          <p:cNvPr id="46" name="Textfeld 45"/>
          <p:cNvSpPr txBox="1"/>
          <p:nvPr/>
        </p:nvSpPr>
        <p:spPr>
          <a:xfrm>
            <a:off x="260229" y="5003884"/>
            <a:ext cx="78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rgbClr val="CC0927"/>
                </a:solidFill>
              </a:rPr>
              <a:t>v = 0</a:t>
            </a:r>
            <a:endParaRPr lang="de-DE" dirty="0">
              <a:solidFill>
                <a:srgbClr val="CC09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51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TreeHash</a:t>
            </a:r>
            <a:endParaRPr lang="de-DE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250825" y="1592263"/>
            <a:ext cx="8640763" cy="4500562"/>
          </a:xfrm>
          <a:prstGeom prst="rect">
            <a:avLst/>
          </a:prstGeom>
        </p:spPr>
        <p:txBody>
          <a:bodyPr/>
          <a:lstStyle/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kern="0" dirty="0" smtClean="0">
              <a:latin typeface="+mn-lt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TreeHash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v,i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kern="0" dirty="0" smtClean="0">
                <a:latin typeface="+mn-lt"/>
              </a:rPr>
              <a:t>1: Init Stack, N1, N2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2: For </a:t>
            </a:r>
            <a:r>
              <a:rPr lang="en-US" sz="2000" kern="0" dirty="0" err="1" smtClean="0">
                <a:latin typeface="+mn-lt"/>
              </a:rPr>
              <a:t>j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sz="20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i+2</a:t>
            </a:r>
            <a:r>
              <a:rPr kumimoji="0" lang="en-US" sz="20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 do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kern="0" dirty="0" smtClean="0">
                <a:latin typeface="+mn-lt"/>
              </a:rPr>
              <a:t>3: 	N1 = </a:t>
            </a:r>
            <a:r>
              <a:rPr lang="en-US" sz="2000" kern="0" dirty="0" err="1" smtClean="0">
                <a:latin typeface="+mn-lt"/>
              </a:rPr>
              <a:t>LeafCalc</a:t>
            </a:r>
            <a:r>
              <a:rPr lang="en-US" sz="2000" kern="0" dirty="0" smtClean="0">
                <a:latin typeface="+mn-lt"/>
              </a:rPr>
              <a:t>(</a:t>
            </a:r>
            <a:r>
              <a:rPr lang="en-US" sz="2000" kern="0" dirty="0">
                <a:latin typeface="+mn-lt"/>
              </a:rPr>
              <a:t>j</a:t>
            </a:r>
            <a:r>
              <a:rPr lang="en-US" sz="2000" kern="0" dirty="0" smtClean="0">
                <a:latin typeface="+mn-lt"/>
              </a:rPr>
              <a:t>)</a:t>
            </a:r>
          </a:p>
          <a:p>
            <a:pPr marL="179388" indent="-179388" eaLnBrk="0" hangingPunct="0">
              <a:spcBef>
                <a:spcPct val="20000"/>
              </a:spcBef>
            </a:pP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4:	While N1</a:t>
            </a:r>
            <a:r>
              <a:rPr lang="en-US" sz="2000" kern="0" dirty="0" smtClean="0">
                <a:latin typeface="+mn-lt"/>
              </a:rPr>
              <a:t>.</a:t>
            </a:r>
            <a:r>
              <a:rPr lang="en-US" sz="2000" kern="0" dirty="0" smtClean="0">
                <a:solidFill>
                  <a:srgbClr val="000000"/>
                </a:solidFill>
                <a:latin typeface="Verdana"/>
              </a:rPr>
              <a:t>level()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== </a:t>
            </a:r>
            <a:r>
              <a:rPr kumimoji="0" lang="en-US" sz="20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Stack.top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lang="en-US" sz="2000" kern="0" dirty="0" smtClean="0">
                <a:latin typeface="+mn-lt"/>
              </a:rPr>
              <a:t>.</a:t>
            </a:r>
            <a:r>
              <a:rPr lang="en-US" sz="2000" kern="0" dirty="0" smtClean="0">
                <a:solidFill>
                  <a:srgbClr val="000000"/>
                </a:solidFill>
                <a:latin typeface="Verdana"/>
              </a:rPr>
              <a:t>level()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kern="0" dirty="0" smtClean="0">
                <a:latin typeface="+mn-lt"/>
              </a:rPr>
              <a:t>5:		N2 = Stack.pop()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6:		N1 = </a:t>
            </a:r>
            <a:r>
              <a:rPr kumimoji="0" lang="en-US" sz="20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ComputeParent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 N2, N1 )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kern="0" dirty="0" smtClean="0">
                <a:latin typeface="+mn-lt"/>
              </a:rPr>
              <a:t>7:	</a:t>
            </a:r>
            <a:r>
              <a:rPr lang="en-US" sz="2000" kern="0" dirty="0" err="1" smtClean="0">
                <a:latin typeface="+mn-lt"/>
              </a:rPr>
              <a:t>Stack.push</a:t>
            </a:r>
            <a:r>
              <a:rPr lang="en-US" sz="2000" kern="0" dirty="0" smtClean="0">
                <a:latin typeface="+mn-lt"/>
              </a:rPr>
              <a:t>(N1)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8: Return Stack.pop()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2000" kern="0" dirty="0" smtClean="0">
              <a:latin typeface="+mn-lt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2000" kern="0" dirty="0" smtClean="0">
              <a:latin typeface="+mn-lt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2000" kern="0" dirty="0" smtClean="0">
              <a:latin typeface="+mn-lt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2000" kern="0" dirty="0" smtClean="0">
              <a:latin typeface="+mn-lt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lvl="0" indent="-179388" eaLnBrk="0" hangingPunct="0">
              <a:spcBef>
                <a:spcPct val="20000"/>
              </a:spcBef>
            </a:pPr>
            <a:r>
              <a:rPr lang="en-US" sz="2000" kern="0" dirty="0" smtClean="0"/>
              <a:t>   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8" name="Gerade Verbindung 47"/>
          <p:cNvCxnSpPr/>
          <p:nvPr/>
        </p:nvCxnSpPr>
        <p:spPr>
          <a:xfrm>
            <a:off x="250825" y="2706584"/>
            <a:ext cx="86407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48"/>
          <p:cNvCxnSpPr/>
          <p:nvPr/>
        </p:nvCxnSpPr>
        <p:spPr>
          <a:xfrm>
            <a:off x="242811" y="5589240"/>
            <a:ext cx="86407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/>
          <p:cNvCxnSpPr/>
          <p:nvPr/>
        </p:nvCxnSpPr>
        <p:spPr>
          <a:xfrm>
            <a:off x="242811" y="2348880"/>
            <a:ext cx="86407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027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TreeHash</a:t>
            </a:r>
            <a:endParaRPr lang="de-DE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250825" y="1592263"/>
            <a:ext cx="8640763" cy="4500562"/>
          </a:xfrm>
          <a:prstGeom prst="rect">
            <a:avLst/>
          </a:prstGeom>
        </p:spPr>
        <p:txBody>
          <a:bodyPr/>
          <a:lstStyle/>
          <a:p>
            <a:pPr marL="179388" lvl="0" indent="-179388" eaLnBrk="0" hangingPunct="0">
              <a:spcBef>
                <a:spcPct val="20000"/>
              </a:spcBef>
            </a:pPr>
            <a:r>
              <a:rPr lang="en-US" sz="2400" kern="0" dirty="0" smtClean="0"/>
              <a:t> </a:t>
            </a:r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r>
              <a:rPr lang="en-US" sz="2400" kern="0" dirty="0" smtClean="0"/>
              <a:t>   L</a:t>
            </a:r>
            <a:r>
              <a:rPr lang="en-US" sz="2400" kern="0" baseline="-25000" dirty="0" smtClean="0"/>
              <a:t>i </a:t>
            </a:r>
            <a:r>
              <a:rPr lang="en-US" sz="2400" kern="0" dirty="0" smtClean="0"/>
              <a:t>          L</a:t>
            </a:r>
            <a:r>
              <a:rPr lang="en-US" sz="2400" kern="0" baseline="-25000" dirty="0" smtClean="0"/>
              <a:t>i+1                                      . . .                                                            </a:t>
            </a:r>
            <a:r>
              <a:rPr lang="en-US" sz="2400" kern="0" dirty="0" smtClean="0"/>
              <a:t>L</a:t>
            </a:r>
            <a:r>
              <a:rPr lang="en-US" sz="2400" kern="0" baseline="-25000" dirty="0" smtClean="0"/>
              <a:t>i+2</a:t>
            </a:r>
            <a:r>
              <a:rPr lang="en-US" sz="2400" kern="0" baseline="-14000" dirty="0" smtClean="0"/>
              <a:t>v</a:t>
            </a:r>
            <a:r>
              <a:rPr lang="en-US" sz="2400" kern="0" baseline="-25000" dirty="0" smtClean="0"/>
              <a:t>-1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Oval 26"/>
          <p:cNvSpPr>
            <a:spLocks noChangeArrowheads="1"/>
          </p:cNvSpPr>
          <p:nvPr/>
        </p:nvSpPr>
        <p:spPr bwMode="auto">
          <a:xfrm>
            <a:off x="454795" y="4741837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6" name="Oval 27"/>
          <p:cNvSpPr>
            <a:spLocks noChangeArrowheads="1"/>
          </p:cNvSpPr>
          <p:nvPr/>
        </p:nvSpPr>
        <p:spPr bwMode="auto">
          <a:xfrm>
            <a:off x="1534295" y="4741837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3" name="Oval 34"/>
          <p:cNvSpPr>
            <a:spLocks noChangeArrowheads="1"/>
          </p:cNvSpPr>
          <p:nvPr/>
        </p:nvSpPr>
        <p:spPr bwMode="auto">
          <a:xfrm>
            <a:off x="1032645" y="4022700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7" name="Oval 38"/>
          <p:cNvSpPr>
            <a:spLocks noChangeArrowheads="1"/>
          </p:cNvSpPr>
          <p:nvPr/>
        </p:nvSpPr>
        <p:spPr bwMode="auto">
          <a:xfrm>
            <a:off x="2112145" y="3301975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9" name="Oval 40"/>
          <p:cNvSpPr>
            <a:spLocks noChangeArrowheads="1"/>
          </p:cNvSpPr>
          <p:nvPr/>
        </p:nvSpPr>
        <p:spPr bwMode="auto">
          <a:xfrm>
            <a:off x="4199707" y="2509812"/>
            <a:ext cx="431800" cy="4318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20" name="Line 57"/>
          <p:cNvSpPr>
            <a:spLocks noChangeShapeType="1"/>
          </p:cNvSpPr>
          <p:nvPr/>
        </p:nvSpPr>
        <p:spPr bwMode="auto">
          <a:xfrm flipH="1">
            <a:off x="815157" y="4454500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1" name="Line 58"/>
          <p:cNvSpPr>
            <a:spLocks noChangeShapeType="1"/>
          </p:cNvSpPr>
          <p:nvPr/>
        </p:nvSpPr>
        <p:spPr bwMode="auto">
          <a:xfrm>
            <a:off x="1246957" y="4454500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8" name="Line 65"/>
          <p:cNvSpPr>
            <a:spLocks noChangeShapeType="1"/>
          </p:cNvSpPr>
          <p:nvPr/>
        </p:nvSpPr>
        <p:spPr bwMode="auto">
          <a:xfrm flipH="1">
            <a:off x="1391420" y="3733775"/>
            <a:ext cx="9366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9" name="Line 66"/>
          <p:cNvSpPr>
            <a:spLocks noChangeShapeType="1"/>
          </p:cNvSpPr>
          <p:nvPr/>
        </p:nvSpPr>
        <p:spPr bwMode="auto">
          <a:xfrm>
            <a:off x="2328045" y="3733775"/>
            <a:ext cx="8636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2" name="Line 69"/>
          <p:cNvSpPr>
            <a:spLocks noChangeShapeType="1"/>
          </p:cNvSpPr>
          <p:nvPr/>
        </p:nvSpPr>
        <p:spPr bwMode="auto">
          <a:xfrm flipH="1">
            <a:off x="2472507" y="2941612"/>
            <a:ext cx="1943100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3" name="Line 70"/>
          <p:cNvSpPr>
            <a:spLocks noChangeShapeType="1"/>
          </p:cNvSpPr>
          <p:nvPr/>
        </p:nvSpPr>
        <p:spPr bwMode="auto">
          <a:xfrm>
            <a:off x="4415607" y="2941612"/>
            <a:ext cx="2016125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48" name="Oval 26"/>
          <p:cNvSpPr>
            <a:spLocks noChangeArrowheads="1"/>
          </p:cNvSpPr>
          <p:nvPr/>
        </p:nvSpPr>
        <p:spPr bwMode="auto">
          <a:xfrm>
            <a:off x="2547935" y="4751519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49" name="Oval 27"/>
          <p:cNvSpPr>
            <a:spLocks noChangeArrowheads="1"/>
          </p:cNvSpPr>
          <p:nvPr/>
        </p:nvSpPr>
        <p:spPr bwMode="auto">
          <a:xfrm>
            <a:off x="3627435" y="4751519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0" name="Oval 34"/>
          <p:cNvSpPr>
            <a:spLocks noChangeArrowheads="1"/>
          </p:cNvSpPr>
          <p:nvPr/>
        </p:nvSpPr>
        <p:spPr bwMode="auto">
          <a:xfrm>
            <a:off x="3125785" y="4032382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1" name="Line 57"/>
          <p:cNvSpPr>
            <a:spLocks noChangeShapeType="1"/>
          </p:cNvSpPr>
          <p:nvPr/>
        </p:nvSpPr>
        <p:spPr bwMode="auto">
          <a:xfrm flipH="1">
            <a:off x="2908297" y="4464182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2" name="Line 58"/>
          <p:cNvSpPr>
            <a:spLocks noChangeShapeType="1"/>
          </p:cNvSpPr>
          <p:nvPr/>
        </p:nvSpPr>
        <p:spPr bwMode="auto">
          <a:xfrm>
            <a:off x="3340097" y="4464182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3" name="Oval 26"/>
          <p:cNvSpPr>
            <a:spLocks noChangeArrowheads="1"/>
          </p:cNvSpPr>
          <p:nvPr/>
        </p:nvSpPr>
        <p:spPr bwMode="auto">
          <a:xfrm>
            <a:off x="4716016" y="4741837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4" name="Oval 27"/>
          <p:cNvSpPr>
            <a:spLocks noChangeArrowheads="1"/>
          </p:cNvSpPr>
          <p:nvPr/>
        </p:nvSpPr>
        <p:spPr bwMode="auto">
          <a:xfrm>
            <a:off x="5795516" y="4741837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5" name="Oval 34"/>
          <p:cNvSpPr>
            <a:spLocks noChangeArrowheads="1"/>
          </p:cNvSpPr>
          <p:nvPr/>
        </p:nvSpPr>
        <p:spPr bwMode="auto">
          <a:xfrm>
            <a:off x="5293866" y="4022700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6" name="Oval 38"/>
          <p:cNvSpPr>
            <a:spLocks noChangeArrowheads="1"/>
          </p:cNvSpPr>
          <p:nvPr/>
        </p:nvSpPr>
        <p:spPr bwMode="auto">
          <a:xfrm>
            <a:off x="6373366" y="3301975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7" name="Line 57"/>
          <p:cNvSpPr>
            <a:spLocks noChangeShapeType="1"/>
          </p:cNvSpPr>
          <p:nvPr/>
        </p:nvSpPr>
        <p:spPr bwMode="auto">
          <a:xfrm flipH="1">
            <a:off x="5076378" y="4454500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8" name="Line 58"/>
          <p:cNvSpPr>
            <a:spLocks noChangeShapeType="1"/>
          </p:cNvSpPr>
          <p:nvPr/>
        </p:nvSpPr>
        <p:spPr bwMode="auto">
          <a:xfrm>
            <a:off x="5508178" y="4454500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9" name="Line 65"/>
          <p:cNvSpPr>
            <a:spLocks noChangeShapeType="1"/>
          </p:cNvSpPr>
          <p:nvPr/>
        </p:nvSpPr>
        <p:spPr bwMode="auto">
          <a:xfrm flipH="1">
            <a:off x="5652641" y="3733775"/>
            <a:ext cx="9366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60" name="Line 66"/>
          <p:cNvSpPr>
            <a:spLocks noChangeShapeType="1"/>
          </p:cNvSpPr>
          <p:nvPr/>
        </p:nvSpPr>
        <p:spPr bwMode="auto">
          <a:xfrm>
            <a:off x="6589266" y="3733775"/>
            <a:ext cx="8636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61" name="Oval 26"/>
          <p:cNvSpPr>
            <a:spLocks noChangeArrowheads="1"/>
          </p:cNvSpPr>
          <p:nvPr/>
        </p:nvSpPr>
        <p:spPr bwMode="auto">
          <a:xfrm>
            <a:off x="6809156" y="4751519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62" name="Oval 27"/>
          <p:cNvSpPr>
            <a:spLocks noChangeArrowheads="1"/>
          </p:cNvSpPr>
          <p:nvPr/>
        </p:nvSpPr>
        <p:spPr bwMode="auto">
          <a:xfrm>
            <a:off x="7888656" y="4751519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63" name="Oval 34"/>
          <p:cNvSpPr>
            <a:spLocks noChangeArrowheads="1"/>
          </p:cNvSpPr>
          <p:nvPr/>
        </p:nvSpPr>
        <p:spPr bwMode="auto">
          <a:xfrm>
            <a:off x="7387006" y="4032382"/>
            <a:ext cx="431800" cy="431800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64" name="Line 57"/>
          <p:cNvSpPr>
            <a:spLocks noChangeShapeType="1"/>
          </p:cNvSpPr>
          <p:nvPr/>
        </p:nvSpPr>
        <p:spPr bwMode="auto">
          <a:xfrm flipH="1">
            <a:off x="7169518" y="4464182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65" name="Line 58"/>
          <p:cNvSpPr>
            <a:spLocks noChangeShapeType="1"/>
          </p:cNvSpPr>
          <p:nvPr/>
        </p:nvSpPr>
        <p:spPr bwMode="auto">
          <a:xfrm>
            <a:off x="7601318" y="4464182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66" name="Rechteck 65"/>
          <p:cNvSpPr/>
          <p:nvPr/>
        </p:nvSpPr>
        <p:spPr>
          <a:xfrm>
            <a:off x="250824" y="1592262"/>
            <a:ext cx="33940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kern="0" dirty="0" err="1" smtClean="0"/>
              <a:t>TreeHash</a:t>
            </a:r>
            <a:r>
              <a:rPr lang="en-US" sz="3200" b="1" kern="0" dirty="0" smtClean="0"/>
              <a:t>(</a:t>
            </a:r>
            <a:r>
              <a:rPr lang="en-US" sz="3200" b="1" kern="0" dirty="0" err="1" smtClean="0"/>
              <a:t>v,i</a:t>
            </a:r>
            <a:r>
              <a:rPr lang="en-US" sz="3200" b="1" kern="0" dirty="0" smtClean="0"/>
              <a:t>)</a:t>
            </a:r>
            <a:endParaRPr lang="de-DE" sz="3200" b="1" dirty="0"/>
          </a:p>
        </p:txBody>
      </p:sp>
    </p:spTree>
    <p:extLst>
      <p:ext uri="{BB962C8B-B14F-4D97-AF65-F5344CB8AC3E}">
        <p14:creationId xmlns:p14="http://schemas.microsoft.com/office/powerpoint/2010/main" val="188362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  <p:bldP spid="17" grpId="0" animBg="1"/>
      <p:bldP spid="19" grpId="0" animBg="1"/>
      <p:bldP spid="20" grpId="0" animBg="1"/>
      <p:bldP spid="21" grpId="0" animBg="1"/>
      <p:bldP spid="28" grpId="0" animBg="1"/>
      <p:bldP spid="29" grpId="0" animBg="1"/>
      <p:bldP spid="32" grpId="0" animBg="1"/>
      <p:bldP spid="33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/>
          <p:cNvSpPr txBox="1">
            <a:spLocks/>
          </p:cNvSpPr>
          <p:nvPr/>
        </p:nvSpPr>
        <p:spPr>
          <a:xfrm>
            <a:off x="358775" y="488950"/>
            <a:ext cx="6667500" cy="838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Efficiency?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251521" y="1556792"/>
            <a:ext cx="864096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smtClean="0">
                <a:latin typeface="+mn-lt"/>
              </a:rPr>
              <a:t>Key </a:t>
            </a:r>
            <a:r>
              <a:rPr lang="de-DE" sz="2000" dirty="0" err="1" smtClean="0">
                <a:latin typeface="+mn-lt"/>
              </a:rPr>
              <a:t>generation</a:t>
            </a:r>
            <a:r>
              <a:rPr lang="de-DE" sz="2000" dirty="0" smtClean="0">
                <a:latin typeface="+mn-lt"/>
              </a:rPr>
              <a:t>: Every </a:t>
            </a:r>
            <a:r>
              <a:rPr lang="de-DE" sz="2000" dirty="0" err="1" smtClean="0">
                <a:latin typeface="+mn-lt"/>
              </a:rPr>
              <a:t>node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has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to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be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computed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once</a:t>
            </a:r>
            <a:r>
              <a:rPr lang="de-DE" sz="2000" dirty="0" smtClean="0">
                <a:latin typeface="+mn-lt"/>
              </a:rPr>
              <a:t>. </a:t>
            </a:r>
          </a:p>
          <a:p>
            <a:r>
              <a:rPr lang="de-DE" sz="2000" dirty="0" smtClean="0">
                <a:latin typeface="+mn-lt"/>
              </a:rPr>
              <a:t>	</a:t>
            </a:r>
            <a:r>
              <a:rPr lang="de-DE" sz="2000" dirty="0" err="1" smtClean="0">
                <a:latin typeface="+mn-lt"/>
              </a:rPr>
              <a:t>cost</a:t>
            </a:r>
            <a:r>
              <a:rPr lang="de-DE" sz="2000" dirty="0" smtClean="0">
                <a:latin typeface="+mn-lt"/>
              </a:rPr>
              <a:t> = 2</a:t>
            </a:r>
            <a:r>
              <a:rPr lang="de-DE" sz="2000" baseline="30000" dirty="0" smtClean="0">
                <a:latin typeface="+mn-lt"/>
              </a:rPr>
              <a:t>h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leaves</a:t>
            </a:r>
            <a:r>
              <a:rPr lang="de-DE" sz="2000" dirty="0" smtClean="0">
                <a:latin typeface="+mn-lt"/>
              </a:rPr>
              <a:t> + 2</a:t>
            </a:r>
            <a:r>
              <a:rPr lang="de-DE" sz="2000" baseline="30000" dirty="0" smtClean="0">
                <a:latin typeface="+mn-lt"/>
              </a:rPr>
              <a:t>h</a:t>
            </a:r>
            <a:r>
              <a:rPr lang="de-DE" sz="2000" dirty="0" smtClean="0">
                <a:latin typeface="+mn-lt"/>
              </a:rPr>
              <a:t>-1 </a:t>
            </a:r>
            <a:r>
              <a:rPr lang="de-DE" sz="2000" dirty="0" err="1" smtClean="0">
                <a:latin typeface="+mn-lt"/>
              </a:rPr>
              <a:t>nodes</a:t>
            </a:r>
            <a:endParaRPr lang="de-DE" sz="2000" dirty="0" smtClean="0">
              <a:latin typeface="+mn-lt"/>
            </a:endParaRPr>
          </a:p>
          <a:p>
            <a:r>
              <a:rPr lang="de-DE" sz="2000" dirty="0" smtClean="0">
                <a:latin typeface="+mn-lt"/>
              </a:rPr>
              <a:t>	 =&gt; </a:t>
            </a:r>
            <a:r>
              <a:rPr lang="de-DE" sz="2000" dirty="0" smtClean="0">
                <a:solidFill>
                  <a:srgbClr val="008000"/>
                </a:solidFill>
                <a:latin typeface="+mn-lt"/>
              </a:rPr>
              <a:t>optimal</a:t>
            </a:r>
          </a:p>
          <a:p>
            <a:endParaRPr lang="de-DE" sz="2000" dirty="0" smtClean="0">
              <a:latin typeface="+mn-lt"/>
            </a:endParaRPr>
          </a:p>
          <a:p>
            <a:r>
              <a:rPr lang="de-DE" sz="2000" dirty="0" err="1" smtClean="0">
                <a:latin typeface="+mn-lt"/>
              </a:rPr>
              <a:t>Signature</a:t>
            </a:r>
            <a:r>
              <a:rPr lang="de-DE" sz="2000" dirty="0" smtClean="0">
                <a:latin typeface="+mn-lt"/>
              </a:rPr>
              <a:t>: </a:t>
            </a:r>
            <a:r>
              <a:rPr lang="de-DE" sz="2000" dirty="0" err="1" smtClean="0">
                <a:latin typeface="+mn-lt"/>
              </a:rPr>
              <a:t>One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node</a:t>
            </a:r>
            <a:r>
              <a:rPr lang="de-DE" sz="2000" dirty="0" smtClean="0">
                <a:latin typeface="+mn-lt"/>
              </a:rPr>
              <a:t> on </a:t>
            </a:r>
            <a:r>
              <a:rPr lang="de-DE" sz="2000" dirty="0" err="1" smtClean="0">
                <a:latin typeface="+mn-lt"/>
              </a:rPr>
              <a:t>each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level</a:t>
            </a:r>
            <a:r>
              <a:rPr lang="de-DE" sz="2000" dirty="0" smtClean="0">
                <a:latin typeface="+mn-lt"/>
              </a:rPr>
              <a:t> 0 &lt;= v &lt; h.</a:t>
            </a:r>
          </a:p>
          <a:p>
            <a:r>
              <a:rPr lang="de-DE" sz="2000" dirty="0" smtClean="0">
                <a:latin typeface="+mn-lt"/>
              </a:rPr>
              <a:t>	</a:t>
            </a:r>
            <a:r>
              <a:rPr lang="de-DE" sz="2000" dirty="0" err="1" smtClean="0">
                <a:latin typeface="+mn-lt"/>
              </a:rPr>
              <a:t>cost</a:t>
            </a:r>
            <a:r>
              <a:rPr lang="de-DE" sz="2000" dirty="0" smtClean="0"/>
              <a:t> 2</a:t>
            </a:r>
            <a:r>
              <a:rPr lang="de-DE" sz="2000" baseline="30000" dirty="0" smtClean="0"/>
              <a:t>h</a:t>
            </a:r>
            <a:r>
              <a:rPr lang="de-DE" sz="2000" dirty="0" smtClean="0"/>
              <a:t>-1 </a:t>
            </a:r>
            <a:r>
              <a:rPr lang="de-DE" sz="2000" dirty="0" err="1" smtClean="0"/>
              <a:t>leaves</a:t>
            </a:r>
            <a:r>
              <a:rPr lang="de-DE" sz="2000" dirty="0" smtClean="0"/>
              <a:t> + 2</a:t>
            </a:r>
            <a:r>
              <a:rPr lang="de-DE" sz="2000" baseline="30000" dirty="0" smtClean="0"/>
              <a:t>h</a:t>
            </a:r>
            <a:r>
              <a:rPr lang="de-DE" sz="2000" dirty="0" smtClean="0"/>
              <a:t>-1-h </a:t>
            </a:r>
            <a:r>
              <a:rPr lang="de-DE" sz="2000" dirty="0" err="1" smtClean="0"/>
              <a:t>nodes</a:t>
            </a:r>
            <a:r>
              <a:rPr lang="de-DE" sz="2000" dirty="0" smtClean="0"/>
              <a:t>.</a:t>
            </a:r>
          </a:p>
          <a:p>
            <a:endParaRPr lang="de-DE" sz="2000" dirty="0" smtClean="0">
              <a:latin typeface="+mn-lt"/>
            </a:endParaRPr>
          </a:p>
          <a:p>
            <a:r>
              <a:rPr lang="de-DE" sz="2000" b="1" dirty="0" err="1" smtClean="0">
                <a:latin typeface="+mn-lt"/>
              </a:rPr>
              <a:t>Many</a:t>
            </a:r>
            <a:r>
              <a:rPr lang="de-DE" sz="2000" b="1" dirty="0" smtClean="0">
                <a:latin typeface="+mn-lt"/>
              </a:rPr>
              <a:t> </a:t>
            </a:r>
            <a:r>
              <a:rPr lang="de-DE" sz="2000" b="1" dirty="0" err="1" smtClean="0">
                <a:latin typeface="+mn-lt"/>
              </a:rPr>
              <a:t>nodes</a:t>
            </a:r>
            <a:r>
              <a:rPr lang="de-DE" sz="2000" b="1" dirty="0" smtClean="0">
                <a:latin typeface="+mn-lt"/>
              </a:rPr>
              <a:t> </a:t>
            </a:r>
            <a:r>
              <a:rPr lang="de-DE" sz="2000" b="1" dirty="0" err="1" smtClean="0">
                <a:latin typeface="+mn-lt"/>
              </a:rPr>
              <a:t>are</a:t>
            </a:r>
            <a:r>
              <a:rPr lang="de-DE" sz="2000" b="1" dirty="0" smtClean="0">
                <a:latin typeface="+mn-lt"/>
              </a:rPr>
              <a:t> </a:t>
            </a:r>
            <a:r>
              <a:rPr lang="de-DE" sz="2000" b="1" dirty="0" err="1" smtClean="0">
                <a:latin typeface="+mn-lt"/>
              </a:rPr>
              <a:t>computed</a:t>
            </a:r>
            <a:r>
              <a:rPr lang="de-DE" sz="2000" b="1" dirty="0" smtClean="0">
                <a:latin typeface="+mn-lt"/>
              </a:rPr>
              <a:t> </a:t>
            </a:r>
            <a:r>
              <a:rPr lang="de-DE" sz="2000" b="1" dirty="0" err="1" smtClean="0">
                <a:latin typeface="+mn-lt"/>
              </a:rPr>
              <a:t>many</a:t>
            </a:r>
            <a:r>
              <a:rPr lang="de-DE" sz="2000" b="1" dirty="0" smtClean="0">
                <a:latin typeface="+mn-lt"/>
              </a:rPr>
              <a:t> </a:t>
            </a:r>
            <a:r>
              <a:rPr lang="de-DE" sz="2000" b="1" dirty="0" err="1" smtClean="0">
                <a:latin typeface="+mn-lt"/>
              </a:rPr>
              <a:t>times</a:t>
            </a:r>
            <a:r>
              <a:rPr lang="de-DE" sz="2000" b="1" dirty="0" smtClean="0">
                <a:latin typeface="+mn-lt"/>
              </a:rPr>
              <a:t>! </a:t>
            </a:r>
          </a:p>
          <a:p>
            <a:r>
              <a:rPr lang="de-DE" sz="2000" dirty="0" smtClean="0">
                <a:latin typeface="+mn-lt"/>
              </a:rPr>
              <a:t>(e.g. </a:t>
            </a:r>
            <a:r>
              <a:rPr lang="de-DE" sz="2000" dirty="0" err="1" smtClean="0">
                <a:latin typeface="+mn-lt"/>
              </a:rPr>
              <a:t>those</a:t>
            </a:r>
            <a:r>
              <a:rPr lang="de-DE" sz="2000" dirty="0" smtClean="0">
                <a:latin typeface="+mn-lt"/>
              </a:rPr>
              <a:t> on </a:t>
            </a:r>
            <a:r>
              <a:rPr lang="de-DE" sz="2000" dirty="0" err="1" smtClean="0">
                <a:latin typeface="+mn-lt"/>
              </a:rPr>
              <a:t>level</a:t>
            </a:r>
            <a:r>
              <a:rPr lang="de-DE" sz="2000" dirty="0" smtClean="0">
                <a:latin typeface="+mn-lt"/>
              </a:rPr>
              <a:t> v=h-1 </a:t>
            </a:r>
            <a:r>
              <a:rPr lang="de-DE" sz="2000" dirty="0" err="1" smtClean="0">
                <a:latin typeface="+mn-lt"/>
              </a:rPr>
              <a:t>are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computed</a:t>
            </a:r>
            <a:r>
              <a:rPr lang="de-DE" sz="2000" dirty="0" smtClean="0">
                <a:latin typeface="+mn-lt"/>
              </a:rPr>
              <a:t> 2</a:t>
            </a:r>
            <a:r>
              <a:rPr lang="de-DE" sz="2000" baseline="30000" dirty="0" smtClean="0">
                <a:latin typeface="+mn-lt"/>
              </a:rPr>
              <a:t>h-1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times</a:t>
            </a:r>
            <a:r>
              <a:rPr lang="de-DE" sz="2000" dirty="0" smtClean="0">
                <a:latin typeface="+mn-lt"/>
              </a:rPr>
              <a:t>)</a:t>
            </a:r>
          </a:p>
          <a:p>
            <a:r>
              <a:rPr lang="de-DE" sz="2000" dirty="0" smtClean="0">
                <a:latin typeface="+mn-lt"/>
              </a:rPr>
              <a:t>	-&gt; Not optimal </a:t>
            </a:r>
            <a:r>
              <a:rPr lang="de-DE" sz="2000" dirty="0" err="1" smtClean="0">
                <a:latin typeface="+mn-lt"/>
              </a:rPr>
              <a:t>if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state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allowed</a:t>
            </a:r>
            <a:r>
              <a:rPr lang="de-DE" sz="2000" dirty="0" smtClean="0">
                <a:latin typeface="+mn-lt"/>
              </a:rPr>
              <a:t>	</a:t>
            </a:r>
            <a:endParaRPr lang="de-DE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9105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2138" y="2734816"/>
            <a:ext cx="8498334" cy="838200"/>
          </a:xfrm>
        </p:spPr>
        <p:txBody>
          <a:bodyPr>
            <a:normAutofit fontScale="90000"/>
          </a:bodyPr>
          <a:lstStyle/>
          <a:p>
            <a:pPr algn="ctr" fontAlgn="ctr">
              <a:spcAft>
                <a:spcPts val="600"/>
              </a:spcAft>
            </a:pPr>
            <a:r>
              <a:rPr lang="en-US" sz="4400" dirty="0" smtClean="0"/>
              <a:t>The BDS Algorithm</a:t>
            </a:r>
            <a:br>
              <a:rPr lang="en-US" sz="4400" dirty="0" smtClean="0"/>
            </a:br>
            <a:r>
              <a:rPr lang="en-US" sz="2700" dirty="0" smtClean="0"/>
              <a:t>[BDS08]</a:t>
            </a:r>
            <a:endParaRPr lang="en-US" sz="2700" baseline="30000" dirty="0" smtClean="0"/>
          </a:p>
        </p:txBody>
      </p:sp>
    </p:spTree>
    <p:extLst>
      <p:ext uri="{BB962C8B-B14F-4D97-AF65-F5344CB8AC3E}">
        <p14:creationId xmlns:p14="http://schemas.microsoft.com/office/powerpoint/2010/main" val="2579100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/>
          <p:cNvSpPr txBox="1">
            <a:spLocks/>
          </p:cNvSpPr>
          <p:nvPr/>
        </p:nvSpPr>
        <p:spPr>
          <a:xfrm>
            <a:off x="358775" y="488950"/>
            <a:ext cx="6667500" cy="838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Motivation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kern="0" dirty="0" smtClean="0">
                <a:latin typeface="+mj-lt"/>
                <a:ea typeface="+mj-ea"/>
                <a:cs typeface="+mj-cs"/>
              </a:rPr>
              <a:t>(for all Tree Traversal Algorithms)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251521" y="1700808"/>
            <a:ext cx="86409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dirty="0" smtClean="0">
                <a:solidFill>
                  <a:srgbClr val="000000"/>
                </a:solidFill>
                <a:latin typeface="+mn-lt"/>
              </a:rPr>
              <a:t>No Storage:</a:t>
            </a:r>
          </a:p>
          <a:p>
            <a:pPr lvl="0"/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Signature: Compute one node on each level 0 &lt;= v &lt; h.</a:t>
            </a:r>
          </a:p>
          <a:p>
            <a:pPr lvl="0"/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	Costs: 2</a:t>
            </a:r>
            <a:r>
              <a:rPr lang="en-US" sz="2000" baseline="30000" dirty="0" smtClean="0">
                <a:solidFill>
                  <a:srgbClr val="000000"/>
                </a:solidFill>
                <a:latin typeface="+mn-lt"/>
              </a:rPr>
              <a:t>h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-1 leaf + 2</a:t>
            </a:r>
            <a:r>
              <a:rPr lang="en-US" sz="2000" baseline="30000" dirty="0" smtClean="0">
                <a:solidFill>
                  <a:srgbClr val="000000"/>
                </a:solidFill>
                <a:latin typeface="+mn-lt"/>
              </a:rPr>
              <a:t>h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-1-h node computations.</a:t>
            </a:r>
          </a:p>
          <a:p>
            <a:pPr lvl="0"/>
            <a:endParaRPr lang="en-US" sz="2000" dirty="0" smtClean="0">
              <a:solidFill>
                <a:srgbClr val="000000"/>
              </a:solidFill>
              <a:latin typeface="+mn-lt"/>
            </a:endParaRPr>
          </a:p>
          <a:p>
            <a:pPr lvl="0"/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Example: XMSS with SHA2-256 and h = 20 	-&gt; </a:t>
            </a:r>
            <a:r>
              <a:rPr lang="en-US" sz="2000" dirty="0" smtClean="0">
                <a:solidFill>
                  <a:srgbClr val="CC0927"/>
                </a:solidFill>
              </a:rPr>
              <a:t>approx. </a:t>
            </a:r>
            <a:r>
              <a:rPr lang="en-US" sz="2000" dirty="0" smtClean="0">
                <a:solidFill>
                  <a:srgbClr val="CC0927"/>
                </a:solidFill>
                <a:latin typeface="+mn-lt"/>
              </a:rPr>
              <a:t>15min </a:t>
            </a:r>
          </a:p>
          <a:p>
            <a:pPr lvl="0"/>
            <a:endParaRPr lang="en-US" sz="2000" dirty="0">
              <a:solidFill>
                <a:srgbClr val="CC0927"/>
              </a:solidFill>
              <a:latin typeface="+mn-lt"/>
            </a:endParaRPr>
          </a:p>
          <a:p>
            <a:pPr lvl="0"/>
            <a:r>
              <a:rPr lang="en-US" sz="2000" b="1" dirty="0" smtClean="0">
                <a:solidFill>
                  <a:srgbClr val="000000"/>
                </a:solidFill>
                <a:latin typeface="+mn-lt"/>
              </a:rPr>
              <a:t>Store whole tree: 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2</a:t>
            </a:r>
            <a:r>
              <a:rPr lang="en-US" sz="2000" baseline="30000" dirty="0" smtClean="0">
                <a:solidFill>
                  <a:srgbClr val="000000"/>
                </a:solidFill>
                <a:latin typeface="+mn-lt"/>
              </a:rPr>
              <a:t>h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n bits.</a:t>
            </a:r>
          </a:p>
          <a:p>
            <a:pPr lvl="0"/>
            <a:endParaRPr lang="en-US" sz="2000" dirty="0" smtClean="0">
              <a:solidFill>
                <a:srgbClr val="000000"/>
              </a:solidFill>
              <a:latin typeface="+mn-lt"/>
            </a:endParaRPr>
          </a:p>
          <a:p>
            <a:pPr lvl="0"/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Example: h=20, n=256; storage: 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2</a:t>
            </a:r>
            <a:r>
              <a:rPr lang="en-US" sz="2000" baseline="30000" dirty="0" smtClean="0">
                <a:solidFill>
                  <a:srgbClr val="000000"/>
                </a:solidFill>
                <a:latin typeface="+mn-lt"/>
              </a:rPr>
              <a:t>28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bits 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= </a:t>
            </a:r>
            <a:r>
              <a:rPr lang="en-US" sz="2000" dirty="0" smtClean="0">
                <a:solidFill>
                  <a:srgbClr val="CC0927"/>
                </a:solidFill>
              </a:rPr>
              <a:t>32</a:t>
            </a:r>
            <a:r>
              <a:rPr lang="en-US" sz="2000" dirty="0" smtClean="0">
                <a:solidFill>
                  <a:srgbClr val="CC0927"/>
                </a:solidFill>
                <a:latin typeface="+mn-lt"/>
              </a:rPr>
              <a:t>MB</a:t>
            </a:r>
            <a:endParaRPr lang="en-US" sz="2000" dirty="0" smtClean="0">
              <a:solidFill>
                <a:srgbClr val="CC0927"/>
              </a:solidFill>
              <a:latin typeface="+mn-lt"/>
            </a:endParaRPr>
          </a:p>
          <a:p>
            <a:pPr lvl="0"/>
            <a:endParaRPr lang="en-US" sz="2000" dirty="0" smtClean="0">
              <a:solidFill>
                <a:srgbClr val="000000"/>
              </a:solidFill>
              <a:latin typeface="+mn-lt"/>
            </a:endParaRPr>
          </a:p>
          <a:p>
            <a:pPr lvl="0"/>
            <a:r>
              <a:rPr lang="en-US" sz="2000" b="1" dirty="0" smtClean="0">
                <a:solidFill>
                  <a:srgbClr val="000000"/>
                </a:solidFill>
                <a:latin typeface="+mn-lt"/>
              </a:rPr>
              <a:t>Idea: Look for time-memory trade-off!</a:t>
            </a:r>
          </a:p>
        </p:txBody>
      </p:sp>
    </p:spTree>
    <p:extLst>
      <p:ext uri="{BB962C8B-B14F-4D97-AF65-F5344CB8AC3E}">
        <p14:creationId xmlns:p14="http://schemas.microsoft.com/office/powerpoint/2010/main" val="260498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2138" y="2734816"/>
            <a:ext cx="8498334" cy="838200"/>
          </a:xfrm>
        </p:spPr>
        <p:txBody>
          <a:bodyPr/>
          <a:lstStyle/>
          <a:p>
            <a:pPr algn="ctr" fontAlgn="ctr">
              <a:spcAft>
                <a:spcPts val="600"/>
              </a:spcAft>
            </a:pPr>
            <a:r>
              <a:rPr lang="en-US" sz="4400" dirty="0" smtClean="0"/>
              <a:t>Use a State</a:t>
            </a:r>
            <a:endParaRPr lang="en-US" sz="4400" baseline="30000" dirty="0" smtClean="0"/>
          </a:p>
        </p:txBody>
      </p:sp>
    </p:spTree>
    <p:extLst>
      <p:ext uri="{BB962C8B-B14F-4D97-AF65-F5344CB8AC3E}">
        <p14:creationId xmlns:p14="http://schemas.microsoft.com/office/powerpoint/2010/main" val="289056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Authentication </a:t>
            </a:r>
            <a:r>
              <a:rPr lang="de-DE" dirty="0" err="1" smtClean="0"/>
              <a:t>Paths</a:t>
            </a:r>
            <a:endParaRPr lang="de-DE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250825" y="1592263"/>
            <a:ext cx="8640763" cy="4500562"/>
          </a:xfrm>
          <a:prstGeom prst="rect">
            <a:avLst/>
          </a:prstGeom>
        </p:spPr>
        <p:txBody>
          <a:bodyPr/>
          <a:lstStyle/>
          <a:p>
            <a:pPr marL="179388" lvl="0" indent="-179388" eaLnBrk="0" hangingPunct="0">
              <a:spcBef>
                <a:spcPct val="20000"/>
              </a:spcBef>
            </a:pPr>
            <a:r>
              <a:rPr lang="en-US" sz="2400" kern="0" dirty="0" smtClean="0"/>
              <a:t> </a:t>
            </a:r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r>
              <a:rPr lang="en-US" sz="2400" kern="0" dirty="0" smtClean="0"/>
              <a:t>   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Oval 26"/>
          <p:cNvSpPr>
            <a:spLocks noChangeArrowheads="1"/>
          </p:cNvSpPr>
          <p:nvPr/>
        </p:nvSpPr>
        <p:spPr bwMode="auto">
          <a:xfrm>
            <a:off x="454795" y="4741837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6" name="Oval 27"/>
          <p:cNvSpPr>
            <a:spLocks noChangeArrowheads="1"/>
          </p:cNvSpPr>
          <p:nvPr/>
        </p:nvSpPr>
        <p:spPr bwMode="auto">
          <a:xfrm>
            <a:off x="1534295" y="4741837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3" name="Oval 34"/>
          <p:cNvSpPr>
            <a:spLocks noChangeArrowheads="1"/>
          </p:cNvSpPr>
          <p:nvPr/>
        </p:nvSpPr>
        <p:spPr bwMode="auto">
          <a:xfrm>
            <a:off x="1032645" y="4022700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7" name="Oval 38"/>
          <p:cNvSpPr>
            <a:spLocks noChangeArrowheads="1"/>
          </p:cNvSpPr>
          <p:nvPr/>
        </p:nvSpPr>
        <p:spPr bwMode="auto">
          <a:xfrm>
            <a:off x="2112145" y="3301975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9" name="Oval 40"/>
          <p:cNvSpPr>
            <a:spLocks noChangeArrowheads="1"/>
          </p:cNvSpPr>
          <p:nvPr/>
        </p:nvSpPr>
        <p:spPr bwMode="auto">
          <a:xfrm>
            <a:off x="4199707" y="2509812"/>
            <a:ext cx="431800" cy="4318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20" name="Line 57"/>
          <p:cNvSpPr>
            <a:spLocks noChangeShapeType="1"/>
          </p:cNvSpPr>
          <p:nvPr/>
        </p:nvSpPr>
        <p:spPr bwMode="auto">
          <a:xfrm flipH="1">
            <a:off x="815157" y="4454500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1" name="Line 58"/>
          <p:cNvSpPr>
            <a:spLocks noChangeShapeType="1"/>
          </p:cNvSpPr>
          <p:nvPr/>
        </p:nvSpPr>
        <p:spPr bwMode="auto">
          <a:xfrm>
            <a:off x="1246957" y="4454500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8" name="Line 65"/>
          <p:cNvSpPr>
            <a:spLocks noChangeShapeType="1"/>
          </p:cNvSpPr>
          <p:nvPr/>
        </p:nvSpPr>
        <p:spPr bwMode="auto">
          <a:xfrm flipH="1">
            <a:off x="1391420" y="3733775"/>
            <a:ext cx="9366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9" name="Line 66"/>
          <p:cNvSpPr>
            <a:spLocks noChangeShapeType="1"/>
          </p:cNvSpPr>
          <p:nvPr/>
        </p:nvSpPr>
        <p:spPr bwMode="auto">
          <a:xfrm>
            <a:off x="2328045" y="3733775"/>
            <a:ext cx="8636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2" name="Line 69"/>
          <p:cNvSpPr>
            <a:spLocks noChangeShapeType="1"/>
          </p:cNvSpPr>
          <p:nvPr/>
        </p:nvSpPr>
        <p:spPr bwMode="auto">
          <a:xfrm flipH="1">
            <a:off x="2472507" y="2941612"/>
            <a:ext cx="1943100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3" name="Line 70"/>
          <p:cNvSpPr>
            <a:spLocks noChangeShapeType="1"/>
          </p:cNvSpPr>
          <p:nvPr/>
        </p:nvSpPr>
        <p:spPr bwMode="auto">
          <a:xfrm>
            <a:off x="4415607" y="2941612"/>
            <a:ext cx="2016125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48" name="Oval 26"/>
          <p:cNvSpPr>
            <a:spLocks noChangeArrowheads="1"/>
          </p:cNvSpPr>
          <p:nvPr/>
        </p:nvSpPr>
        <p:spPr bwMode="auto">
          <a:xfrm>
            <a:off x="2547935" y="4751519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49" name="Oval 27"/>
          <p:cNvSpPr>
            <a:spLocks noChangeArrowheads="1"/>
          </p:cNvSpPr>
          <p:nvPr/>
        </p:nvSpPr>
        <p:spPr bwMode="auto">
          <a:xfrm>
            <a:off x="3627435" y="4751519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0" name="Oval 34"/>
          <p:cNvSpPr>
            <a:spLocks noChangeArrowheads="1"/>
          </p:cNvSpPr>
          <p:nvPr/>
        </p:nvSpPr>
        <p:spPr bwMode="auto">
          <a:xfrm>
            <a:off x="3125785" y="4032382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1" name="Line 57"/>
          <p:cNvSpPr>
            <a:spLocks noChangeShapeType="1"/>
          </p:cNvSpPr>
          <p:nvPr/>
        </p:nvSpPr>
        <p:spPr bwMode="auto">
          <a:xfrm flipH="1">
            <a:off x="2908297" y="4464182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2" name="Line 58"/>
          <p:cNvSpPr>
            <a:spLocks noChangeShapeType="1"/>
          </p:cNvSpPr>
          <p:nvPr/>
        </p:nvSpPr>
        <p:spPr bwMode="auto">
          <a:xfrm>
            <a:off x="3340097" y="4464182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3" name="Oval 26"/>
          <p:cNvSpPr>
            <a:spLocks noChangeArrowheads="1"/>
          </p:cNvSpPr>
          <p:nvPr/>
        </p:nvSpPr>
        <p:spPr bwMode="auto">
          <a:xfrm>
            <a:off x="4716016" y="4741837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4" name="Oval 27"/>
          <p:cNvSpPr>
            <a:spLocks noChangeArrowheads="1"/>
          </p:cNvSpPr>
          <p:nvPr/>
        </p:nvSpPr>
        <p:spPr bwMode="auto">
          <a:xfrm>
            <a:off x="5795516" y="4741837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5" name="Oval 34"/>
          <p:cNvSpPr>
            <a:spLocks noChangeArrowheads="1"/>
          </p:cNvSpPr>
          <p:nvPr/>
        </p:nvSpPr>
        <p:spPr bwMode="auto">
          <a:xfrm>
            <a:off x="5293866" y="4022700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6" name="Oval 38"/>
          <p:cNvSpPr>
            <a:spLocks noChangeArrowheads="1"/>
          </p:cNvSpPr>
          <p:nvPr/>
        </p:nvSpPr>
        <p:spPr bwMode="auto">
          <a:xfrm>
            <a:off x="6373366" y="3301975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7" name="Line 57"/>
          <p:cNvSpPr>
            <a:spLocks noChangeShapeType="1"/>
          </p:cNvSpPr>
          <p:nvPr/>
        </p:nvSpPr>
        <p:spPr bwMode="auto">
          <a:xfrm flipH="1">
            <a:off x="5076378" y="4454500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8" name="Line 58"/>
          <p:cNvSpPr>
            <a:spLocks noChangeShapeType="1"/>
          </p:cNvSpPr>
          <p:nvPr/>
        </p:nvSpPr>
        <p:spPr bwMode="auto">
          <a:xfrm>
            <a:off x="5508178" y="4454500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9" name="Line 65"/>
          <p:cNvSpPr>
            <a:spLocks noChangeShapeType="1"/>
          </p:cNvSpPr>
          <p:nvPr/>
        </p:nvSpPr>
        <p:spPr bwMode="auto">
          <a:xfrm flipH="1">
            <a:off x="5652641" y="3733775"/>
            <a:ext cx="9366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60" name="Line 66"/>
          <p:cNvSpPr>
            <a:spLocks noChangeShapeType="1"/>
          </p:cNvSpPr>
          <p:nvPr/>
        </p:nvSpPr>
        <p:spPr bwMode="auto">
          <a:xfrm>
            <a:off x="6589266" y="3733775"/>
            <a:ext cx="8636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61" name="Oval 26"/>
          <p:cNvSpPr>
            <a:spLocks noChangeArrowheads="1"/>
          </p:cNvSpPr>
          <p:nvPr/>
        </p:nvSpPr>
        <p:spPr bwMode="auto">
          <a:xfrm>
            <a:off x="6809156" y="4751519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62" name="Oval 27"/>
          <p:cNvSpPr>
            <a:spLocks noChangeArrowheads="1"/>
          </p:cNvSpPr>
          <p:nvPr/>
        </p:nvSpPr>
        <p:spPr bwMode="auto">
          <a:xfrm>
            <a:off x="7888656" y="4751519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63" name="Oval 34"/>
          <p:cNvSpPr>
            <a:spLocks noChangeArrowheads="1"/>
          </p:cNvSpPr>
          <p:nvPr/>
        </p:nvSpPr>
        <p:spPr bwMode="auto">
          <a:xfrm>
            <a:off x="7387006" y="4032382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64" name="Line 57"/>
          <p:cNvSpPr>
            <a:spLocks noChangeShapeType="1"/>
          </p:cNvSpPr>
          <p:nvPr/>
        </p:nvSpPr>
        <p:spPr bwMode="auto">
          <a:xfrm flipH="1">
            <a:off x="7169518" y="4464182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65" name="Line 58"/>
          <p:cNvSpPr>
            <a:spLocks noChangeShapeType="1"/>
          </p:cNvSpPr>
          <p:nvPr/>
        </p:nvSpPr>
        <p:spPr bwMode="auto">
          <a:xfrm>
            <a:off x="7601318" y="4464182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cxnSp>
        <p:nvCxnSpPr>
          <p:cNvPr id="36" name="Gerade Verbindung mit Pfeil 35"/>
          <p:cNvCxnSpPr/>
          <p:nvPr/>
        </p:nvCxnSpPr>
        <p:spPr>
          <a:xfrm flipV="1">
            <a:off x="657441" y="5255327"/>
            <a:ext cx="0" cy="477929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05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1.13347E-7 L 0.11805 -1.13347E-7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806 -1.13347E-7 L 0.23126 -1.13347E-7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126 -1.13347E-7 L 0.34931 -1.13347E-7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931 -1.13347E-7 L 0.46754 -1.13347E-7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000"/>
                            </p:stCondLst>
                            <p:childTnLst>
                              <p:par>
                                <p:cTn id="9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754 -1.13347E-7 L 0.5856 -1.13347E-7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856 -1.13347E-7 L 0.69584 -1.13347E-7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500"/>
                            </p:stCondLst>
                            <p:childTnLst>
                              <p:par>
                                <p:cTn id="12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9584 -1.13347E-7 L 0.81407 -1.13347E-7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/>
          <p:cNvSpPr txBox="1">
            <a:spLocks/>
          </p:cNvSpPr>
          <p:nvPr/>
        </p:nvSpPr>
        <p:spPr>
          <a:xfrm>
            <a:off x="358775" y="488950"/>
            <a:ext cx="6667500" cy="838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Observation 1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251521" y="1556792"/>
            <a:ext cx="864096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n-lt"/>
              </a:rPr>
              <a:t>Same node in authentication path is recomputed many times!</a:t>
            </a:r>
          </a:p>
          <a:p>
            <a:r>
              <a:rPr lang="en-US" sz="2000" dirty="0" smtClean="0">
                <a:latin typeface="+mn-lt"/>
              </a:rPr>
              <a:t>	</a:t>
            </a:r>
            <a:r>
              <a:rPr lang="en-US" sz="2000" dirty="0" smtClean="0">
                <a:solidFill>
                  <a:srgbClr val="CC0927"/>
                </a:solidFill>
                <a:latin typeface="+mn-lt"/>
              </a:rPr>
              <a:t>Node on level v is recomputed for 2</a:t>
            </a:r>
            <a:r>
              <a:rPr lang="en-US" sz="2000" baseline="30000" dirty="0" smtClean="0">
                <a:solidFill>
                  <a:srgbClr val="CC0927"/>
                </a:solidFill>
                <a:latin typeface="+mn-lt"/>
              </a:rPr>
              <a:t>v</a:t>
            </a:r>
            <a:r>
              <a:rPr lang="en-US" sz="2000" dirty="0" smtClean="0">
                <a:solidFill>
                  <a:srgbClr val="CC0927"/>
                </a:solidFill>
                <a:latin typeface="+mn-lt"/>
              </a:rPr>
              <a:t> </a:t>
            </a:r>
            <a:r>
              <a:rPr lang="en-US" sz="2000" u="sng" dirty="0" smtClean="0">
                <a:solidFill>
                  <a:srgbClr val="CC0927"/>
                </a:solidFill>
                <a:latin typeface="+mn-lt"/>
              </a:rPr>
              <a:t>successive</a:t>
            </a:r>
            <a:r>
              <a:rPr lang="en-US" sz="2000" dirty="0" smtClean="0">
                <a:solidFill>
                  <a:srgbClr val="CC0927"/>
                </a:solidFill>
                <a:latin typeface="+mn-lt"/>
              </a:rPr>
              <a:t> paths.</a:t>
            </a:r>
          </a:p>
          <a:p>
            <a:endParaRPr lang="en-US" sz="2000" dirty="0" smtClean="0">
              <a:solidFill>
                <a:srgbClr val="CC0927"/>
              </a:solidFill>
              <a:latin typeface="+mn-lt"/>
            </a:endParaRPr>
          </a:p>
          <a:p>
            <a:r>
              <a:rPr lang="en-US" sz="2000" b="1" dirty="0" smtClean="0">
                <a:latin typeface="+mn-lt"/>
              </a:rPr>
              <a:t>Idea: Keep authentication path in state.</a:t>
            </a:r>
          </a:p>
          <a:p>
            <a:endParaRPr lang="en-US" sz="2000" b="1" dirty="0" smtClean="0">
              <a:latin typeface="+mn-lt"/>
            </a:endParaRPr>
          </a:p>
          <a:p>
            <a:r>
              <a:rPr lang="en-US" sz="2000" b="1" dirty="0" smtClean="0">
                <a:latin typeface="+mn-lt"/>
              </a:rPr>
              <a:t>-&gt; Only have to update “new” nodes.</a:t>
            </a:r>
          </a:p>
          <a:p>
            <a:endParaRPr lang="en-US" sz="2000" b="1" dirty="0" smtClean="0">
              <a:latin typeface="+mn-lt"/>
            </a:endParaRPr>
          </a:p>
          <a:p>
            <a:r>
              <a:rPr lang="en-US" sz="2000" b="1" dirty="0" smtClean="0">
                <a:latin typeface="+mn-lt"/>
              </a:rPr>
              <a:t>Result</a:t>
            </a:r>
          </a:p>
          <a:p>
            <a:r>
              <a:rPr lang="en-US" sz="2000" dirty="0" smtClean="0">
                <a:latin typeface="+mn-lt"/>
              </a:rPr>
              <a:t>Storage: 	h nodes</a:t>
            </a:r>
          </a:p>
          <a:p>
            <a:r>
              <a:rPr lang="en-US" sz="2000" dirty="0" smtClean="0">
                <a:latin typeface="+mn-lt"/>
              </a:rPr>
              <a:t>Time:     	~ h leaf + h node computations (average)</a:t>
            </a:r>
          </a:p>
          <a:p>
            <a:endParaRPr lang="en-US" sz="2000" dirty="0" smtClean="0">
              <a:latin typeface="+mn-lt"/>
            </a:endParaRPr>
          </a:p>
          <a:p>
            <a:r>
              <a:rPr lang="en-US" sz="2000" b="1" dirty="0" smtClean="0">
                <a:solidFill>
                  <a:srgbClr val="CC0927"/>
                </a:solidFill>
                <a:latin typeface="+mn-lt"/>
              </a:rPr>
              <a:t>But: Worst case still </a:t>
            </a:r>
            <a:r>
              <a:rPr lang="en-US" sz="2000" b="1" dirty="0" smtClean="0">
                <a:solidFill>
                  <a:srgbClr val="CC0927"/>
                </a:solidFill>
                <a:latin typeface="Verdana"/>
              </a:rPr>
              <a:t>2</a:t>
            </a:r>
            <a:r>
              <a:rPr lang="en-US" sz="2000" b="1" baseline="30000" dirty="0" smtClean="0">
                <a:solidFill>
                  <a:srgbClr val="CC0927"/>
                </a:solidFill>
                <a:latin typeface="Verdana"/>
              </a:rPr>
              <a:t>h</a:t>
            </a:r>
            <a:r>
              <a:rPr lang="en-US" sz="2000" b="1" dirty="0" smtClean="0">
                <a:solidFill>
                  <a:srgbClr val="CC0927"/>
                </a:solidFill>
                <a:latin typeface="Verdana"/>
              </a:rPr>
              <a:t>-1 leaf + 2</a:t>
            </a:r>
            <a:r>
              <a:rPr lang="en-US" sz="2000" b="1" baseline="30000" dirty="0" smtClean="0">
                <a:solidFill>
                  <a:srgbClr val="CC0927"/>
                </a:solidFill>
                <a:latin typeface="Verdana"/>
              </a:rPr>
              <a:t>h</a:t>
            </a:r>
            <a:r>
              <a:rPr lang="en-US" sz="2000" b="1" dirty="0" smtClean="0">
                <a:solidFill>
                  <a:srgbClr val="CC0927"/>
                </a:solidFill>
                <a:latin typeface="Verdana"/>
              </a:rPr>
              <a:t>-1-h node computations!</a:t>
            </a:r>
          </a:p>
          <a:p>
            <a:r>
              <a:rPr lang="en-US" sz="2000" b="1" dirty="0" smtClean="0">
                <a:solidFill>
                  <a:srgbClr val="CC0927"/>
                </a:solidFill>
                <a:latin typeface="Verdana"/>
              </a:rPr>
              <a:t>-&gt; Keep in mind. To be solved.</a:t>
            </a:r>
            <a:endParaRPr lang="en-US" sz="2000" dirty="0" smtClean="0">
              <a:solidFill>
                <a:srgbClr val="CC0927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775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/>
          <p:cNvSpPr txBox="1">
            <a:spLocks/>
          </p:cNvSpPr>
          <p:nvPr/>
        </p:nvSpPr>
        <p:spPr>
          <a:xfrm>
            <a:off x="358775" y="488950"/>
            <a:ext cx="6667500" cy="838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Observation 2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251521" y="29969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n-lt"/>
              </a:rPr>
              <a:t>When new left node in authentication path is needed, its children have been part of previous authentication paths.  </a:t>
            </a:r>
          </a:p>
        </p:txBody>
      </p:sp>
    </p:spTree>
    <p:extLst>
      <p:ext uri="{BB962C8B-B14F-4D97-AF65-F5344CB8AC3E}">
        <p14:creationId xmlns:p14="http://schemas.microsoft.com/office/powerpoint/2010/main" val="266092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Computing </a:t>
            </a:r>
            <a:r>
              <a:rPr lang="de-DE" dirty="0" err="1" smtClean="0"/>
              <a:t>Left</a:t>
            </a:r>
            <a:r>
              <a:rPr lang="de-DE" dirty="0" smtClean="0"/>
              <a:t> Nodes</a:t>
            </a:r>
            <a:endParaRPr lang="de-DE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250825" y="1592263"/>
            <a:ext cx="8640763" cy="4500562"/>
          </a:xfrm>
          <a:prstGeom prst="rect">
            <a:avLst/>
          </a:prstGeom>
        </p:spPr>
        <p:txBody>
          <a:bodyPr/>
          <a:lstStyle/>
          <a:p>
            <a:pPr marL="179388" lvl="0" indent="-179388" eaLnBrk="0" hangingPunct="0">
              <a:spcBef>
                <a:spcPct val="20000"/>
              </a:spcBef>
            </a:pPr>
            <a:r>
              <a:rPr lang="en-US" sz="2400" kern="0" dirty="0" smtClean="0"/>
              <a:t> </a:t>
            </a:r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endParaRPr lang="en-US" sz="2400" kern="0" dirty="0" smtClean="0"/>
          </a:p>
          <a:p>
            <a:pPr marL="179388" lvl="0" indent="-179388" eaLnBrk="0" hangingPunct="0">
              <a:spcBef>
                <a:spcPct val="20000"/>
              </a:spcBef>
            </a:pPr>
            <a:r>
              <a:rPr lang="en-US" sz="2400" kern="0" dirty="0" smtClean="0"/>
              <a:t>   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Oval 26"/>
          <p:cNvSpPr>
            <a:spLocks noChangeArrowheads="1"/>
          </p:cNvSpPr>
          <p:nvPr/>
        </p:nvSpPr>
        <p:spPr bwMode="auto">
          <a:xfrm>
            <a:off x="454795" y="4741837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6" name="Oval 27"/>
          <p:cNvSpPr>
            <a:spLocks noChangeArrowheads="1"/>
          </p:cNvSpPr>
          <p:nvPr/>
        </p:nvSpPr>
        <p:spPr bwMode="auto">
          <a:xfrm>
            <a:off x="1534295" y="4741837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3" name="Oval 34"/>
          <p:cNvSpPr>
            <a:spLocks noChangeArrowheads="1"/>
          </p:cNvSpPr>
          <p:nvPr/>
        </p:nvSpPr>
        <p:spPr bwMode="auto">
          <a:xfrm>
            <a:off x="1032645" y="4022700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7" name="Oval 38"/>
          <p:cNvSpPr>
            <a:spLocks noChangeArrowheads="1"/>
          </p:cNvSpPr>
          <p:nvPr/>
        </p:nvSpPr>
        <p:spPr bwMode="auto">
          <a:xfrm>
            <a:off x="2112145" y="3301975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19" name="Oval 40"/>
          <p:cNvSpPr>
            <a:spLocks noChangeArrowheads="1"/>
          </p:cNvSpPr>
          <p:nvPr/>
        </p:nvSpPr>
        <p:spPr bwMode="auto">
          <a:xfrm>
            <a:off x="4199707" y="2509812"/>
            <a:ext cx="431800" cy="4318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20" name="Line 57"/>
          <p:cNvSpPr>
            <a:spLocks noChangeShapeType="1"/>
          </p:cNvSpPr>
          <p:nvPr/>
        </p:nvSpPr>
        <p:spPr bwMode="auto">
          <a:xfrm flipH="1">
            <a:off x="815157" y="4454500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1" name="Line 58"/>
          <p:cNvSpPr>
            <a:spLocks noChangeShapeType="1"/>
          </p:cNvSpPr>
          <p:nvPr/>
        </p:nvSpPr>
        <p:spPr bwMode="auto">
          <a:xfrm>
            <a:off x="1246957" y="4454500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8" name="Line 65"/>
          <p:cNvSpPr>
            <a:spLocks noChangeShapeType="1"/>
          </p:cNvSpPr>
          <p:nvPr/>
        </p:nvSpPr>
        <p:spPr bwMode="auto">
          <a:xfrm flipH="1">
            <a:off x="1391420" y="3733775"/>
            <a:ext cx="9366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9" name="Line 66"/>
          <p:cNvSpPr>
            <a:spLocks noChangeShapeType="1"/>
          </p:cNvSpPr>
          <p:nvPr/>
        </p:nvSpPr>
        <p:spPr bwMode="auto">
          <a:xfrm>
            <a:off x="2328045" y="3733775"/>
            <a:ext cx="8636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2" name="Line 69"/>
          <p:cNvSpPr>
            <a:spLocks noChangeShapeType="1"/>
          </p:cNvSpPr>
          <p:nvPr/>
        </p:nvSpPr>
        <p:spPr bwMode="auto">
          <a:xfrm flipH="1">
            <a:off x="2472507" y="2941612"/>
            <a:ext cx="1943100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3" name="Line 70"/>
          <p:cNvSpPr>
            <a:spLocks noChangeShapeType="1"/>
          </p:cNvSpPr>
          <p:nvPr/>
        </p:nvSpPr>
        <p:spPr bwMode="auto">
          <a:xfrm>
            <a:off x="4415607" y="2941612"/>
            <a:ext cx="2016125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48" name="Oval 26"/>
          <p:cNvSpPr>
            <a:spLocks noChangeArrowheads="1"/>
          </p:cNvSpPr>
          <p:nvPr/>
        </p:nvSpPr>
        <p:spPr bwMode="auto">
          <a:xfrm>
            <a:off x="2547935" y="4751519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49" name="Oval 27"/>
          <p:cNvSpPr>
            <a:spLocks noChangeArrowheads="1"/>
          </p:cNvSpPr>
          <p:nvPr/>
        </p:nvSpPr>
        <p:spPr bwMode="auto">
          <a:xfrm>
            <a:off x="3627435" y="4751519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0" name="Oval 34"/>
          <p:cNvSpPr>
            <a:spLocks noChangeArrowheads="1"/>
          </p:cNvSpPr>
          <p:nvPr/>
        </p:nvSpPr>
        <p:spPr bwMode="auto">
          <a:xfrm>
            <a:off x="3125785" y="4032382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1" name="Line 57"/>
          <p:cNvSpPr>
            <a:spLocks noChangeShapeType="1"/>
          </p:cNvSpPr>
          <p:nvPr/>
        </p:nvSpPr>
        <p:spPr bwMode="auto">
          <a:xfrm flipH="1">
            <a:off x="2908297" y="4464182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2" name="Line 58"/>
          <p:cNvSpPr>
            <a:spLocks noChangeShapeType="1"/>
          </p:cNvSpPr>
          <p:nvPr/>
        </p:nvSpPr>
        <p:spPr bwMode="auto">
          <a:xfrm>
            <a:off x="3340097" y="4464182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3" name="Oval 26"/>
          <p:cNvSpPr>
            <a:spLocks noChangeArrowheads="1"/>
          </p:cNvSpPr>
          <p:nvPr/>
        </p:nvSpPr>
        <p:spPr bwMode="auto">
          <a:xfrm>
            <a:off x="4716016" y="4741837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4" name="Oval 27"/>
          <p:cNvSpPr>
            <a:spLocks noChangeArrowheads="1"/>
          </p:cNvSpPr>
          <p:nvPr/>
        </p:nvSpPr>
        <p:spPr bwMode="auto">
          <a:xfrm>
            <a:off x="5795516" y="4741837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5" name="Oval 34"/>
          <p:cNvSpPr>
            <a:spLocks noChangeArrowheads="1"/>
          </p:cNvSpPr>
          <p:nvPr/>
        </p:nvSpPr>
        <p:spPr bwMode="auto">
          <a:xfrm>
            <a:off x="5293866" y="4022700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6" name="Oval 38"/>
          <p:cNvSpPr>
            <a:spLocks noChangeArrowheads="1"/>
          </p:cNvSpPr>
          <p:nvPr/>
        </p:nvSpPr>
        <p:spPr bwMode="auto">
          <a:xfrm>
            <a:off x="6373366" y="3301975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57" name="Line 57"/>
          <p:cNvSpPr>
            <a:spLocks noChangeShapeType="1"/>
          </p:cNvSpPr>
          <p:nvPr/>
        </p:nvSpPr>
        <p:spPr bwMode="auto">
          <a:xfrm flipH="1">
            <a:off x="5076378" y="4454500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8" name="Line 58"/>
          <p:cNvSpPr>
            <a:spLocks noChangeShapeType="1"/>
          </p:cNvSpPr>
          <p:nvPr/>
        </p:nvSpPr>
        <p:spPr bwMode="auto">
          <a:xfrm>
            <a:off x="5508178" y="4454500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9" name="Line 65"/>
          <p:cNvSpPr>
            <a:spLocks noChangeShapeType="1"/>
          </p:cNvSpPr>
          <p:nvPr/>
        </p:nvSpPr>
        <p:spPr bwMode="auto">
          <a:xfrm flipH="1">
            <a:off x="5652641" y="3733775"/>
            <a:ext cx="9366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60" name="Line 66"/>
          <p:cNvSpPr>
            <a:spLocks noChangeShapeType="1"/>
          </p:cNvSpPr>
          <p:nvPr/>
        </p:nvSpPr>
        <p:spPr bwMode="auto">
          <a:xfrm>
            <a:off x="6589266" y="3733775"/>
            <a:ext cx="8636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61" name="Oval 26"/>
          <p:cNvSpPr>
            <a:spLocks noChangeArrowheads="1"/>
          </p:cNvSpPr>
          <p:nvPr/>
        </p:nvSpPr>
        <p:spPr bwMode="auto">
          <a:xfrm>
            <a:off x="6809156" y="4751519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62" name="Oval 27"/>
          <p:cNvSpPr>
            <a:spLocks noChangeArrowheads="1"/>
          </p:cNvSpPr>
          <p:nvPr/>
        </p:nvSpPr>
        <p:spPr bwMode="auto">
          <a:xfrm>
            <a:off x="7888656" y="4751519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63" name="Oval 34"/>
          <p:cNvSpPr>
            <a:spLocks noChangeArrowheads="1"/>
          </p:cNvSpPr>
          <p:nvPr/>
        </p:nvSpPr>
        <p:spPr bwMode="auto">
          <a:xfrm>
            <a:off x="7387006" y="4032382"/>
            <a:ext cx="431800" cy="431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64" name="Line 57"/>
          <p:cNvSpPr>
            <a:spLocks noChangeShapeType="1"/>
          </p:cNvSpPr>
          <p:nvPr/>
        </p:nvSpPr>
        <p:spPr bwMode="auto">
          <a:xfrm flipH="1">
            <a:off x="7169518" y="4464182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65" name="Line 58"/>
          <p:cNvSpPr>
            <a:spLocks noChangeShapeType="1"/>
          </p:cNvSpPr>
          <p:nvPr/>
        </p:nvSpPr>
        <p:spPr bwMode="auto">
          <a:xfrm>
            <a:off x="7601318" y="4464182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cxnSp>
        <p:nvCxnSpPr>
          <p:cNvPr id="36" name="Gerade Verbindung mit Pfeil 35"/>
          <p:cNvCxnSpPr/>
          <p:nvPr/>
        </p:nvCxnSpPr>
        <p:spPr>
          <a:xfrm flipV="1">
            <a:off x="3840875" y="5255327"/>
            <a:ext cx="0" cy="477929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/>
          <p:cNvSpPr txBox="1"/>
          <p:nvPr/>
        </p:nvSpPr>
        <p:spPr>
          <a:xfrm>
            <a:off x="4906161" y="5309917"/>
            <a:ext cx="43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i</a:t>
            </a:r>
            <a:endParaRPr lang="de-DE" dirty="0"/>
          </a:p>
        </p:txBody>
      </p:sp>
      <p:graphicFrame>
        <p:nvGraphicFramePr>
          <p:cNvPr id="38" name="Objekt 37"/>
          <p:cNvGraphicFramePr>
            <a:graphicFrameLocks noChangeAspect="1"/>
          </p:cNvGraphicFramePr>
          <p:nvPr/>
        </p:nvGraphicFramePr>
        <p:xfrm>
          <a:off x="1477709" y="4027488"/>
          <a:ext cx="163671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4" name="Formel" r:id="rId3" imgW="634680" imgH="241200" progId="Equation.3">
                  <p:embed/>
                </p:oleObj>
              </mc:Choice>
              <mc:Fallback>
                <p:oleObj name="Formel" r:id="rId3" imgW="6346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709" y="4027488"/>
                        <a:ext cx="1636713" cy="4587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99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3626718" y="4005263"/>
          <a:ext cx="24574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5" name="Formel" r:id="rId5" imgW="952200" imgH="228600" progId="Equation.3">
                  <p:embed/>
                </p:oleObj>
              </mc:Choice>
              <mc:Fallback>
                <p:oleObj name="Formel" r:id="rId5" imgW="952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6718" y="4005263"/>
                        <a:ext cx="2457450" cy="4333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99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Gerade Verbindung 38"/>
          <p:cNvCxnSpPr/>
          <p:nvPr/>
        </p:nvCxnSpPr>
        <p:spPr>
          <a:xfrm>
            <a:off x="250825" y="3140968"/>
            <a:ext cx="7921575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9"/>
          <p:cNvCxnSpPr/>
          <p:nvPr/>
        </p:nvCxnSpPr>
        <p:spPr>
          <a:xfrm>
            <a:off x="251520" y="3861048"/>
            <a:ext cx="7921575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/>
          <p:cNvSpPr txBox="1"/>
          <p:nvPr/>
        </p:nvSpPr>
        <p:spPr>
          <a:xfrm>
            <a:off x="273528" y="3284984"/>
            <a:ext cx="78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 smtClean="0">
                <a:solidFill>
                  <a:srgbClr val="CC0927"/>
                </a:solidFill>
                <a:latin typeface="Times New Roman" pitchFamily="18" charset="0"/>
                <a:cs typeface="Times New Roman" pitchFamily="18" charset="0"/>
              </a:rPr>
              <a:t>v = 2</a:t>
            </a:r>
            <a:endParaRPr lang="de-DE" i="1" dirty="0">
              <a:solidFill>
                <a:srgbClr val="CC092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743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1 -1.13347E-7 L 0.11944 -1.13347E-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/>
          <p:cNvSpPr txBox="1">
            <a:spLocks/>
          </p:cNvSpPr>
          <p:nvPr/>
        </p:nvSpPr>
        <p:spPr>
          <a:xfrm>
            <a:off x="358775" y="488950"/>
            <a:ext cx="6667500" cy="838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Result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251521" y="2845385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n-lt"/>
              </a:rPr>
              <a:t>Storing          	nodes        </a:t>
            </a:r>
          </a:p>
          <a:p>
            <a:r>
              <a:rPr lang="en-US" sz="2000" dirty="0" smtClean="0">
                <a:latin typeface="+mn-lt"/>
              </a:rPr>
              <a:t>                             </a:t>
            </a:r>
          </a:p>
          <a:p>
            <a:r>
              <a:rPr lang="en-US" sz="2000" dirty="0" smtClean="0">
                <a:latin typeface="+mn-lt"/>
              </a:rPr>
              <a:t>all left nodes can be computed with one node computation / node</a:t>
            </a:r>
          </a:p>
        </p:txBody>
      </p:sp>
      <p:graphicFrame>
        <p:nvGraphicFramePr>
          <p:cNvPr id="4" name="Objekt 3"/>
          <p:cNvGraphicFramePr>
            <a:graphicFrameLocks noChangeAspect="1"/>
          </p:cNvGraphicFramePr>
          <p:nvPr>
            <p:extLst/>
          </p:nvPr>
        </p:nvGraphicFramePr>
        <p:xfrm>
          <a:off x="1503363" y="2628900"/>
          <a:ext cx="614362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8" name="Formel" r:id="rId4" imgW="304560" imgH="431640" progId="Equation.3">
                  <p:embed/>
                </p:oleObj>
              </mc:Choice>
              <mc:Fallback>
                <p:oleObj name="Formel" r:id="rId4" imgW="3045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363" y="2628900"/>
                        <a:ext cx="614362" cy="871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779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/>
          <p:cNvSpPr txBox="1">
            <a:spLocks/>
          </p:cNvSpPr>
          <p:nvPr/>
        </p:nvSpPr>
        <p:spPr>
          <a:xfrm>
            <a:off x="358775" y="488950"/>
            <a:ext cx="6667500" cy="838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Observation 3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251521" y="1628800"/>
            <a:ext cx="86409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n-lt"/>
              </a:rPr>
              <a:t>Right child nodes on high levels are most costly.</a:t>
            </a:r>
          </a:p>
          <a:p>
            <a:endParaRPr lang="en-US" sz="2000" dirty="0" smtClean="0">
              <a:latin typeface="+mn-lt"/>
            </a:endParaRPr>
          </a:p>
          <a:p>
            <a:r>
              <a:rPr lang="en-US" sz="2000" dirty="0">
                <a:latin typeface="+mn-lt"/>
              </a:rPr>
              <a:t>C</a:t>
            </a:r>
            <a:r>
              <a:rPr lang="en-US" sz="2000" dirty="0" smtClean="0">
                <a:latin typeface="+mn-lt"/>
              </a:rPr>
              <a:t>omputing node on level v requires</a:t>
            </a:r>
          </a:p>
          <a:p>
            <a:r>
              <a:rPr lang="en-US" sz="2000" dirty="0" smtClean="0">
                <a:latin typeface="+mn-lt"/>
              </a:rPr>
              <a:t>2</a:t>
            </a:r>
            <a:r>
              <a:rPr lang="en-US" sz="2000" baseline="30000" dirty="0" smtClean="0">
                <a:latin typeface="+mn-lt"/>
              </a:rPr>
              <a:t>v</a:t>
            </a:r>
            <a:r>
              <a:rPr lang="en-US" sz="2000" dirty="0" smtClean="0">
                <a:latin typeface="+mn-lt"/>
              </a:rPr>
              <a:t> leaf and 2</a:t>
            </a:r>
            <a:r>
              <a:rPr lang="en-US" sz="2000" baseline="30000" dirty="0" smtClean="0">
                <a:latin typeface="+mn-lt"/>
              </a:rPr>
              <a:t>v</a:t>
            </a:r>
            <a:r>
              <a:rPr lang="en-US" sz="2000" dirty="0" smtClean="0">
                <a:latin typeface="+mn-lt"/>
              </a:rPr>
              <a:t>-1 node computations.</a:t>
            </a:r>
          </a:p>
          <a:p>
            <a:endParaRPr lang="en-US" sz="2000" dirty="0" smtClean="0">
              <a:latin typeface="+mn-lt"/>
            </a:endParaRPr>
          </a:p>
          <a:p>
            <a:r>
              <a:rPr lang="en-US" sz="2000" b="1" dirty="0" smtClean="0">
                <a:latin typeface="+mn-lt"/>
              </a:rPr>
              <a:t>Idea: Store right nodes on top k levels during key generation.</a:t>
            </a:r>
          </a:p>
          <a:p>
            <a:endParaRPr lang="en-US" sz="2000" b="1" dirty="0" smtClean="0">
              <a:latin typeface="+mn-lt"/>
            </a:endParaRPr>
          </a:p>
          <a:p>
            <a:r>
              <a:rPr lang="en-US" sz="2000" b="1" dirty="0" smtClean="0">
                <a:latin typeface="+mn-lt"/>
              </a:rPr>
              <a:t>Result</a:t>
            </a:r>
          </a:p>
          <a:p>
            <a:r>
              <a:rPr lang="en-US" sz="2000" dirty="0" smtClean="0">
                <a:latin typeface="+mn-lt"/>
              </a:rPr>
              <a:t>Storage: 	2</a:t>
            </a:r>
            <a:r>
              <a:rPr lang="en-US" sz="2000" baseline="30000" dirty="0" smtClean="0">
                <a:latin typeface="+mn-lt"/>
              </a:rPr>
              <a:t>k</a:t>
            </a:r>
            <a:r>
              <a:rPr lang="en-US" sz="2000" dirty="0" smtClean="0">
                <a:latin typeface="+mn-lt"/>
              </a:rPr>
              <a:t>-2 n bit nodes </a:t>
            </a:r>
          </a:p>
          <a:p>
            <a:r>
              <a:rPr lang="en-US" sz="2000" dirty="0" smtClean="0">
                <a:latin typeface="+mn-lt"/>
              </a:rPr>
              <a:t>Time:</a:t>
            </a:r>
            <a:r>
              <a:rPr lang="en-US" sz="2000" dirty="0"/>
              <a:t> </a:t>
            </a:r>
            <a:r>
              <a:rPr lang="en-US" sz="2000" dirty="0" smtClean="0"/>
              <a:t>     </a:t>
            </a:r>
            <a:r>
              <a:rPr lang="en-US" sz="2000" dirty="0" smtClean="0">
                <a:latin typeface="+mn-lt"/>
              </a:rPr>
              <a:t>~ h-k leaf + h-k node computations (average)</a:t>
            </a:r>
          </a:p>
          <a:p>
            <a:endParaRPr lang="en-US" sz="2000" dirty="0" smtClean="0">
              <a:latin typeface="+mn-lt"/>
            </a:endParaRPr>
          </a:p>
          <a:p>
            <a:r>
              <a:rPr lang="en-US" sz="2000" b="1" dirty="0" smtClean="0">
                <a:solidFill>
                  <a:srgbClr val="CC0927"/>
                </a:solidFill>
                <a:latin typeface="+mn-lt"/>
              </a:rPr>
              <a:t>Still: Worst case </a:t>
            </a:r>
            <a:r>
              <a:rPr lang="en-US" sz="2000" b="1" dirty="0" smtClean="0">
                <a:solidFill>
                  <a:srgbClr val="CC0927"/>
                </a:solidFill>
                <a:latin typeface="Verdana"/>
              </a:rPr>
              <a:t>2</a:t>
            </a:r>
            <a:r>
              <a:rPr lang="en-US" sz="2000" b="1" baseline="30000" dirty="0" smtClean="0">
                <a:solidFill>
                  <a:srgbClr val="CC0927"/>
                </a:solidFill>
                <a:latin typeface="Verdana"/>
              </a:rPr>
              <a:t>h-k</a:t>
            </a:r>
            <a:r>
              <a:rPr lang="en-US" sz="2000" b="1" dirty="0" smtClean="0">
                <a:solidFill>
                  <a:srgbClr val="CC0927"/>
                </a:solidFill>
                <a:latin typeface="Verdana"/>
              </a:rPr>
              <a:t>-1 leaf + 2</a:t>
            </a:r>
            <a:r>
              <a:rPr lang="en-US" sz="2000" b="1" baseline="30000" dirty="0" smtClean="0">
                <a:solidFill>
                  <a:srgbClr val="CC0927"/>
                </a:solidFill>
                <a:latin typeface="Verdana"/>
              </a:rPr>
              <a:t>h-k</a:t>
            </a:r>
            <a:r>
              <a:rPr lang="en-US" sz="2000" b="1" dirty="0" smtClean="0">
                <a:solidFill>
                  <a:srgbClr val="CC0927"/>
                </a:solidFill>
                <a:latin typeface="Verdana"/>
              </a:rPr>
              <a:t>-1-(h-k) node computations!</a:t>
            </a:r>
            <a:endParaRPr lang="en-US" sz="20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870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2138" y="2734816"/>
            <a:ext cx="8498334" cy="838200"/>
          </a:xfrm>
        </p:spPr>
        <p:txBody>
          <a:bodyPr/>
          <a:lstStyle/>
          <a:p>
            <a:pPr algn="ctr" fontAlgn="ctr">
              <a:spcAft>
                <a:spcPts val="600"/>
              </a:spcAft>
            </a:pPr>
            <a:r>
              <a:rPr lang="en-US" sz="4400" dirty="0" smtClean="0"/>
              <a:t>Distribute Computation</a:t>
            </a:r>
            <a:endParaRPr lang="en-US" sz="4400" baseline="30000" dirty="0" smtClean="0"/>
          </a:p>
        </p:txBody>
      </p:sp>
    </p:spTree>
    <p:extLst>
      <p:ext uri="{BB962C8B-B14F-4D97-AF65-F5344CB8AC3E}">
        <p14:creationId xmlns:p14="http://schemas.microsoft.com/office/powerpoint/2010/main" val="115969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/>
          <p:cNvSpPr txBox="1">
            <a:spLocks/>
          </p:cNvSpPr>
          <p:nvPr/>
        </p:nvSpPr>
        <p:spPr>
          <a:xfrm>
            <a:off x="358775" y="488950"/>
            <a:ext cx="6667500" cy="838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Intuition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251521" y="1556793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mtClean="0">
                <a:latin typeface="+mn-lt"/>
              </a:rPr>
              <a:t>Observation</a:t>
            </a:r>
            <a:r>
              <a:rPr lang="en-US" sz="2000" b="1" dirty="0" smtClean="0">
                <a:latin typeface="+mn-lt"/>
              </a:rPr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 For every second signature only one leaf computation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 Average runtime:</a:t>
            </a:r>
            <a:r>
              <a:rPr lang="pt-BR" sz="2000" dirty="0" smtClean="0">
                <a:latin typeface="+mn-lt"/>
              </a:rPr>
              <a:t> ~ h-k leaf + h-k node computations </a:t>
            </a:r>
            <a:endParaRPr lang="en-US" sz="2000" dirty="0" smtClean="0">
              <a:latin typeface="+mn-lt"/>
            </a:endParaRPr>
          </a:p>
          <a:p>
            <a:endParaRPr lang="en-US" sz="2000" b="1" dirty="0" smtClean="0">
              <a:latin typeface="+mn-lt"/>
            </a:endParaRPr>
          </a:p>
          <a:p>
            <a:r>
              <a:rPr lang="en-US" sz="2000" b="1" dirty="0" smtClean="0">
                <a:latin typeface="+mn-lt"/>
              </a:rPr>
              <a:t>Idea: Distribute computation to achieve average runtime in worst case.</a:t>
            </a:r>
          </a:p>
          <a:p>
            <a:endParaRPr lang="en-US" sz="2000" b="1" dirty="0" smtClean="0">
              <a:latin typeface="+mn-lt"/>
            </a:endParaRPr>
          </a:p>
          <a:p>
            <a:r>
              <a:rPr lang="en-US" sz="2000" dirty="0" smtClean="0">
                <a:latin typeface="+mn-lt"/>
              </a:rPr>
              <a:t>	</a:t>
            </a:r>
            <a:r>
              <a:rPr lang="en-US" sz="2000" dirty="0" smtClean="0">
                <a:solidFill>
                  <a:srgbClr val="C00000"/>
                </a:solidFill>
                <a:latin typeface="+mn-lt"/>
              </a:rPr>
              <a:t>Focus on d</a:t>
            </a:r>
            <a:r>
              <a:rPr lang="en-US" sz="2000" dirty="0" smtClean="0">
                <a:solidFill>
                  <a:srgbClr val="CC0927"/>
                </a:solidFill>
                <a:latin typeface="+mn-lt"/>
              </a:rPr>
              <a:t>istributing computation of leaves</a:t>
            </a:r>
          </a:p>
          <a:p>
            <a:endParaRPr lang="en-US" sz="20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7798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TreeHash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Updates</a:t>
            </a:r>
            <a:endParaRPr lang="de-DE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250825" y="1484784"/>
            <a:ext cx="8640763" cy="4500562"/>
          </a:xfrm>
          <a:prstGeom prst="rect">
            <a:avLst/>
          </a:prstGeom>
        </p:spPr>
        <p:txBody>
          <a:bodyPr/>
          <a:lstStyle/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TreeHash.init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v,i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179388" lvl="0" indent="-179388" eaLnBrk="0" hangingPunct="0">
              <a:spcBef>
                <a:spcPct val="20000"/>
              </a:spcBef>
            </a:pPr>
            <a:r>
              <a:rPr lang="en-US" sz="2000" kern="0" dirty="0" smtClean="0">
                <a:latin typeface="+mn-lt"/>
              </a:rPr>
              <a:t>1: Init Stack, N1, N2, j=</a:t>
            </a:r>
            <a:r>
              <a:rPr lang="en-US" sz="2000" kern="0" dirty="0" err="1" smtClean="0">
                <a:latin typeface="+mn-lt"/>
              </a:rPr>
              <a:t>i</a:t>
            </a:r>
            <a:r>
              <a:rPr lang="en-US" sz="2000" kern="0" dirty="0" smtClean="0">
                <a:latin typeface="+mn-lt"/>
              </a:rPr>
              <a:t>, </a:t>
            </a:r>
            <a:r>
              <a:rPr lang="en-US" sz="2000" kern="0" dirty="0" err="1" smtClean="0">
                <a:latin typeface="+mn-lt"/>
              </a:rPr>
              <a:t>j_max</a:t>
            </a:r>
            <a:r>
              <a:rPr lang="en-US" sz="2000" kern="0" dirty="0" smtClean="0">
                <a:latin typeface="+mn-lt"/>
              </a:rPr>
              <a:t> =</a:t>
            </a:r>
            <a:r>
              <a:rPr lang="en-US" sz="2000" kern="0" dirty="0" smtClean="0"/>
              <a:t> i+2</a:t>
            </a:r>
            <a:r>
              <a:rPr lang="en-US" sz="2000" kern="0" baseline="30000" dirty="0" smtClean="0"/>
              <a:t>v</a:t>
            </a:r>
            <a:r>
              <a:rPr lang="en-US" sz="2000" kern="0" dirty="0" smtClean="0"/>
              <a:t>-1</a:t>
            </a:r>
            <a:r>
              <a:rPr lang="en-US" sz="2000" kern="0" dirty="0" smtClean="0">
                <a:latin typeface="+mn-lt"/>
              </a:rPr>
              <a:t> 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kern="0" dirty="0" smtClean="0">
                <a:latin typeface="+mn-lt"/>
              </a:rPr>
              <a:t>2: Exit</a:t>
            </a:r>
          </a:p>
          <a:p>
            <a:pPr marL="179388" lvl="0" indent="-179388" eaLnBrk="0" hangingPunct="0">
              <a:spcBef>
                <a:spcPct val="20000"/>
              </a:spcBef>
              <a:defRPr/>
            </a:pPr>
            <a:endParaRPr lang="en-US" sz="2000" kern="0" dirty="0" smtClean="0">
              <a:solidFill>
                <a:srgbClr val="000000"/>
              </a:solidFill>
              <a:latin typeface="Verdana"/>
            </a:endParaRPr>
          </a:p>
          <a:p>
            <a:pPr marL="179388" lvl="0" indent="-179388" eaLnBrk="0" hangingPunct="0">
              <a:spcBef>
                <a:spcPct val="20000"/>
              </a:spcBef>
              <a:defRPr/>
            </a:pPr>
            <a:r>
              <a:rPr lang="en-US" sz="2000" kern="0" dirty="0" err="1" smtClean="0">
                <a:solidFill>
                  <a:srgbClr val="000000"/>
                </a:solidFill>
                <a:latin typeface="Verdana"/>
              </a:rPr>
              <a:t>TreeHash.update</a:t>
            </a:r>
            <a:r>
              <a:rPr lang="en-US" sz="2000" kern="0" dirty="0" smtClean="0">
                <a:solidFill>
                  <a:srgbClr val="000000"/>
                </a:solidFill>
                <a:latin typeface="Verdana"/>
              </a:rPr>
              <a:t>()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kern="0" dirty="0" smtClean="0">
                <a:latin typeface="+mn-lt"/>
              </a:rPr>
              <a:t>1: If j &lt;= </a:t>
            </a:r>
            <a:r>
              <a:rPr lang="en-US" sz="2000" kern="0" dirty="0" err="1" smtClean="0">
                <a:latin typeface="+mn-lt"/>
              </a:rPr>
              <a:t>j_max</a:t>
            </a:r>
            <a:r>
              <a:rPr lang="en-US" sz="2000" kern="0" dirty="0" smtClean="0">
                <a:latin typeface="+mn-lt"/>
              </a:rPr>
              <a:t> 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kern="0" dirty="0" smtClean="0">
                <a:latin typeface="+mn-lt"/>
              </a:rPr>
              <a:t>2:	N1 = </a:t>
            </a:r>
            <a:r>
              <a:rPr lang="en-US" sz="2000" kern="0" dirty="0" err="1" smtClean="0">
                <a:latin typeface="+mn-lt"/>
              </a:rPr>
              <a:t>LeafCalc</a:t>
            </a:r>
            <a:r>
              <a:rPr lang="en-US" sz="2000" kern="0" dirty="0" smtClean="0">
                <a:latin typeface="+mn-lt"/>
              </a:rPr>
              <a:t>(j)</a:t>
            </a:r>
          </a:p>
          <a:p>
            <a:pPr marL="179388" indent="-179388" eaLnBrk="0" hangingPunct="0">
              <a:spcBef>
                <a:spcPct val="20000"/>
              </a:spcBef>
            </a:pPr>
            <a:r>
              <a:rPr lang="en-US" sz="2000" kern="0" dirty="0" smtClean="0">
                <a:latin typeface="+mn-lt"/>
              </a:rPr>
              <a:t>3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	While N1</a:t>
            </a:r>
            <a:r>
              <a:rPr lang="en-US" sz="2000" kern="0" dirty="0" smtClean="0">
                <a:latin typeface="+mn-lt"/>
              </a:rPr>
              <a:t>.</a:t>
            </a:r>
            <a:r>
              <a:rPr lang="en-US" sz="2000" kern="0" dirty="0" smtClean="0">
                <a:solidFill>
                  <a:srgbClr val="000000"/>
                </a:solidFill>
                <a:latin typeface="Verdana"/>
              </a:rPr>
              <a:t>level()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== </a:t>
            </a:r>
            <a:r>
              <a:rPr kumimoji="0" lang="en-US" sz="20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Stack.top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lang="en-US" sz="2000" kern="0" dirty="0" smtClean="0">
                <a:latin typeface="+mn-lt"/>
              </a:rPr>
              <a:t>.</a:t>
            </a:r>
            <a:r>
              <a:rPr lang="en-US" sz="2000" kern="0" dirty="0" smtClean="0">
                <a:solidFill>
                  <a:srgbClr val="000000"/>
                </a:solidFill>
                <a:latin typeface="Verdana"/>
              </a:rPr>
              <a:t>level()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kern="0" dirty="0" smtClean="0">
                <a:latin typeface="+mn-lt"/>
              </a:rPr>
              <a:t>5:		N2 = Stack.pop()</a:t>
            </a:r>
          </a:p>
          <a:p>
            <a:pPr marL="179388" indent="-179388" eaLnBrk="0" hangingPunct="0">
              <a:spcBef>
                <a:spcPct val="20000"/>
              </a:spcBef>
              <a:defRPr/>
            </a:pP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6:		N1 = </a:t>
            </a:r>
            <a:r>
              <a:rPr lang="en-US" sz="2000" kern="0" dirty="0" err="1" smtClean="0">
                <a:solidFill>
                  <a:srgbClr val="000000"/>
                </a:solidFill>
                <a:latin typeface="Verdana"/>
              </a:rPr>
              <a:t>ComputeParent</a:t>
            </a:r>
            <a:r>
              <a:rPr lang="en-US" sz="2000" kern="0" dirty="0" smtClean="0">
                <a:solidFill>
                  <a:srgbClr val="000000"/>
                </a:solidFill>
                <a:latin typeface="Verdana"/>
              </a:rPr>
              <a:t>( N2, N1 )</a:t>
            </a:r>
            <a:endParaRPr kumimoji="0" lang="en-US" sz="2000" b="0" i="0" u="none" strike="noStrike" kern="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kern="0" dirty="0" smtClean="0">
                <a:latin typeface="+mn-lt"/>
              </a:rPr>
              <a:t>7:	</a:t>
            </a:r>
            <a:r>
              <a:rPr lang="en-US" sz="2000" kern="0" dirty="0" err="1" smtClean="0">
                <a:latin typeface="+mn-lt"/>
              </a:rPr>
              <a:t>Stack.push</a:t>
            </a:r>
            <a:r>
              <a:rPr lang="en-US" sz="2000" kern="0" dirty="0" smtClean="0">
                <a:latin typeface="+mn-lt"/>
              </a:rPr>
              <a:t>(N1)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8: Set j = j+1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kern="0" dirty="0" smtClean="0">
                <a:latin typeface="+mn-lt"/>
              </a:rPr>
              <a:t>9: Exit</a:t>
            </a:r>
            <a:endParaRPr kumimoji="0" lang="en-US" sz="2000" b="0" i="0" u="none" strike="noStrike" kern="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2000" kern="0" dirty="0" smtClean="0">
              <a:latin typeface="+mn-lt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2000" kern="0" dirty="0" smtClean="0">
              <a:latin typeface="+mn-lt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2000" kern="0" dirty="0" smtClean="0">
              <a:latin typeface="+mn-lt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2000" kern="0" dirty="0" smtClean="0">
              <a:latin typeface="+mn-lt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lvl="0" indent="-179388" eaLnBrk="0" hangingPunct="0">
              <a:spcBef>
                <a:spcPct val="20000"/>
              </a:spcBef>
            </a:pPr>
            <a:r>
              <a:rPr lang="en-US" sz="2000" kern="0" dirty="0" smtClean="0"/>
              <a:t>   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8" name="Gerade Verbindung 47"/>
          <p:cNvCxnSpPr/>
          <p:nvPr/>
        </p:nvCxnSpPr>
        <p:spPr>
          <a:xfrm>
            <a:off x="250825" y="1844824"/>
            <a:ext cx="86407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48"/>
          <p:cNvCxnSpPr/>
          <p:nvPr/>
        </p:nvCxnSpPr>
        <p:spPr>
          <a:xfrm>
            <a:off x="242811" y="2564904"/>
            <a:ext cx="86407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/>
          <p:cNvCxnSpPr/>
          <p:nvPr/>
        </p:nvCxnSpPr>
        <p:spPr>
          <a:xfrm>
            <a:off x="242811" y="1502202"/>
            <a:ext cx="86407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/>
        </p:nvCxnSpPr>
        <p:spPr>
          <a:xfrm>
            <a:off x="251520" y="2973161"/>
            <a:ext cx="86407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/>
        </p:nvCxnSpPr>
        <p:spPr>
          <a:xfrm>
            <a:off x="251520" y="3293693"/>
            <a:ext cx="86407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/>
        </p:nvCxnSpPr>
        <p:spPr>
          <a:xfrm>
            <a:off x="251717" y="6217558"/>
            <a:ext cx="86407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/>
          <p:cNvSpPr/>
          <p:nvPr/>
        </p:nvSpPr>
        <p:spPr>
          <a:xfrm>
            <a:off x="4572000" y="3212976"/>
            <a:ext cx="3816424" cy="8640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One</a:t>
            </a:r>
            <a:r>
              <a:rPr lang="de-DE" dirty="0" smtClean="0"/>
              <a:t> </a:t>
            </a:r>
            <a:r>
              <a:rPr lang="de-DE" dirty="0" err="1" smtClean="0"/>
              <a:t>leaf</a:t>
            </a:r>
            <a:r>
              <a:rPr lang="de-DE" dirty="0" smtClean="0"/>
              <a:t> per update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239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/>
          <p:cNvSpPr txBox="1">
            <a:spLocks/>
          </p:cNvSpPr>
          <p:nvPr/>
        </p:nvSpPr>
        <p:spPr>
          <a:xfrm>
            <a:off x="358775" y="488950"/>
            <a:ext cx="6667500" cy="838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Distribute</a:t>
            </a:r>
            <a: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Computation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251521" y="1556793"/>
            <a:ext cx="864096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b="1" dirty="0" smtClean="0">
                <a:latin typeface="+mn-lt"/>
              </a:rPr>
              <a:t>Concept</a:t>
            </a:r>
          </a:p>
          <a:p>
            <a:pPr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 Run one </a:t>
            </a:r>
            <a:r>
              <a:rPr lang="en-US" sz="2000" dirty="0" err="1" smtClean="0">
                <a:latin typeface="+mn-lt"/>
              </a:rPr>
              <a:t>TreeHash</a:t>
            </a:r>
            <a:r>
              <a:rPr lang="en-US" sz="2000" dirty="0" smtClean="0">
                <a:latin typeface="+mn-lt"/>
              </a:rPr>
              <a:t> instance per level 0 &lt;= v &lt; h-k</a:t>
            </a:r>
          </a:p>
          <a:p>
            <a:pPr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 Start computation of next right node on level v when current node becomes part of authentication path. </a:t>
            </a:r>
          </a:p>
          <a:p>
            <a:pPr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 Use scheduling strategy to guarantee that nodes are finished in time.</a:t>
            </a:r>
          </a:p>
          <a:p>
            <a:pPr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 smtClean="0">
                <a:latin typeface="+mn-lt"/>
              </a:rPr>
              <a:t> Distribute (h-k)/2 updates per signature among all running </a:t>
            </a:r>
            <a:r>
              <a:rPr lang="en-US" sz="2000" dirty="0" err="1" smtClean="0">
                <a:latin typeface="+mn-lt"/>
              </a:rPr>
              <a:t>TreeHash</a:t>
            </a:r>
            <a:r>
              <a:rPr lang="en-US" sz="2000" dirty="0" smtClean="0">
                <a:latin typeface="+mn-lt"/>
              </a:rPr>
              <a:t> instances</a:t>
            </a:r>
          </a:p>
        </p:txBody>
      </p:sp>
    </p:spTree>
    <p:extLst>
      <p:ext uri="{BB962C8B-B14F-4D97-AF65-F5344CB8AC3E}">
        <p14:creationId xmlns:p14="http://schemas.microsoft.com/office/powerpoint/2010/main" val="1681592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/>
          <p:cNvSpPr txBox="1">
            <a:spLocks/>
          </p:cNvSpPr>
          <p:nvPr/>
        </p:nvSpPr>
        <p:spPr>
          <a:xfrm>
            <a:off x="358775" y="488950"/>
            <a:ext cx="6667500" cy="838200"/>
          </a:xfrm>
          <a:prstGeom prst="rect">
            <a:avLst/>
          </a:prstGeom>
        </p:spPr>
        <p:txBody>
          <a:bodyPr anchor="ctr" anchorCtr="0"/>
          <a:lstStyle/>
          <a:p>
            <a:pPr lvl="0">
              <a:defRPr/>
            </a:pPr>
            <a:r>
              <a:rPr lang="en-US" sz="2800" b="1" kern="0" dirty="0" smtClean="0">
                <a:latin typeface="+mj-lt"/>
              </a:rPr>
              <a:t>Distribute Computation</a:t>
            </a:r>
            <a:endParaRPr lang="en-US" sz="2000" b="1" kern="0" dirty="0">
              <a:latin typeface="+mj-lt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358775" y="1599125"/>
            <a:ext cx="853370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de-DE" sz="2000" b="1" dirty="0" err="1" smtClean="0">
                <a:latin typeface="+mn-lt"/>
              </a:rPr>
              <a:t>Worst</a:t>
            </a:r>
            <a:r>
              <a:rPr lang="de-DE" sz="2000" b="1" dirty="0" smtClean="0">
                <a:latin typeface="+mn-lt"/>
              </a:rPr>
              <a:t> Case </a:t>
            </a:r>
            <a:r>
              <a:rPr lang="de-DE" sz="2000" b="1" dirty="0" err="1" smtClean="0">
                <a:latin typeface="+mn-lt"/>
              </a:rPr>
              <a:t>Runtime</a:t>
            </a:r>
            <a:endParaRPr lang="de-DE" sz="2000" b="1" dirty="0" smtClean="0">
              <a:latin typeface="+mn-lt"/>
            </a:endParaRPr>
          </a:p>
          <a:p>
            <a:pPr>
              <a:spcAft>
                <a:spcPts val="1200"/>
              </a:spcAft>
            </a:pPr>
            <a:r>
              <a:rPr lang="de-DE" sz="2000" dirty="0" err="1" smtClean="0">
                <a:latin typeface="+mn-lt"/>
              </a:rPr>
              <a:t>Before</a:t>
            </a:r>
            <a:r>
              <a:rPr lang="de-DE" sz="2000" dirty="0" smtClean="0">
                <a:latin typeface="+mn-lt"/>
              </a:rPr>
              <a:t>:</a:t>
            </a:r>
            <a:br>
              <a:rPr lang="de-DE" sz="2000" dirty="0" smtClean="0">
                <a:latin typeface="+mn-lt"/>
              </a:rPr>
            </a:br>
            <a:r>
              <a:rPr lang="en-US" sz="2000" dirty="0" smtClean="0">
                <a:solidFill>
                  <a:srgbClr val="CC0927"/>
                </a:solidFill>
                <a:latin typeface="+mn-lt"/>
              </a:rPr>
              <a:t>2</a:t>
            </a:r>
            <a:r>
              <a:rPr lang="en-US" sz="2000" baseline="30000" dirty="0" smtClean="0">
                <a:solidFill>
                  <a:srgbClr val="CC0927"/>
                </a:solidFill>
                <a:latin typeface="+mn-lt"/>
              </a:rPr>
              <a:t>h-k</a:t>
            </a:r>
            <a:r>
              <a:rPr lang="en-US" sz="2000" dirty="0" smtClean="0">
                <a:solidFill>
                  <a:srgbClr val="CC0927"/>
                </a:solidFill>
                <a:latin typeface="+mn-lt"/>
              </a:rPr>
              <a:t>-1 leaf </a:t>
            </a:r>
            <a:r>
              <a:rPr lang="en-US" sz="2000" dirty="0" smtClean="0">
                <a:latin typeface="+mn-lt"/>
              </a:rPr>
              <a:t>and </a:t>
            </a:r>
            <a:r>
              <a:rPr lang="en-US" sz="2000" dirty="0" smtClean="0">
                <a:solidFill>
                  <a:srgbClr val="CC0927"/>
                </a:solidFill>
                <a:latin typeface="+mn-lt"/>
              </a:rPr>
              <a:t>2</a:t>
            </a:r>
            <a:r>
              <a:rPr lang="en-US" sz="2000" baseline="30000" dirty="0" smtClean="0">
                <a:solidFill>
                  <a:srgbClr val="CC0927"/>
                </a:solidFill>
                <a:latin typeface="+mn-lt"/>
              </a:rPr>
              <a:t>h-k</a:t>
            </a:r>
            <a:r>
              <a:rPr lang="en-US" sz="2000" dirty="0" smtClean="0">
                <a:solidFill>
                  <a:srgbClr val="CC0927"/>
                </a:solidFill>
                <a:latin typeface="+mn-lt"/>
              </a:rPr>
              <a:t>-1-(h-k)</a:t>
            </a:r>
            <a:r>
              <a:rPr lang="en-US" sz="2000" dirty="0" smtClean="0">
                <a:latin typeface="+mn-lt"/>
              </a:rPr>
              <a:t> </a:t>
            </a:r>
            <a:r>
              <a:rPr lang="en-US" sz="2000" dirty="0" smtClean="0">
                <a:solidFill>
                  <a:srgbClr val="CC0927"/>
                </a:solidFill>
                <a:latin typeface="+mn-lt"/>
              </a:rPr>
              <a:t>node</a:t>
            </a:r>
            <a:r>
              <a:rPr lang="en-US" sz="2000" dirty="0" smtClean="0">
                <a:latin typeface="+mn-lt"/>
              </a:rPr>
              <a:t> computations.</a:t>
            </a:r>
          </a:p>
          <a:p>
            <a:pPr>
              <a:spcAft>
                <a:spcPts val="1200"/>
              </a:spcAft>
            </a:pPr>
            <a:r>
              <a:rPr lang="de-DE" sz="2000" dirty="0" err="1" smtClean="0">
                <a:latin typeface="+mn-lt"/>
              </a:rPr>
              <a:t>With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distributed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computation</a:t>
            </a:r>
            <a:r>
              <a:rPr lang="de-DE" sz="2000" dirty="0" smtClean="0">
                <a:latin typeface="+mn-lt"/>
              </a:rPr>
              <a:t>:</a:t>
            </a:r>
            <a:br>
              <a:rPr lang="de-DE" sz="2000" dirty="0" smtClean="0">
                <a:latin typeface="+mn-lt"/>
              </a:rPr>
            </a:br>
            <a:r>
              <a:rPr lang="en-US" sz="2000" dirty="0" smtClean="0">
                <a:solidFill>
                  <a:srgbClr val="008000"/>
                </a:solidFill>
                <a:latin typeface="+mn-lt"/>
              </a:rPr>
              <a:t>(h-k)/2 + 1 leaf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 and </a:t>
            </a:r>
            <a:r>
              <a:rPr lang="en-US" sz="2000" dirty="0" smtClean="0">
                <a:solidFill>
                  <a:srgbClr val="008000"/>
                </a:solidFill>
                <a:latin typeface="+mn-lt"/>
              </a:rPr>
              <a:t>3(h-k-1)/2 + 1 node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 computations.</a:t>
            </a:r>
          </a:p>
          <a:p>
            <a:pPr>
              <a:spcAft>
                <a:spcPts val="1200"/>
              </a:spcAft>
            </a:pPr>
            <a:endParaRPr lang="en-US" sz="2000" b="1" dirty="0" smtClean="0">
              <a:solidFill>
                <a:srgbClr val="000000"/>
              </a:solidFill>
              <a:latin typeface="+mn-lt"/>
            </a:endParaRPr>
          </a:p>
          <a:p>
            <a:pPr>
              <a:spcAft>
                <a:spcPts val="1200"/>
              </a:spcAft>
            </a:pPr>
            <a:r>
              <a:rPr lang="en-US" sz="2000" b="1" dirty="0" smtClean="0">
                <a:solidFill>
                  <a:srgbClr val="000000"/>
                </a:solidFill>
                <a:latin typeface="+mn-lt"/>
              </a:rPr>
              <a:t>Add. Storage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/>
            </a:r>
            <a:br>
              <a:rPr lang="en-US" sz="2000" dirty="0" smtClean="0">
                <a:solidFill>
                  <a:srgbClr val="000000"/>
                </a:solidFill>
                <a:latin typeface="+mn-lt"/>
              </a:rPr>
            </a:b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   Single stack of size h-k nodes for all </a:t>
            </a:r>
            <a:r>
              <a:rPr lang="en-US" sz="2000" dirty="0" err="1" smtClean="0">
                <a:solidFill>
                  <a:srgbClr val="000000"/>
                </a:solidFill>
                <a:latin typeface="+mn-lt"/>
              </a:rPr>
              <a:t>TreeHash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 instances.</a:t>
            </a:r>
            <a:br>
              <a:rPr lang="en-US" sz="2000" dirty="0" smtClean="0">
                <a:solidFill>
                  <a:srgbClr val="000000"/>
                </a:solidFill>
                <a:latin typeface="+mn-lt"/>
              </a:rPr>
            </a:b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+ One node per </a:t>
            </a:r>
            <a:r>
              <a:rPr lang="en-US" sz="2000" dirty="0" err="1" smtClean="0">
                <a:solidFill>
                  <a:srgbClr val="000000"/>
                </a:solidFill>
                <a:latin typeface="+mn-lt"/>
              </a:rPr>
              <a:t>TreeHash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 instance.</a:t>
            </a:r>
            <a:br>
              <a:rPr lang="en-US" sz="2000" dirty="0" smtClean="0">
                <a:solidFill>
                  <a:srgbClr val="000000"/>
                </a:solidFill>
                <a:latin typeface="+mn-lt"/>
              </a:rPr>
            </a:b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= 2(h-k) nodes</a:t>
            </a:r>
            <a:endParaRPr lang="de-DE" sz="2000" dirty="0" smtClean="0">
              <a:latin typeface="+mn-lt"/>
            </a:endParaRPr>
          </a:p>
          <a:p>
            <a:pPr>
              <a:spcAft>
                <a:spcPts val="1200"/>
              </a:spcAft>
            </a:pPr>
            <a:endParaRPr lang="en-US" sz="20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986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/>
          <p:cNvSpPr txBox="1">
            <a:spLocks/>
          </p:cNvSpPr>
          <p:nvPr/>
        </p:nvSpPr>
        <p:spPr>
          <a:xfrm>
            <a:off x="358775" y="488950"/>
            <a:ext cx="6667500" cy="838200"/>
          </a:xfrm>
          <a:prstGeom prst="rect">
            <a:avLst/>
          </a:prstGeom>
        </p:spPr>
        <p:txBody>
          <a:bodyPr anchor="ctr" anchorCtr="0"/>
          <a:lstStyle/>
          <a:p>
            <a:pPr lvl="0">
              <a:defRPr/>
            </a:pPr>
            <a:r>
              <a:rPr lang="en-US" sz="2800" b="1" kern="0" dirty="0" smtClean="0">
                <a:latin typeface="+mj-lt"/>
              </a:rPr>
              <a:t>BDS Performance</a:t>
            </a:r>
            <a:endParaRPr lang="en-US" sz="2000" b="1" kern="0" dirty="0">
              <a:latin typeface="+mj-lt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358775" y="1628800"/>
            <a:ext cx="853370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 smtClean="0">
                <a:latin typeface="+mn-lt"/>
              </a:rPr>
              <a:t>Storage:</a:t>
            </a:r>
          </a:p>
          <a:p>
            <a:pPr>
              <a:spcAft>
                <a:spcPts val="0"/>
              </a:spcAft>
            </a:pPr>
            <a:endParaRPr lang="en-US" sz="2000" dirty="0" smtClean="0">
              <a:latin typeface="+mn-lt"/>
            </a:endParaRPr>
          </a:p>
          <a:p>
            <a:pPr>
              <a:spcAft>
                <a:spcPts val="0"/>
              </a:spcAft>
            </a:pPr>
            <a:r>
              <a:rPr lang="en-US" sz="2000" dirty="0" smtClean="0">
                <a:latin typeface="+mn-lt"/>
              </a:rPr>
              <a:t>                                                     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+mn-lt"/>
              </a:rPr>
              <a:t> bit nodes</a:t>
            </a:r>
          </a:p>
          <a:p>
            <a:pPr>
              <a:spcAft>
                <a:spcPts val="0"/>
              </a:spcAft>
            </a:pPr>
            <a:endParaRPr lang="en-US" sz="2000" dirty="0" smtClean="0">
              <a:latin typeface="+mn-lt"/>
            </a:endParaRPr>
          </a:p>
          <a:p>
            <a:pPr>
              <a:spcAft>
                <a:spcPts val="0"/>
              </a:spcAft>
            </a:pPr>
            <a:r>
              <a:rPr lang="en-US" sz="2400" dirty="0" smtClean="0">
                <a:latin typeface="+mn-lt"/>
              </a:rPr>
              <a:t>                   </a:t>
            </a:r>
            <a:endParaRPr lang="en-US" sz="2000" dirty="0" smtClean="0">
              <a:latin typeface="+mn-lt"/>
            </a:endParaRPr>
          </a:p>
          <a:p>
            <a:pPr>
              <a:spcAft>
                <a:spcPts val="0"/>
              </a:spcAft>
            </a:pPr>
            <a:endParaRPr lang="en-US" sz="2000" dirty="0" smtClean="0">
              <a:latin typeface="+mn-lt"/>
            </a:endParaRPr>
          </a:p>
          <a:p>
            <a:pPr>
              <a:spcAft>
                <a:spcPts val="0"/>
              </a:spcAft>
            </a:pPr>
            <a:r>
              <a:rPr lang="en-US" sz="2000" b="1" dirty="0" smtClean="0">
                <a:latin typeface="+mn-lt"/>
              </a:rPr>
              <a:t>Runtime:</a:t>
            </a:r>
          </a:p>
          <a:p>
            <a:pPr>
              <a:spcAft>
                <a:spcPts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−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)/2+1 </a:t>
            </a:r>
            <a:r>
              <a:rPr lang="en-US" sz="2000" dirty="0" smtClean="0">
                <a:latin typeface="+mn-lt"/>
              </a:rPr>
              <a:t>leaf and </a:t>
            </a:r>
            <a:br>
              <a:rPr lang="en-US" sz="2000" dirty="0" smtClean="0">
                <a:latin typeface="+mn-lt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−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−1)/2+1 </a:t>
            </a:r>
            <a:r>
              <a:rPr lang="en-US" sz="2000" dirty="0" smtClean="0">
                <a:latin typeface="+mn-lt"/>
              </a:rPr>
              <a:t>node computations.</a:t>
            </a:r>
          </a:p>
          <a:p>
            <a:pPr>
              <a:spcAft>
                <a:spcPts val="0"/>
              </a:spcAf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0"/>
              </a:spcAft>
            </a:pPr>
            <a:endParaRPr lang="en-US" sz="2000" dirty="0" smtClean="0">
              <a:latin typeface="+mn-lt"/>
            </a:endParaRPr>
          </a:p>
        </p:txBody>
      </p:sp>
      <p:graphicFrame>
        <p:nvGraphicFramePr>
          <p:cNvPr id="4" name="Objekt 3"/>
          <p:cNvGraphicFramePr>
            <a:graphicFrameLocks noChangeAspect="1"/>
          </p:cNvGraphicFramePr>
          <p:nvPr/>
        </p:nvGraphicFramePr>
        <p:xfrm>
          <a:off x="493670" y="2014350"/>
          <a:ext cx="2952329" cy="965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" name="Formel" r:id="rId3" imgW="1320480" imgH="431640" progId="Equation.3">
                  <p:embed/>
                </p:oleObj>
              </mc:Choice>
              <mc:Fallback>
                <p:oleObj name="Formel" r:id="rId3" imgW="1320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670" y="2014350"/>
                        <a:ext cx="2952329" cy="9651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66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XMSS in practice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6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/>
          <p:cNvSpPr txBox="1">
            <a:spLocks/>
          </p:cNvSpPr>
          <p:nvPr/>
        </p:nvSpPr>
        <p:spPr>
          <a:xfrm>
            <a:off x="358775" y="488950"/>
            <a:ext cx="6667500" cy="838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XMSS Implementation</a:t>
            </a:r>
          </a:p>
          <a:p>
            <a:pPr>
              <a:defRPr/>
            </a:pPr>
            <a:r>
              <a:rPr kumimoji="0" lang="de-DE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de-DE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de-DE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250825" y="1556792"/>
            <a:ext cx="8641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smtClean="0">
                <a:latin typeface="+mn-lt"/>
              </a:rPr>
              <a:t> C </a:t>
            </a:r>
            <a:r>
              <a:rPr lang="de-DE" sz="2000" dirty="0" err="1" smtClean="0">
                <a:latin typeface="+mn-lt"/>
              </a:rPr>
              <a:t>Implementation</a:t>
            </a:r>
            <a:r>
              <a:rPr lang="de-DE" sz="2000" dirty="0" smtClean="0">
                <a:latin typeface="+mn-lt"/>
              </a:rPr>
              <a:t>, </a:t>
            </a:r>
            <a:r>
              <a:rPr lang="de-DE" sz="2000" dirty="0" err="1" smtClean="0">
                <a:latin typeface="+mn-lt"/>
              </a:rPr>
              <a:t>using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OpenSSL</a:t>
            </a:r>
            <a:r>
              <a:rPr lang="de-DE" sz="2000" dirty="0" smtClean="0">
                <a:latin typeface="+mn-lt"/>
              </a:rPr>
              <a:t> [BDH2011] </a:t>
            </a:r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/>
          </p:nvPr>
        </p:nvGraphicFramePr>
        <p:xfrm>
          <a:off x="250824" y="2095550"/>
          <a:ext cx="8641656" cy="25576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07711"/>
                <a:gridCol w="870812"/>
                <a:gridCol w="871866"/>
                <a:gridCol w="1306657"/>
                <a:gridCol w="1089262"/>
                <a:gridCol w="1016824"/>
                <a:gridCol w="1089262"/>
                <a:gridCol w="1089262"/>
              </a:tblGrid>
              <a:tr h="607260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Sign</a:t>
                      </a:r>
                      <a:r>
                        <a:rPr lang="de-DE" sz="1200" dirty="0" smtClean="0"/>
                        <a:t> (</a:t>
                      </a:r>
                      <a:r>
                        <a:rPr lang="de-DE" sz="1200" dirty="0" err="1" smtClean="0"/>
                        <a:t>ms</a:t>
                      </a:r>
                      <a:r>
                        <a:rPr lang="de-DE" sz="1200" dirty="0" smtClean="0"/>
                        <a:t>)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Verify</a:t>
                      </a:r>
                      <a:r>
                        <a:rPr lang="de-DE" sz="1200" dirty="0" smtClean="0"/>
                        <a:t> (</a:t>
                      </a:r>
                      <a:r>
                        <a:rPr lang="de-DE" sz="1200" dirty="0" err="1" smtClean="0"/>
                        <a:t>ms</a:t>
                      </a:r>
                      <a:r>
                        <a:rPr lang="de-DE" sz="1200" dirty="0" smtClean="0"/>
                        <a:t>)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Signature</a:t>
                      </a:r>
                      <a:r>
                        <a:rPr lang="de-DE" sz="1200" dirty="0" smtClean="0"/>
                        <a:t> (</a:t>
                      </a:r>
                      <a:r>
                        <a:rPr lang="de-DE" sz="1200" dirty="0" err="1" smtClean="0"/>
                        <a:t>bit</a:t>
                      </a:r>
                      <a:r>
                        <a:rPr lang="de-DE" sz="1200" dirty="0" smtClean="0"/>
                        <a:t>)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Public Key (</a:t>
                      </a:r>
                      <a:r>
                        <a:rPr lang="de-DE" sz="1200" dirty="0" err="1" smtClean="0"/>
                        <a:t>bit</a:t>
                      </a:r>
                      <a:r>
                        <a:rPr lang="de-DE" sz="1200" dirty="0" smtClean="0"/>
                        <a:t>)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Secret</a:t>
                      </a:r>
                      <a:r>
                        <a:rPr lang="de-DE" sz="1200" dirty="0" smtClean="0"/>
                        <a:t> Key (</a:t>
                      </a:r>
                      <a:r>
                        <a:rPr lang="de-DE" sz="1200" dirty="0" err="1" smtClean="0"/>
                        <a:t>byte</a:t>
                      </a:r>
                      <a:r>
                        <a:rPr lang="de-DE" sz="1200" dirty="0" smtClean="0"/>
                        <a:t>)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Bit Security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Comment</a:t>
                      </a:r>
                      <a:endParaRPr lang="de-DE" sz="1200" dirty="0"/>
                    </a:p>
                  </a:txBody>
                  <a:tcPr/>
                </a:tc>
              </a:tr>
              <a:tr h="487603"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XMSS-SHA-2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35.60</a:t>
                      </a:r>
                      <a:endParaRPr lang="de-DE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1.98</a:t>
                      </a:r>
                      <a:endParaRPr lang="de-DE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16,672</a:t>
                      </a:r>
                      <a:endParaRPr lang="de-DE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13,600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3,364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157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h = 20,</a:t>
                      </a:r>
                    </a:p>
                    <a:p>
                      <a:r>
                        <a:rPr lang="de-DE" sz="1200" dirty="0" smtClean="0"/>
                        <a:t>w = 64, </a:t>
                      </a:r>
                      <a:endParaRPr lang="de-DE" sz="1200" dirty="0"/>
                    </a:p>
                  </a:txBody>
                  <a:tcPr/>
                </a:tc>
              </a:tr>
              <a:tr h="487603"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XMSS-AES-NI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</a:t>
                      </a:r>
                      <a:endParaRPr lang="de-DE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0.07</a:t>
                      </a:r>
                      <a:endParaRPr lang="de-DE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smtClean="0"/>
                        <a:t>19,616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7,328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1,684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h = 20,</a:t>
                      </a:r>
                    </a:p>
                    <a:p>
                      <a:r>
                        <a:rPr lang="de-DE" sz="1200" dirty="0" smtClean="0"/>
                        <a:t>w = 4</a:t>
                      </a:r>
                    </a:p>
                  </a:txBody>
                  <a:tcPr/>
                </a:tc>
              </a:tr>
              <a:tr h="487603"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XMSS-AES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1.06</a:t>
                      </a:r>
                      <a:endParaRPr lang="de-DE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0.11</a:t>
                      </a:r>
                      <a:endParaRPr lang="de-DE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smtClean="0"/>
                        <a:t>19,616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7,328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1,684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h = 20,</a:t>
                      </a:r>
                    </a:p>
                    <a:p>
                      <a:r>
                        <a:rPr lang="de-DE" sz="1200" dirty="0" smtClean="0"/>
                        <a:t>w = 4</a:t>
                      </a:r>
                    </a:p>
                  </a:txBody>
                  <a:tcPr/>
                </a:tc>
              </a:tr>
              <a:tr h="487603"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RSA 2048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3.08</a:t>
                      </a:r>
                      <a:endParaRPr lang="de-DE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</a:t>
                      </a:r>
                      <a:endParaRPr lang="de-DE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smtClean="0"/>
                        <a:t>≤ 2,048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≤ 4,096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≤ 512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feld 5"/>
          <p:cNvSpPr txBox="1"/>
          <p:nvPr/>
        </p:nvSpPr>
        <p:spPr>
          <a:xfrm>
            <a:off x="250824" y="5805264"/>
            <a:ext cx="864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Intel(R) Core(TM) i5-2520M  CPU @ 2.50GHz with Intel  AES-NI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895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XMSS Internet-Draft</a:t>
            </a:r>
            <a:br>
              <a:rPr lang="de-DE" dirty="0"/>
            </a:br>
            <a:r>
              <a:rPr lang="de-DE" sz="2200" dirty="0" smtClean="0"/>
              <a:t>(draft-irtf-cfrg-xmss-hash-based-signatures</a:t>
            </a:r>
            <a:r>
              <a:rPr lang="de-DE" sz="2200" dirty="0"/>
              <a:t>)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Protecting against multi-target attacks / tight security</a:t>
            </a:r>
            <a:endParaRPr lang="en-US" dirty="0" smtClean="0"/>
          </a:p>
          <a:p>
            <a:pPr lvl="1"/>
            <a:r>
              <a:rPr lang="de-DE" dirty="0" smtClean="0"/>
              <a:t>n-bit hash =&gt; n bit security</a:t>
            </a:r>
          </a:p>
          <a:p>
            <a:r>
              <a:rPr lang="de-DE" dirty="0" smtClean="0"/>
              <a:t>Small public key (2n bit)</a:t>
            </a:r>
          </a:p>
          <a:p>
            <a:pPr lvl="1"/>
            <a:r>
              <a:rPr lang="de-DE" dirty="0" smtClean="0"/>
              <a:t>At the cost of ROM for proving PK compression secure</a:t>
            </a:r>
          </a:p>
          <a:p>
            <a:r>
              <a:rPr lang="de-DE" dirty="0" smtClean="0"/>
              <a:t>Function families based on SHA2</a:t>
            </a:r>
          </a:p>
          <a:p>
            <a:endParaRPr lang="de-DE" dirty="0"/>
          </a:p>
          <a:p>
            <a:r>
              <a:rPr lang="de-DE" dirty="0" smtClean="0"/>
              <a:t>Equal to XMSS-T [HRS16] up-to message digest</a:t>
            </a:r>
          </a:p>
          <a:p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06581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/>
          <p:cNvSpPr txBox="1">
            <a:spLocks/>
          </p:cNvSpPr>
          <p:nvPr/>
        </p:nvSpPr>
        <p:spPr>
          <a:xfrm>
            <a:off x="358775" y="488950"/>
            <a:ext cx="6667500" cy="838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XMSS / XMSS-T Implementation</a:t>
            </a:r>
            <a:r>
              <a:rPr lang="en-US" sz="2400" b="1" kern="0" dirty="0" smtClean="0">
                <a:latin typeface="+mj-lt"/>
                <a:ea typeface="+mj-ea"/>
                <a:cs typeface="+mj-cs"/>
              </a:rPr>
              <a:t> </a:t>
            </a:r>
            <a:r>
              <a:rPr kumimoji="0" lang="de-DE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de-DE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de-DE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250825" y="1556792"/>
            <a:ext cx="8641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smtClean="0">
                <a:latin typeface="+mn-lt"/>
              </a:rPr>
              <a:t> C Implementation, using OpenSSL [HRS16] </a:t>
            </a:r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022030"/>
              </p:ext>
            </p:extLst>
          </p:nvPr>
        </p:nvGraphicFramePr>
        <p:xfrm>
          <a:off x="418780" y="2095550"/>
          <a:ext cx="7769790" cy="3535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07711"/>
                <a:gridCol w="870812"/>
                <a:gridCol w="1306657"/>
                <a:gridCol w="1089262"/>
                <a:gridCol w="1016824"/>
                <a:gridCol w="1089262"/>
                <a:gridCol w="1089262"/>
              </a:tblGrid>
              <a:tr h="607260"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Sign</a:t>
                      </a:r>
                      <a:r>
                        <a:rPr lang="de-DE" sz="1400" dirty="0" smtClean="0"/>
                        <a:t> (</a:t>
                      </a:r>
                      <a:r>
                        <a:rPr lang="de-DE" sz="1400" dirty="0" err="1" smtClean="0"/>
                        <a:t>ms</a:t>
                      </a:r>
                      <a:r>
                        <a:rPr lang="de-DE" sz="1400" dirty="0" smtClean="0"/>
                        <a:t>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Signature (kB)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Public Key (kB)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Secret Key (kB)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Bit Security</a:t>
                      </a:r>
                      <a:br>
                        <a:rPr lang="de-DE" sz="1400" dirty="0" smtClean="0"/>
                      </a:br>
                      <a:r>
                        <a:rPr lang="de-DE" sz="1400" dirty="0" smtClean="0"/>
                        <a:t>classical/</a:t>
                      </a:r>
                      <a:br>
                        <a:rPr lang="de-DE" sz="1400" dirty="0" smtClean="0"/>
                      </a:br>
                      <a:r>
                        <a:rPr lang="de-DE" sz="1400" dirty="0" smtClean="0"/>
                        <a:t>quantum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Comment</a:t>
                      </a:r>
                      <a:endParaRPr lang="de-DE" sz="1400" dirty="0"/>
                    </a:p>
                  </a:txBody>
                  <a:tcPr/>
                </a:tc>
              </a:tr>
              <a:tr h="487603"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XMSS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3.24</a:t>
                      </a:r>
                      <a:endParaRPr lang="de-DE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  <a:endParaRPr lang="de-DE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1.3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2.2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236</a:t>
                      </a:r>
                      <a:r>
                        <a:rPr lang="de-DE" sz="2000" baseline="0" dirty="0" smtClean="0"/>
                        <a:t> /</a:t>
                      </a:r>
                      <a:br>
                        <a:rPr lang="de-DE" sz="2000" baseline="0" dirty="0" smtClean="0"/>
                      </a:br>
                      <a:r>
                        <a:rPr lang="de-DE" sz="2000" baseline="0" dirty="0" smtClean="0"/>
                        <a:t>118 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h = 20,</a:t>
                      </a:r>
                    </a:p>
                    <a:p>
                      <a:r>
                        <a:rPr lang="de-DE" sz="2000" dirty="0" smtClean="0"/>
                        <a:t>d = 1, </a:t>
                      </a:r>
                      <a:endParaRPr lang="de-DE" sz="2000" dirty="0"/>
                    </a:p>
                  </a:txBody>
                  <a:tcPr/>
                </a:tc>
              </a:tr>
              <a:tr h="487603"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XMSS-T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9.48</a:t>
                      </a:r>
                      <a:endParaRPr lang="de-DE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 smtClean="0"/>
                        <a:t>2.8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b="1" dirty="0" smtClean="0"/>
                        <a:t>0.064</a:t>
                      </a:r>
                      <a:endParaRPr lang="de-DE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2.2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b="1" dirty="0" smtClean="0"/>
                        <a:t>256 /</a:t>
                      </a:r>
                    </a:p>
                    <a:p>
                      <a:r>
                        <a:rPr lang="de-DE" sz="2000" b="1" dirty="0" smtClean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h = 20,</a:t>
                      </a:r>
                    </a:p>
                    <a:p>
                      <a:r>
                        <a:rPr lang="de-DE" sz="2000" dirty="0" smtClean="0"/>
                        <a:t>d = 1</a:t>
                      </a:r>
                    </a:p>
                  </a:txBody>
                  <a:tcPr/>
                </a:tc>
              </a:tr>
              <a:tr h="487603"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XMSS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3.59</a:t>
                      </a:r>
                      <a:endParaRPr lang="de-DE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 smtClean="0"/>
                        <a:t>8.3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1.3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14.6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196 /</a:t>
                      </a:r>
                      <a:br>
                        <a:rPr lang="de-DE" sz="2000" dirty="0" smtClean="0"/>
                      </a:br>
                      <a:r>
                        <a:rPr lang="de-DE" sz="2000" dirty="0" smtClean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h = 60,</a:t>
                      </a:r>
                    </a:p>
                    <a:p>
                      <a:r>
                        <a:rPr lang="de-DE" sz="2000" dirty="0" smtClean="0"/>
                        <a:t>d = 3</a:t>
                      </a:r>
                    </a:p>
                  </a:txBody>
                  <a:tcPr/>
                </a:tc>
              </a:tr>
              <a:tr h="487603"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XMSS-T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10.54</a:t>
                      </a:r>
                      <a:endParaRPr lang="de-DE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 smtClean="0"/>
                        <a:t>8.3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b="1" dirty="0" smtClean="0"/>
                        <a:t>0.064</a:t>
                      </a:r>
                      <a:endParaRPr lang="de-DE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14.6</a:t>
                      </a:r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b="1" dirty="0" smtClean="0"/>
                        <a:t>256 /</a:t>
                      </a:r>
                    </a:p>
                    <a:p>
                      <a:r>
                        <a:rPr lang="de-DE" sz="2000" b="1" dirty="0" smtClean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smtClean="0"/>
                        <a:t>h = 60,</a:t>
                      </a:r>
                    </a:p>
                    <a:p>
                      <a:r>
                        <a:rPr lang="de-DE" sz="2000" dirty="0" smtClean="0"/>
                        <a:t>d = 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feld 5"/>
          <p:cNvSpPr txBox="1"/>
          <p:nvPr/>
        </p:nvSpPr>
        <p:spPr>
          <a:xfrm>
            <a:off x="250824" y="5805264"/>
            <a:ext cx="8641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Intel(R) Core(TM) i7 CPU @ 3.50GHz</a:t>
            </a:r>
            <a:br>
              <a:rPr lang="pt-BR" dirty="0" smtClean="0"/>
            </a:br>
            <a:r>
              <a:rPr lang="pt-BR" dirty="0" smtClean="0"/>
              <a:t>XMSS-T uses message digest from Internet-Draft</a:t>
            </a:r>
            <a:br>
              <a:rPr lang="pt-BR" dirty="0" smtClean="0"/>
            </a:br>
            <a:r>
              <a:rPr lang="pt-BR" dirty="0" smtClean="0"/>
              <a:t>All using SHA2-256, w = 16 and k = 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355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Open research 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smtClean="0"/>
              <a:t>1. Message compression </a:t>
            </a:r>
            <a:r>
              <a:rPr lang="de-DE" dirty="0"/>
              <a:t>which </a:t>
            </a:r>
            <a:endParaRPr lang="de-DE" dirty="0" smtClean="0"/>
          </a:p>
          <a:p>
            <a:pPr lvl="1"/>
            <a:r>
              <a:rPr lang="de-DE" dirty="0" smtClean="0"/>
              <a:t>is collision-resilient,</a:t>
            </a:r>
          </a:p>
          <a:p>
            <a:pPr lvl="1"/>
            <a:r>
              <a:rPr lang="de-DE" dirty="0" smtClean="0"/>
              <a:t>provdies tight provable security,</a:t>
            </a:r>
          </a:p>
          <a:p>
            <a:pPr lvl="1"/>
            <a:r>
              <a:rPr lang="de-DE" dirty="0" smtClean="0"/>
              <a:t>especially resists multi-target attacks (=&gt; no eTCR)</a:t>
            </a:r>
          </a:p>
          <a:p>
            <a:pPr lvl="1"/>
            <a:r>
              <a:rPr lang="de-DE" dirty="0" smtClean="0"/>
              <a:t>=&gt; Has applications outside hash-based crypto!</a:t>
            </a:r>
            <a:endParaRPr lang="de-DE" dirty="0"/>
          </a:p>
          <a:p>
            <a:pPr marL="0" indent="0">
              <a:buNone/>
            </a:pPr>
            <a:r>
              <a:rPr lang="de-DE" dirty="0" smtClean="0"/>
              <a:t>2. Quantum query complexity for further properties</a:t>
            </a:r>
          </a:p>
          <a:p>
            <a:pPr lvl="1"/>
            <a:r>
              <a:rPr lang="de-DE" dirty="0" smtClean="0"/>
              <a:t>E.g. PRF, UD, aSec, ...</a:t>
            </a:r>
            <a:endParaRPr lang="de-DE" dirty="0"/>
          </a:p>
          <a:p>
            <a:pPr marL="0" indent="0">
              <a:buNone/>
            </a:pPr>
            <a:r>
              <a:rPr lang="de-DE" dirty="0" smtClean="0"/>
              <a:t>3. Quantum security of existing hash function constructions.</a:t>
            </a:r>
          </a:p>
          <a:p>
            <a:pPr lvl="1"/>
            <a:r>
              <a:rPr lang="de-DE" dirty="0" smtClean="0"/>
              <a:t>E.g. </a:t>
            </a:r>
            <a:r>
              <a:rPr lang="de-DE" dirty="0"/>
              <a:t>c</a:t>
            </a:r>
            <a:r>
              <a:rPr lang="de-DE" dirty="0" smtClean="0"/>
              <a:t>an classical attacks be improved (e.g. differential cryptanalysis)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8278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SPHINCS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56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About the statefulness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Works great for some settings</a:t>
            </a:r>
          </a:p>
          <a:p>
            <a:endParaRPr lang="de-DE" dirty="0"/>
          </a:p>
          <a:p>
            <a:r>
              <a:rPr lang="de-DE" dirty="0" smtClean="0"/>
              <a:t>However....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smtClean="0"/>
              <a:t>... back-up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smtClean="0"/>
              <a:t>... multi-threading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smtClean="0"/>
              <a:t>... </a:t>
            </a:r>
            <a:r>
              <a:rPr lang="de-DE" dirty="0"/>
              <a:t>l</a:t>
            </a:r>
            <a:r>
              <a:rPr lang="de-DE" dirty="0" smtClean="0"/>
              <a:t>oad-balancing</a:t>
            </a:r>
            <a:endParaRPr lang="en-US" dirty="0"/>
          </a:p>
        </p:txBody>
      </p:sp>
      <p:pic>
        <p:nvPicPr>
          <p:cNvPr id="4" name="Picture 6" descr="https://www.vvwerratal.de/typo3temp/pics/smiley_traurig_fca7547a2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110" y="3063409"/>
            <a:ext cx="17526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70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4294967295"/>
          </p:nvPr>
        </p:nvSpPr>
        <p:spPr>
          <a:xfrm>
            <a:off x="0" y="2414588"/>
            <a:ext cx="9144000" cy="3390900"/>
          </a:xfrm>
        </p:spPr>
        <p:txBody>
          <a:bodyPr/>
          <a:lstStyle/>
          <a:p>
            <a:pPr algn="ctr">
              <a:buNone/>
            </a:pPr>
            <a:r>
              <a:rPr lang="en-US" sz="4400" dirty="0" smtClean="0"/>
              <a:t>How to Eliminate the State</a:t>
            </a:r>
            <a:endParaRPr lang="en-US" sz="4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72" y="1156997"/>
            <a:ext cx="9299511" cy="429208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108520" y="-99393"/>
            <a:ext cx="9505056" cy="1331033"/>
          </a:xfrm>
          <a:prstGeom prst="rect">
            <a:avLst/>
          </a:prstGeom>
          <a:solidFill>
            <a:srgbClr val="0009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180529" y="5381524"/>
            <a:ext cx="9505056" cy="1486642"/>
          </a:xfrm>
          <a:prstGeom prst="rect">
            <a:avLst/>
          </a:prstGeom>
          <a:solidFill>
            <a:srgbClr val="0009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0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101403"/>
            <a:ext cx="7886700" cy="1325563"/>
          </a:xfrm>
        </p:spPr>
        <p:txBody>
          <a:bodyPr/>
          <a:lstStyle/>
          <a:p>
            <a:r>
              <a:rPr lang="de-DE" dirty="0" smtClean="0"/>
              <a:t>Protest?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76</a:t>
            </a:fld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pic>
        <p:nvPicPr>
          <p:cNvPr id="55298" name="Picture 2" descr="http://www.dw.de/image/0,,5539621_4,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039366"/>
            <a:ext cx="9237310" cy="519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16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2564905"/>
            <a:ext cx="7993062" cy="3173909"/>
          </a:xfrm>
        </p:spPr>
        <p:txBody>
          <a:bodyPr/>
          <a:lstStyle/>
          <a:p>
            <a:pPr algn="ctr">
              <a:buNone/>
            </a:pPr>
            <a:r>
              <a:rPr lang="en-US" sz="4000" dirty="0"/>
              <a:t>Few-Time Signature Schemes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dirty="0" smtClean="0"/>
              <a:t>PAGE </a:t>
            </a:r>
            <a:fld id="{F6191C09-C392-4E8C-984F-AEB7D870D5B3}" type="slidenum">
              <a:rPr lang="nl-NL" smtClean="0"/>
              <a:pPr/>
              <a:t>77</a:t>
            </a:fld>
            <a:endParaRPr lang="nl-NL" dirty="0"/>
          </a:p>
        </p:txBody>
      </p:sp>
      <p:pic>
        <p:nvPicPr>
          <p:cNvPr id="49154" name="Picture 2" descr="http://www.atlascorps.org/blog/wp-content/uploads/2014/12/recycle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550" y="3458844"/>
            <a:ext cx="2543082" cy="230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02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 LD-OTS</a:t>
            </a:r>
            <a:endParaRPr lang="en-US" sz="24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Message M = b1,…,</a:t>
            </a:r>
            <a:r>
              <a:rPr lang="en-US" dirty="0" err="1" smtClean="0"/>
              <a:t>bn</a:t>
            </a:r>
            <a:r>
              <a:rPr lang="en-US" dirty="0" smtClean="0"/>
              <a:t>, OWF H                     = n bit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SK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r>
              <a:rPr lang="en-US" dirty="0" smtClean="0"/>
              <a:t>PK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Sig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78</a:t>
            </a:fld>
            <a:endParaRPr lang="nl-NL"/>
          </a:p>
        </p:txBody>
      </p:sp>
      <p:pic>
        <p:nvPicPr>
          <p:cNvPr id="6" name="Picture 18" descr="C:\Users\huelsing\AppData\Local\Microsoft\Windows\Temporary Internet Files\Content.IE5\OYDSBIUA\MC900333394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2250" y="2482134"/>
            <a:ext cx="389327" cy="552424"/>
          </a:xfrm>
          <a:prstGeom prst="rect">
            <a:avLst/>
          </a:prstGeom>
          <a:noFill/>
        </p:spPr>
      </p:pic>
      <p:sp>
        <p:nvSpPr>
          <p:cNvPr id="7" name="Rechteck 6"/>
          <p:cNvSpPr/>
          <p:nvPr/>
        </p:nvSpPr>
        <p:spPr>
          <a:xfrm>
            <a:off x="1321848" y="327422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8" name="Rechteck 7"/>
          <p:cNvSpPr/>
          <p:nvPr/>
        </p:nvSpPr>
        <p:spPr>
          <a:xfrm>
            <a:off x="2257952" y="327422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9" name="Rechteck 8"/>
          <p:cNvSpPr/>
          <p:nvPr/>
        </p:nvSpPr>
        <p:spPr>
          <a:xfrm>
            <a:off x="3194056" y="327422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2" name="Rechteck 11"/>
          <p:cNvSpPr/>
          <p:nvPr/>
        </p:nvSpPr>
        <p:spPr>
          <a:xfrm>
            <a:off x="6002368" y="327422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3" name="Rechteck 12"/>
          <p:cNvSpPr/>
          <p:nvPr/>
        </p:nvSpPr>
        <p:spPr>
          <a:xfrm>
            <a:off x="6938472" y="327422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n,0</a:t>
            </a:r>
            <a:endParaRPr lang="en-US" dirty="0"/>
          </a:p>
        </p:txBody>
      </p:sp>
      <p:sp>
        <p:nvSpPr>
          <p:cNvPr id="14" name="Rechteck 13"/>
          <p:cNvSpPr/>
          <p:nvPr/>
        </p:nvSpPr>
        <p:spPr>
          <a:xfrm>
            <a:off x="7874576" y="327422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n,1</a:t>
            </a:r>
          </a:p>
        </p:txBody>
      </p:sp>
      <p:sp>
        <p:nvSpPr>
          <p:cNvPr id="15" name="Rechteck 14"/>
          <p:cNvSpPr/>
          <p:nvPr/>
        </p:nvSpPr>
        <p:spPr>
          <a:xfrm>
            <a:off x="1321848" y="435434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pk</a:t>
            </a:r>
            <a:r>
              <a:rPr lang="en-US" sz="1400" b="1" baseline="-25000" dirty="0">
                <a:solidFill>
                  <a:schemeClr val="tx1"/>
                </a:solidFill>
              </a:rPr>
              <a:t>1,0</a:t>
            </a:r>
          </a:p>
        </p:txBody>
      </p:sp>
      <p:sp>
        <p:nvSpPr>
          <p:cNvPr id="16" name="Rechteck 15"/>
          <p:cNvSpPr/>
          <p:nvPr/>
        </p:nvSpPr>
        <p:spPr>
          <a:xfrm>
            <a:off x="2257952" y="435434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1,1</a:t>
            </a:r>
          </a:p>
        </p:txBody>
      </p:sp>
      <p:sp>
        <p:nvSpPr>
          <p:cNvPr id="17" name="Rechteck 16"/>
          <p:cNvSpPr/>
          <p:nvPr/>
        </p:nvSpPr>
        <p:spPr>
          <a:xfrm>
            <a:off x="3194056" y="435434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0" name="Rechteck 19"/>
          <p:cNvSpPr/>
          <p:nvPr/>
        </p:nvSpPr>
        <p:spPr>
          <a:xfrm>
            <a:off x="6002368" y="435434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1" name="Rechteck 20"/>
          <p:cNvSpPr/>
          <p:nvPr/>
        </p:nvSpPr>
        <p:spPr>
          <a:xfrm>
            <a:off x="6938472" y="435434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n,0</a:t>
            </a:r>
            <a:endParaRPr lang="en-US" dirty="0"/>
          </a:p>
        </p:txBody>
      </p:sp>
      <p:sp>
        <p:nvSpPr>
          <p:cNvPr id="22" name="Rechteck 21"/>
          <p:cNvSpPr/>
          <p:nvPr/>
        </p:nvSpPr>
        <p:spPr>
          <a:xfrm>
            <a:off x="7874576" y="4354342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n,1</a:t>
            </a:r>
          </a:p>
        </p:txBody>
      </p:sp>
      <p:cxnSp>
        <p:nvCxnSpPr>
          <p:cNvPr id="24" name="Gerade Verbindung mit Pfeil 23"/>
          <p:cNvCxnSpPr>
            <a:stCxn id="7" idx="2"/>
            <a:endCxn id="15" idx="0"/>
          </p:cNvCxnSpPr>
          <p:nvPr/>
        </p:nvCxnSpPr>
        <p:spPr>
          <a:xfrm>
            <a:off x="1789900" y="349024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>
            <a:stCxn id="8" idx="2"/>
            <a:endCxn id="16" idx="0"/>
          </p:cNvCxnSpPr>
          <p:nvPr/>
        </p:nvCxnSpPr>
        <p:spPr>
          <a:xfrm>
            <a:off x="2726004" y="349024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/>
          <p:cNvCxnSpPr>
            <a:stCxn id="9" idx="2"/>
            <a:endCxn id="17" idx="0"/>
          </p:cNvCxnSpPr>
          <p:nvPr/>
        </p:nvCxnSpPr>
        <p:spPr>
          <a:xfrm>
            <a:off x="3662108" y="349024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lipse 32"/>
          <p:cNvSpPr/>
          <p:nvPr/>
        </p:nvSpPr>
        <p:spPr>
          <a:xfrm>
            <a:off x="4490200" y="334623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34" name="Ellipse 33"/>
          <p:cNvSpPr/>
          <p:nvPr/>
        </p:nvSpPr>
        <p:spPr>
          <a:xfrm>
            <a:off x="4994256" y="334623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35" name="Ellipse 34"/>
          <p:cNvSpPr/>
          <p:nvPr/>
        </p:nvSpPr>
        <p:spPr>
          <a:xfrm>
            <a:off x="5498312" y="334623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36" name="Ellipse 35"/>
          <p:cNvSpPr/>
          <p:nvPr/>
        </p:nvSpPr>
        <p:spPr>
          <a:xfrm>
            <a:off x="4515367" y="442635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37" name="Ellipse 36"/>
          <p:cNvSpPr/>
          <p:nvPr/>
        </p:nvSpPr>
        <p:spPr>
          <a:xfrm>
            <a:off x="5019423" y="442635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38" name="Ellipse 37"/>
          <p:cNvSpPr/>
          <p:nvPr/>
        </p:nvSpPr>
        <p:spPr>
          <a:xfrm>
            <a:off x="5523479" y="442635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cxnSp>
        <p:nvCxnSpPr>
          <p:cNvPr id="39" name="Gerade Verbindung mit Pfeil 38"/>
          <p:cNvCxnSpPr>
            <a:stCxn id="12" idx="2"/>
            <a:endCxn id="20" idx="0"/>
          </p:cNvCxnSpPr>
          <p:nvPr/>
        </p:nvCxnSpPr>
        <p:spPr>
          <a:xfrm>
            <a:off x="6470420" y="349024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/>
          <p:cNvCxnSpPr>
            <a:stCxn id="13" idx="2"/>
            <a:endCxn id="21" idx="0"/>
          </p:cNvCxnSpPr>
          <p:nvPr/>
        </p:nvCxnSpPr>
        <p:spPr>
          <a:xfrm>
            <a:off x="7406524" y="349024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>
            <a:stCxn id="14" idx="2"/>
            <a:endCxn id="22" idx="0"/>
          </p:cNvCxnSpPr>
          <p:nvPr/>
        </p:nvCxnSpPr>
        <p:spPr>
          <a:xfrm>
            <a:off x="8342628" y="3490246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/>
          <p:cNvSpPr txBox="1"/>
          <p:nvPr/>
        </p:nvSpPr>
        <p:spPr>
          <a:xfrm>
            <a:off x="1825904" y="370627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1" name="Textfeld 50"/>
          <p:cNvSpPr txBox="1"/>
          <p:nvPr/>
        </p:nvSpPr>
        <p:spPr>
          <a:xfrm>
            <a:off x="2762008" y="370627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2" name="Textfeld 51"/>
          <p:cNvSpPr txBox="1"/>
          <p:nvPr/>
        </p:nvSpPr>
        <p:spPr>
          <a:xfrm>
            <a:off x="3698112" y="370627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3" name="Textfeld 52"/>
          <p:cNvSpPr txBox="1"/>
          <p:nvPr/>
        </p:nvSpPr>
        <p:spPr>
          <a:xfrm>
            <a:off x="6506424" y="370627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4" name="Textfeld 53"/>
          <p:cNvSpPr txBox="1"/>
          <p:nvPr/>
        </p:nvSpPr>
        <p:spPr>
          <a:xfrm>
            <a:off x="7442528" y="370627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5" name="Textfeld 54"/>
          <p:cNvSpPr txBox="1"/>
          <p:nvPr/>
        </p:nvSpPr>
        <p:spPr>
          <a:xfrm>
            <a:off x="8378632" y="3706272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cxnSp>
        <p:nvCxnSpPr>
          <p:cNvPr id="56" name="Gerade Verbindung mit Pfeil 55"/>
          <p:cNvCxnSpPr>
            <a:stCxn id="6" idx="1"/>
            <a:endCxn id="7" idx="0"/>
          </p:cNvCxnSpPr>
          <p:nvPr/>
        </p:nvCxnSpPr>
        <p:spPr>
          <a:xfrm flipH="1">
            <a:off x="1789900" y="2758346"/>
            <a:ext cx="3132348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>
            <a:stCxn id="6" idx="1"/>
            <a:endCxn id="8" idx="0"/>
          </p:cNvCxnSpPr>
          <p:nvPr/>
        </p:nvCxnSpPr>
        <p:spPr>
          <a:xfrm flipH="1">
            <a:off x="2726004" y="2758346"/>
            <a:ext cx="2196244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/>
          <p:cNvCxnSpPr>
            <a:stCxn id="6" idx="1"/>
            <a:endCxn id="9" idx="0"/>
          </p:cNvCxnSpPr>
          <p:nvPr/>
        </p:nvCxnSpPr>
        <p:spPr>
          <a:xfrm flipH="1">
            <a:off x="3662108" y="2758346"/>
            <a:ext cx="1260140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stCxn id="6" idx="3"/>
            <a:endCxn id="12" idx="0"/>
          </p:cNvCxnSpPr>
          <p:nvPr/>
        </p:nvCxnSpPr>
        <p:spPr>
          <a:xfrm>
            <a:off x="5311577" y="2758346"/>
            <a:ext cx="1158845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6" idx="3"/>
            <a:endCxn id="13" idx="0"/>
          </p:cNvCxnSpPr>
          <p:nvPr/>
        </p:nvCxnSpPr>
        <p:spPr>
          <a:xfrm>
            <a:off x="5311577" y="2758346"/>
            <a:ext cx="2094949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/>
          <p:cNvCxnSpPr>
            <a:stCxn id="6" idx="3"/>
            <a:endCxn id="14" idx="0"/>
          </p:cNvCxnSpPr>
          <p:nvPr/>
        </p:nvCxnSpPr>
        <p:spPr>
          <a:xfrm>
            <a:off x="5311577" y="2758346"/>
            <a:ext cx="3031053" cy="51587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hteck 73"/>
          <p:cNvSpPr/>
          <p:nvPr/>
        </p:nvSpPr>
        <p:spPr>
          <a:xfrm>
            <a:off x="1869252" y="5675653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1,b1</a:t>
            </a:r>
          </a:p>
        </p:txBody>
      </p:sp>
      <p:sp>
        <p:nvSpPr>
          <p:cNvPr id="75" name="Rechteck 74"/>
          <p:cNvSpPr/>
          <p:nvPr/>
        </p:nvSpPr>
        <p:spPr>
          <a:xfrm>
            <a:off x="3754745" y="5675653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76" name="Rechteck 75"/>
          <p:cNvSpPr/>
          <p:nvPr/>
        </p:nvSpPr>
        <p:spPr>
          <a:xfrm>
            <a:off x="7524328" y="5675653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 err="1">
                <a:solidFill>
                  <a:srgbClr val="101073"/>
                </a:solidFill>
              </a:rPr>
              <a:t>sk</a:t>
            </a:r>
            <a:r>
              <a:rPr lang="en-US" sz="1400" b="1" baseline="-25000" dirty="0" err="1">
                <a:solidFill>
                  <a:srgbClr val="101073"/>
                </a:solidFill>
              </a:rPr>
              <a:t>n,bn</a:t>
            </a:r>
            <a:endParaRPr lang="en-US" sz="1400" b="1" baseline="-25000" dirty="0">
              <a:solidFill>
                <a:srgbClr val="101073"/>
              </a:solidFill>
            </a:endParaRPr>
          </a:p>
        </p:txBody>
      </p:sp>
      <p:sp>
        <p:nvSpPr>
          <p:cNvPr id="77" name="Ellipse 76"/>
          <p:cNvSpPr/>
          <p:nvPr/>
        </p:nvSpPr>
        <p:spPr>
          <a:xfrm>
            <a:off x="5436096" y="574766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78" name="Ellipse 77"/>
          <p:cNvSpPr/>
          <p:nvPr/>
        </p:nvSpPr>
        <p:spPr>
          <a:xfrm>
            <a:off x="5940152" y="574766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79" name="Ellipse 78"/>
          <p:cNvSpPr/>
          <p:nvPr/>
        </p:nvSpPr>
        <p:spPr>
          <a:xfrm>
            <a:off x="6444208" y="574766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80" name="Rechteck 79"/>
          <p:cNvSpPr/>
          <p:nvPr/>
        </p:nvSpPr>
        <p:spPr>
          <a:xfrm>
            <a:off x="5652120" y="1931237"/>
            <a:ext cx="936104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*</a:t>
            </a:r>
            <a:endParaRPr lang="en-US" sz="1400" b="1" baseline="-25000" dirty="0">
              <a:solidFill>
                <a:schemeClr val="tx1"/>
              </a:solidFill>
            </a:endParaRPr>
          </a:p>
        </p:txBody>
      </p:sp>
      <p:grpSp>
        <p:nvGrpSpPr>
          <p:cNvPr id="10" name="Gruppieren 99"/>
          <p:cNvGrpSpPr/>
          <p:nvPr/>
        </p:nvGrpSpPr>
        <p:grpSpPr>
          <a:xfrm>
            <a:off x="1115616" y="3490246"/>
            <a:ext cx="1656184" cy="2176076"/>
            <a:chOff x="1115616" y="2827767"/>
            <a:chExt cx="1656184" cy="2176076"/>
          </a:xfrm>
        </p:grpSpPr>
        <p:sp>
          <p:nvSpPr>
            <p:cNvPr id="81" name="Flussdiagramm: Manuelle Verarbeitung 80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Mux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Gerade Verbindung mit Pfeil 81"/>
            <p:cNvCxnSpPr>
              <a:stCxn id="7" idx="2"/>
            </p:cNvCxnSpPr>
            <p:nvPr/>
          </p:nvCxnSpPr>
          <p:spPr>
            <a:xfrm>
              <a:off x="1789900" y="2827767"/>
              <a:ext cx="337480" cy="146532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mit Pfeil 84"/>
            <p:cNvCxnSpPr>
              <a:stCxn id="8" idx="2"/>
            </p:cNvCxnSpPr>
            <p:nvPr/>
          </p:nvCxnSpPr>
          <p:spPr>
            <a:xfrm flipH="1">
              <a:off x="2556588" y="2827767"/>
              <a:ext cx="169416" cy="146532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 Verbindung mit Pfeil 88"/>
            <p:cNvCxnSpPr>
              <a:stCxn id="93" idx="3"/>
              <a:endCxn id="81" idx="1"/>
            </p:cNvCxnSpPr>
            <p:nvPr/>
          </p:nvCxnSpPr>
          <p:spPr>
            <a:xfrm>
              <a:off x="1547664" y="4544160"/>
              <a:ext cx="446450" cy="9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feld 92"/>
            <p:cNvSpPr txBox="1"/>
            <p:nvPr/>
          </p:nvSpPr>
          <p:spPr>
            <a:xfrm>
              <a:off x="1115616" y="439027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b1</a:t>
              </a:r>
            </a:p>
          </p:txBody>
        </p:sp>
        <p:cxnSp>
          <p:nvCxnSpPr>
            <p:cNvPr id="97" name="Gerade Verbindung mit Pfeil 96"/>
            <p:cNvCxnSpPr>
              <a:stCxn id="81" idx="2"/>
              <a:endCxn id="74" idx="0"/>
            </p:cNvCxnSpPr>
            <p:nvPr/>
          </p:nvCxnSpPr>
          <p:spPr>
            <a:xfrm flipH="1">
              <a:off x="2337304" y="4797152"/>
              <a:ext cx="2448" cy="20669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uppieren 100"/>
          <p:cNvGrpSpPr/>
          <p:nvPr/>
        </p:nvGrpSpPr>
        <p:grpSpPr>
          <a:xfrm>
            <a:off x="2987824" y="3490248"/>
            <a:ext cx="1656184" cy="2185407"/>
            <a:chOff x="1115616" y="2827769"/>
            <a:chExt cx="1656184" cy="2185407"/>
          </a:xfrm>
        </p:grpSpPr>
        <p:sp>
          <p:nvSpPr>
            <p:cNvPr id="102" name="Flussdiagramm: Manuelle Verarbeitung 101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Mux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03" name="Gerade Verbindung mit Pfeil 102"/>
            <p:cNvCxnSpPr/>
            <p:nvPr/>
          </p:nvCxnSpPr>
          <p:spPr>
            <a:xfrm>
              <a:off x="1789900" y="2827769"/>
              <a:ext cx="3338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mit Pfeil 103"/>
            <p:cNvCxnSpPr/>
            <p:nvPr/>
          </p:nvCxnSpPr>
          <p:spPr>
            <a:xfrm flipH="1">
              <a:off x="2555776" y="2827769"/>
              <a:ext cx="1702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Gerade Verbindung mit Pfeil 104"/>
            <p:cNvCxnSpPr>
              <a:stCxn id="106" idx="3"/>
              <a:endCxn id="102" idx="1"/>
            </p:cNvCxnSpPr>
            <p:nvPr/>
          </p:nvCxnSpPr>
          <p:spPr>
            <a:xfrm>
              <a:off x="1547664" y="4544160"/>
              <a:ext cx="446450" cy="9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feld 105"/>
            <p:cNvSpPr txBox="1"/>
            <p:nvPr/>
          </p:nvSpPr>
          <p:spPr>
            <a:xfrm>
              <a:off x="1115616" y="439027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b2</a:t>
              </a:r>
            </a:p>
          </p:txBody>
        </p:sp>
        <p:cxnSp>
          <p:nvCxnSpPr>
            <p:cNvPr id="107" name="Gerade Verbindung mit Pfeil 106"/>
            <p:cNvCxnSpPr>
              <a:stCxn id="102" idx="2"/>
            </p:cNvCxnSpPr>
            <p:nvPr/>
          </p:nvCxnSpPr>
          <p:spPr>
            <a:xfrm flipH="1">
              <a:off x="2337304" y="4797152"/>
              <a:ext cx="2448" cy="21602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pieren 107"/>
          <p:cNvGrpSpPr/>
          <p:nvPr/>
        </p:nvGrpSpPr>
        <p:grpSpPr>
          <a:xfrm>
            <a:off x="6732240" y="3490248"/>
            <a:ext cx="1656184" cy="2185407"/>
            <a:chOff x="1115616" y="2827769"/>
            <a:chExt cx="1656184" cy="2185407"/>
          </a:xfrm>
        </p:grpSpPr>
        <p:sp>
          <p:nvSpPr>
            <p:cNvPr id="109" name="Flussdiagramm: Manuelle Verarbeitung 108"/>
            <p:cNvSpPr/>
            <p:nvPr/>
          </p:nvSpPr>
          <p:spPr>
            <a:xfrm>
              <a:off x="1907704" y="4293096"/>
              <a:ext cx="864096" cy="504056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Mux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10" name="Gerade Verbindung mit Pfeil 109"/>
            <p:cNvCxnSpPr/>
            <p:nvPr/>
          </p:nvCxnSpPr>
          <p:spPr>
            <a:xfrm>
              <a:off x="1789900" y="2827769"/>
              <a:ext cx="3338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mit Pfeil 110"/>
            <p:cNvCxnSpPr/>
            <p:nvPr/>
          </p:nvCxnSpPr>
          <p:spPr>
            <a:xfrm flipH="1">
              <a:off x="2555776" y="2827769"/>
              <a:ext cx="170228" cy="14653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 Verbindung mit Pfeil 111"/>
            <p:cNvCxnSpPr>
              <a:stCxn id="113" idx="3"/>
              <a:endCxn id="109" idx="1"/>
            </p:cNvCxnSpPr>
            <p:nvPr/>
          </p:nvCxnSpPr>
          <p:spPr>
            <a:xfrm>
              <a:off x="1547664" y="4544160"/>
              <a:ext cx="446450" cy="9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feld 112"/>
            <p:cNvSpPr txBox="1"/>
            <p:nvPr/>
          </p:nvSpPr>
          <p:spPr>
            <a:xfrm>
              <a:off x="1115616" y="439027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bn</a:t>
              </a:r>
              <a:endParaRPr lang="en-US" sz="1400" b="1" dirty="0"/>
            </a:p>
          </p:txBody>
        </p:sp>
        <p:cxnSp>
          <p:nvCxnSpPr>
            <p:cNvPr id="114" name="Gerade Verbindung mit Pfeil 113"/>
            <p:cNvCxnSpPr>
              <a:stCxn id="109" idx="2"/>
            </p:cNvCxnSpPr>
            <p:nvPr/>
          </p:nvCxnSpPr>
          <p:spPr>
            <a:xfrm flipH="1">
              <a:off x="2337304" y="4797152"/>
              <a:ext cx="2448" cy="21602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404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HORS </a:t>
            </a:r>
            <a:r>
              <a:rPr lang="en-US" sz="2400" dirty="0"/>
              <a:t>[RR02]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Message M, OWF H, CRHF H’                       = n bit</a:t>
            </a:r>
          </a:p>
          <a:p>
            <a:pPr>
              <a:buNone/>
            </a:pPr>
            <a:r>
              <a:rPr lang="en-US" dirty="0" smtClean="0"/>
              <a:t>Parameters t=2</a:t>
            </a:r>
            <a:r>
              <a:rPr lang="en-US" baseline="30000" dirty="0" smtClean="0"/>
              <a:t>a</a:t>
            </a:r>
            <a:r>
              <a:rPr lang="en-US" dirty="0" smtClean="0"/>
              <a:t>,k, with m = ka (typical a=16, k=32)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SK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r>
              <a:rPr lang="en-US" dirty="0" smtClean="0"/>
              <a:t>PK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79</a:t>
            </a:fld>
            <a:endParaRPr lang="nl-NL"/>
          </a:p>
        </p:txBody>
      </p:sp>
      <p:pic>
        <p:nvPicPr>
          <p:cNvPr id="6" name="Picture 18" descr="C:\Users\huelsing\AppData\Local\Microsoft\Windows\Temporary Internet Files\Content.IE5\OYDSBIUA\MC900333394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2250" y="2902776"/>
            <a:ext cx="389327" cy="552424"/>
          </a:xfrm>
          <a:prstGeom prst="rect">
            <a:avLst/>
          </a:prstGeom>
          <a:noFill/>
        </p:spPr>
      </p:pic>
      <p:sp>
        <p:nvSpPr>
          <p:cNvPr id="7" name="Rechteck 6"/>
          <p:cNvSpPr/>
          <p:nvPr/>
        </p:nvSpPr>
        <p:spPr>
          <a:xfrm>
            <a:off x="1321848" y="3535473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Rechteck 7"/>
          <p:cNvSpPr/>
          <p:nvPr/>
        </p:nvSpPr>
        <p:spPr>
          <a:xfrm>
            <a:off x="2257952" y="3535473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2</a:t>
            </a:r>
          </a:p>
        </p:txBody>
      </p:sp>
      <p:sp>
        <p:nvSpPr>
          <p:cNvPr id="9" name="Rechteck 8"/>
          <p:cNvSpPr/>
          <p:nvPr/>
        </p:nvSpPr>
        <p:spPr>
          <a:xfrm>
            <a:off x="3194056" y="3535473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0" name="Rechteck 9"/>
          <p:cNvSpPr/>
          <p:nvPr/>
        </p:nvSpPr>
        <p:spPr>
          <a:xfrm>
            <a:off x="6002368" y="3535473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1" name="Rechteck 10"/>
          <p:cNvSpPr/>
          <p:nvPr/>
        </p:nvSpPr>
        <p:spPr>
          <a:xfrm>
            <a:off x="6938472" y="3535473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t-1</a:t>
            </a:r>
            <a:endParaRPr lang="en-US" dirty="0"/>
          </a:p>
        </p:txBody>
      </p:sp>
      <p:sp>
        <p:nvSpPr>
          <p:cNvPr id="12" name="Rechteck 11"/>
          <p:cNvSpPr/>
          <p:nvPr/>
        </p:nvSpPr>
        <p:spPr>
          <a:xfrm>
            <a:off x="7874576" y="3535473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 err="1">
                <a:solidFill>
                  <a:srgbClr val="101073"/>
                </a:solidFill>
              </a:rPr>
              <a:t>sk</a:t>
            </a:r>
            <a:r>
              <a:rPr lang="en-US" sz="1400" b="1" baseline="-25000" dirty="0" err="1">
                <a:solidFill>
                  <a:srgbClr val="101073"/>
                </a:solidFill>
              </a:rPr>
              <a:t>t</a:t>
            </a:r>
            <a:endParaRPr lang="en-US" sz="1400" b="1" baseline="-25000" dirty="0">
              <a:solidFill>
                <a:srgbClr val="101073"/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1321848" y="4615593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pk</a:t>
            </a:r>
            <a:r>
              <a:rPr lang="en-US" sz="1400" b="1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hteck 13"/>
          <p:cNvSpPr/>
          <p:nvPr/>
        </p:nvSpPr>
        <p:spPr>
          <a:xfrm>
            <a:off x="2257952" y="4615593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1</a:t>
            </a:r>
          </a:p>
        </p:txBody>
      </p:sp>
      <p:sp>
        <p:nvSpPr>
          <p:cNvPr id="15" name="Rechteck 14"/>
          <p:cNvSpPr/>
          <p:nvPr/>
        </p:nvSpPr>
        <p:spPr>
          <a:xfrm>
            <a:off x="3194056" y="4615593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6" name="Rechteck 15"/>
          <p:cNvSpPr/>
          <p:nvPr/>
        </p:nvSpPr>
        <p:spPr>
          <a:xfrm>
            <a:off x="6002368" y="4615593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7" name="Rechteck 16"/>
          <p:cNvSpPr/>
          <p:nvPr/>
        </p:nvSpPr>
        <p:spPr>
          <a:xfrm>
            <a:off x="6938472" y="4615593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t-1</a:t>
            </a:r>
            <a:endParaRPr lang="en-US" dirty="0"/>
          </a:p>
        </p:txBody>
      </p:sp>
      <p:sp>
        <p:nvSpPr>
          <p:cNvPr id="18" name="Rechteck 17"/>
          <p:cNvSpPr/>
          <p:nvPr/>
        </p:nvSpPr>
        <p:spPr>
          <a:xfrm>
            <a:off x="7874576" y="4615593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 err="1">
                <a:solidFill>
                  <a:srgbClr val="101073"/>
                </a:solidFill>
              </a:rPr>
              <a:t>pk</a:t>
            </a:r>
            <a:r>
              <a:rPr lang="en-US" sz="1400" b="1" baseline="-25000" dirty="0" err="1">
                <a:solidFill>
                  <a:srgbClr val="101073"/>
                </a:solidFill>
              </a:rPr>
              <a:t>t</a:t>
            </a:r>
            <a:endParaRPr lang="en-US" sz="1400" b="1" baseline="-25000" dirty="0">
              <a:solidFill>
                <a:srgbClr val="101073"/>
              </a:solidFill>
            </a:endParaRPr>
          </a:p>
        </p:txBody>
      </p:sp>
      <p:cxnSp>
        <p:nvCxnSpPr>
          <p:cNvPr id="19" name="Gerade Verbindung mit Pfeil 18"/>
          <p:cNvCxnSpPr>
            <a:stCxn id="7" idx="2"/>
            <a:endCxn id="13" idx="0"/>
          </p:cNvCxnSpPr>
          <p:nvPr/>
        </p:nvCxnSpPr>
        <p:spPr>
          <a:xfrm>
            <a:off x="1789900" y="3751497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/>
          <p:cNvCxnSpPr>
            <a:stCxn id="8" idx="2"/>
            <a:endCxn id="14" idx="0"/>
          </p:cNvCxnSpPr>
          <p:nvPr/>
        </p:nvCxnSpPr>
        <p:spPr>
          <a:xfrm>
            <a:off x="2726004" y="3751497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>
            <a:stCxn id="9" idx="2"/>
            <a:endCxn id="15" idx="0"/>
          </p:cNvCxnSpPr>
          <p:nvPr/>
        </p:nvCxnSpPr>
        <p:spPr>
          <a:xfrm>
            <a:off x="3662108" y="3751497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/>
          <p:cNvSpPr/>
          <p:nvPr/>
        </p:nvSpPr>
        <p:spPr>
          <a:xfrm>
            <a:off x="4490200" y="360748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3" name="Ellipse 22"/>
          <p:cNvSpPr/>
          <p:nvPr/>
        </p:nvSpPr>
        <p:spPr>
          <a:xfrm>
            <a:off x="4994256" y="360748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4" name="Ellipse 23"/>
          <p:cNvSpPr/>
          <p:nvPr/>
        </p:nvSpPr>
        <p:spPr>
          <a:xfrm>
            <a:off x="5498312" y="360748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5" name="Ellipse 24"/>
          <p:cNvSpPr/>
          <p:nvPr/>
        </p:nvSpPr>
        <p:spPr>
          <a:xfrm>
            <a:off x="4515367" y="468760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6" name="Ellipse 25"/>
          <p:cNvSpPr/>
          <p:nvPr/>
        </p:nvSpPr>
        <p:spPr>
          <a:xfrm>
            <a:off x="5019423" y="468760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7" name="Ellipse 26"/>
          <p:cNvSpPr/>
          <p:nvPr/>
        </p:nvSpPr>
        <p:spPr>
          <a:xfrm>
            <a:off x="5523479" y="468760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cxnSp>
        <p:nvCxnSpPr>
          <p:cNvPr id="28" name="Gerade Verbindung mit Pfeil 27"/>
          <p:cNvCxnSpPr>
            <a:stCxn id="10" idx="2"/>
            <a:endCxn id="16" idx="0"/>
          </p:cNvCxnSpPr>
          <p:nvPr/>
        </p:nvCxnSpPr>
        <p:spPr>
          <a:xfrm>
            <a:off x="6470420" y="3751497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>
            <a:stCxn id="11" idx="2"/>
            <a:endCxn id="17" idx="0"/>
          </p:cNvCxnSpPr>
          <p:nvPr/>
        </p:nvCxnSpPr>
        <p:spPr>
          <a:xfrm>
            <a:off x="7406524" y="3751497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12" idx="2"/>
            <a:endCxn id="18" idx="0"/>
          </p:cNvCxnSpPr>
          <p:nvPr/>
        </p:nvCxnSpPr>
        <p:spPr>
          <a:xfrm>
            <a:off x="8342628" y="3751497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/>
          <p:cNvSpPr txBox="1"/>
          <p:nvPr/>
        </p:nvSpPr>
        <p:spPr>
          <a:xfrm>
            <a:off x="1825904" y="3967523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2762008" y="3967523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3" name="Textfeld 32"/>
          <p:cNvSpPr txBox="1"/>
          <p:nvPr/>
        </p:nvSpPr>
        <p:spPr>
          <a:xfrm>
            <a:off x="3698112" y="3967523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4" name="Textfeld 33"/>
          <p:cNvSpPr txBox="1"/>
          <p:nvPr/>
        </p:nvSpPr>
        <p:spPr>
          <a:xfrm>
            <a:off x="6506424" y="3967523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5" name="Textfeld 34"/>
          <p:cNvSpPr txBox="1"/>
          <p:nvPr/>
        </p:nvSpPr>
        <p:spPr>
          <a:xfrm>
            <a:off x="7442528" y="3967523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6" name="Textfeld 35"/>
          <p:cNvSpPr txBox="1"/>
          <p:nvPr/>
        </p:nvSpPr>
        <p:spPr>
          <a:xfrm>
            <a:off x="8378632" y="3967523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cxnSp>
        <p:nvCxnSpPr>
          <p:cNvPr id="37" name="Gerade Verbindung mit Pfeil 36"/>
          <p:cNvCxnSpPr>
            <a:stCxn id="6" idx="1"/>
            <a:endCxn id="7" idx="0"/>
          </p:cNvCxnSpPr>
          <p:nvPr/>
        </p:nvCxnSpPr>
        <p:spPr>
          <a:xfrm flipH="1">
            <a:off x="1789900" y="3178990"/>
            <a:ext cx="3132348" cy="35648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/>
          <p:cNvCxnSpPr>
            <a:stCxn id="6" idx="1"/>
            <a:endCxn id="8" idx="0"/>
          </p:cNvCxnSpPr>
          <p:nvPr/>
        </p:nvCxnSpPr>
        <p:spPr>
          <a:xfrm flipH="1">
            <a:off x="2726004" y="3178990"/>
            <a:ext cx="2196244" cy="35648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>
            <a:stCxn id="6" idx="1"/>
            <a:endCxn id="9" idx="0"/>
          </p:cNvCxnSpPr>
          <p:nvPr/>
        </p:nvCxnSpPr>
        <p:spPr>
          <a:xfrm flipH="1">
            <a:off x="3662108" y="3178990"/>
            <a:ext cx="1260140" cy="35648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/>
          <p:cNvCxnSpPr>
            <a:stCxn id="6" idx="3"/>
            <a:endCxn id="10" idx="0"/>
          </p:cNvCxnSpPr>
          <p:nvPr/>
        </p:nvCxnSpPr>
        <p:spPr>
          <a:xfrm>
            <a:off x="5311577" y="3178990"/>
            <a:ext cx="1158845" cy="35648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6" idx="3"/>
            <a:endCxn id="11" idx="0"/>
          </p:cNvCxnSpPr>
          <p:nvPr/>
        </p:nvCxnSpPr>
        <p:spPr>
          <a:xfrm>
            <a:off x="5311577" y="3178990"/>
            <a:ext cx="2094949" cy="35648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/>
          <p:cNvCxnSpPr>
            <a:stCxn id="6" idx="3"/>
            <a:endCxn id="12" idx="0"/>
          </p:cNvCxnSpPr>
          <p:nvPr/>
        </p:nvCxnSpPr>
        <p:spPr>
          <a:xfrm>
            <a:off x="5311577" y="3178990"/>
            <a:ext cx="3031053" cy="35648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hteck 42"/>
          <p:cNvSpPr/>
          <p:nvPr/>
        </p:nvSpPr>
        <p:spPr>
          <a:xfrm>
            <a:off x="5633976" y="1949888"/>
            <a:ext cx="936104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*</a:t>
            </a:r>
            <a:endParaRPr lang="en-US" sz="1400" b="1" baseline="-25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94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HORS mapping function</a:t>
            </a:r>
            <a:endParaRPr lang="en-US" dirty="0"/>
          </a:p>
        </p:txBody>
      </p:sp>
      <p:sp>
        <p:nvSpPr>
          <p:cNvPr id="30" name="Inhaltsplatzhalter 2"/>
          <p:cNvSpPr>
            <a:spLocks noGrp="1"/>
          </p:cNvSpPr>
          <p:nvPr>
            <p:ph idx="1"/>
          </p:nvPr>
        </p:nvSpPr>
        <p:spPr>
          <a:xfrm>
            <a:off x="628650" y="1740050"/>
            <a:ext cx="7993062" cy="4541838"/>
          </a:xfrm>
        </p:spPr>
        <p:txBody>
          <a:bodyPr/>
          <a:lstStyle/>
          <a:p>
            <a:pPr>
              <a:buNone/>
            </a:pPr>
            <a:r>
              <a:rPr lang="en-US" dirty="0"/>
              <a:t>Message M, OWF H, CRHF H’                       = n bit</a:t>
            </a:r>
          </a:p>
          <a:p>
            <a:pPr>
              <a:buNone/>
            </a:pPr>
            <a:r>
              <a:rPr lang="en-US" dirty="0" smtClean="0"/>
              <a:t>Parameters t=2</a:t>
            </a:r>
            <a:r>
              <a:rPr lang="en-US" baseline="30000" dirty="0" smtClean="0"/>
              <a:t>a</a:t>
            </a:r>
            <a:r>
              <a:rPr lang="en-US" dirty="0" smtClean="0"/>
              <a:t>,k, with m = ka (typical a=16, k=32)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80</a:t>
            </a:fld>
            <a:endParaRPr lang="nl-NL"/>
          </a:p>
        </p:txBody>
      </p:sp>
      <p:sp>
        <p:nvSpPr>
          <p:cNvPr id="6" name="Rechteck 43"/>
          <p:cNvSpPr/>
          <p:nvPr/>
        </p:nvSpPr>
        <p:spPr>
          <a:xfrm>
            <a:off x="1043608" y="5245297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en-US" sz="1400" b="1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echteck 52"/>
          <p:cNvSpPr/>
          <p:nvPr/>
        </p:nvSpPr>
        <p:spPr>
          <a:xfrm>
            <a:off x="1475656" y="5245297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en-US" sz="1400" b="1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Rechteck 53"/>
          <p:cNvSpPr/>
          <p:nvPr/>
        </p:nvSpPr>
        <p:spPr>
          <a:xfrm>
            <a:off x="1907704" y="5245297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 sz="1400" b="1" baseline="-25000" dirty="0">
              <a:solidFill>
                <a:schemeClr val="tx1"/>
              </a:solidFill>
            </a:endParaRPr>
          </a:p>
        </p:txBody>
      </p:sp>
      <p:sp>
        <p:nvSpPr>
          <p:cNvPr id="9" name="Rechteck 54"/>
          <p:cNvSpPr/>
          <p:nvPr/>
        </p:nvSpPr>
        <p:spPr>
          <a:xfrm>
            <a:off x="2339752" y="5245297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b</a:t>
            </a:r>
            <a:r>
              <a:rPr lang="en-US" sz="1400" b="1" baseline="-25000" dirty="0" err="1">
                <a:solidFill>
                  <a:schemeClr val="tx1"/>
                </a:solidFill>
              </a:rPr>
              <a:t>a</a:t>
            </a:r>
            <a:endParaRPr lang="en-US" sz="1400" b="1" baseline="-25000" dirty="0">
              <a:solidFill>
                <a:schemeClr val="tx1"/>
              </a:solidFill>
            </a:endParaRPr>
          </a:p>
        </p:txBody>
      </p:sp>
      <p:sp>
        <p:nvSpPr>
          <p:cNvPr id="10" name="Rechteck 56"/>
          <p:cNvSpPr/>
          <p:nvPr/>
        </p:nvSpPr>
        <p:spPr>
          <a:xfrm>
            <a:off x="3203848" y="5245297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 sz="1200" b="1" baseline="-25000" dirty="0">
              <a:solidFill>
                <a:schemeClr val="tx1"/>
              </a:solidFill>
            </a:endParaRPr>
          </a:p>
        </p:txBody>
      </p:sp>
      <p:sp>
        <p:nvSpPr>
          <p:cNvPr id="12" name="Rechteck 56"/>
          <p:cNvSpPr/>
          <p:nvPr/>
        </p:nvSpPr>
        <p:spPr>
          <a:xfrm>
            <a:off x="2773090" y="5245297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 sz="1200" b="1" baseline="-25000" dirty="0">
              <a:solidFill>
                <a:schemeClr val="tx1"/>
              </a:solidFill>
            </a:endParaRPr>
          </a:p>
        </p:txBody>
      </p:sp>
      <p:sp>
        <p:nvSpPr>
          <p:cNvPr id="13" name="Rechteck 43"/>
          <p:cNvSpPr/>
          <p:nvPr/>
        </p:nvSpPr>
        <p:spPr>
          <a:xfrm>
            <a:off x="5528122" y="5245297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 sz="1400" b="1" baseline="-25000" dirty="0">
              <a:solidFill>
                <a:schemeClr val="tx1"/>
              </a:solidFill>
            </a:endParaRPr>
          </a:p>
        </p:txBody>
      </p:sp>
      <p:sp>
        <p:nvSpPr>
          <p:cNvPr id="14" name="Rechteck 52"/>
          <p:cNvSpPr/>
          <p:nvPr/>
        </p:nvSpPr>
        <p:spPr>
          <a:xfrm>
            <a:off x="5960170" y="5245297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 sz="1400" b="1" baseline="-25000" dirty="0">
              <a:solidFill>
                <a:schemeClr val="tx1"/>
              </a:solidFill>
            </a:endParaRPr>
          </a:p>
        </p:txBody>
      </p:sp>
      <p:sp>
        <p:nvSpPr>
          <p:cNvPr id="15" name="Rechteck 53"/>
          <p:cNvSpPr/>
          <p:nvPr/>
        </p:nvSpPr>
        <p:spPr>
          <a:xfrm>
            <a:off x="6392218" y="5245297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 sz="1400" b="1" baseline="-25000" dirty="0">
              <a:solidFill>
                <a:schemeClr val="tx1"/>
              </a:solidFill>
            </a:endParaRPr>
          </a:p>
        </p:txBody>
      </p:sp>
      <p:sp>
        <p:nvSpPr>
          <p:cNvPr id="16" name="Rechteck 54"/>
          <p:cNvSpPr/>
          <p:nvPr/>
        </p:nvSpPr>
        <p:spPr>
          <a:xfrm>
            <a:off x="6824266" y="5245297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 sz="1400" b="1" baseline="-25000" dirty="0">
              <a:solidFill>
                <a:schemeClr val="tx1"/>
              </a:solidFill>
            </a:endParaRPr>
          </a:p>
        </p:txBody>
      </p:sp>
      <p:sp>
        <p:nvSpPr>
          <p:cNvPr id="17" name="Rechteck 56"/>
          <p:cNvSpPr/>
          <p:nvPr/>
        </p:nvSpPr>
        <p:spPr>
          <a:xfrm>
            <a:off x="7688362" y="5245297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b</a:t>
            </a:r>
            <a:r>
              <a:rPr lang="en-US" sz="1200" b="1" baseline="-25000" dirty="0">
                <a:solidFill>
                  <a:schemeClr val="tx1"/>
                </a:solidFill>
              </a:rPr>
              <a:t>ar</a:t>
            </a:r>
          </a:p>
        </p:txBody>
      </p:sp>
      <p:sp>
        <p:nvSpPr>
          <p:cNvPr id="18" name="Rechteck 56"/>
          <p:cNvSpPr/>
          <p:nvPr/>
        </p:nvSpPr>
        <p:spPr>
          <a:xfrm>
            <a:off x="7257604" y="5245297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 sz="1200" b="1" baseline="-25000" dirty="0">
              <a:solidFill>
                <a:schemeClr val="tx1"/>
              </a:solidFill>
            </a:endParaRPr>
          </a:p>
        </p:txBody>
      </p:sp>
      <p:sp>
        <p:nvSpPr>
          <p:cNvPr id="19" name="Ellipse 90"/>
          <p:cNvSpPr/>
          <p:nvPr/>
        </p:nvSpPr>
        <p:spPr>
          <a:xfrm>
            <a:off x="4015954" y="5317305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0" name="Ellipse 91"/>
          <p:cNvSpPr/>
          <p:nvPr/>
        </p:nvSpPr>
        <p:spPr>
          <a:xfrm>
            <a:off x="4520010" y="5317305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1" name="Ellipse 92"/>
          <p:cNvSpPr/>
          <p:nvPr/>
        </p:nvSpPr>
        <p:spPr>
          <a:xfrm>
            <a:off x="5024066" y="5317305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2" name="Rechteck 9"/>
          <p:cNvSpPr/>
          <p:nvPr/>
        </p:nvSpPr>
        <p:spPr>
          <a:xfrm>
            <a:off x="336231" y="3373089"/>
            <a:ext cx="8496943" cy="288032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1400" dirty="0">
                <a:solidFill>
                  <a:schemeClr val="tx2"/>
                </a:solidFill>
              </a:rPr>
              <a:t>M</a:t>
            </a:r>
          </a:p>
        </p:txBody>
      </p:sp>
      <p:sp>
        <p:nvSpPr>
          <p:cNvPr id="25" name="Flussdiagramm: Manuelle Verarbeitung 70"/>
          <p:cNvSpPr/>
          <p:nvPr/>
        </p:nvSpPr>
        <p:spPr>
          <a:xfrm>
            <a:off x="4152651" y="4197857"/>
            <a:ext cx="864096" cy="504056"/>
          </a:xfrm>
          <a:prstGeom prst="flowChartManualOpe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H’</a:t>
            </a:r>
          </a:p>
        </p:txBody>
      </p:sp>
      <p:sp>
        <p:nvSpPr>
          <p:cNvPr id="36" name="Geschweifte Klammer rechts 63"/>
          <p:cNvSpPr/>
          <p:nvPr/>
        </p:nvSpPr>
        <p:spPr>
          <a:xfrm rot="5400000">
            <a:off x="1799692" y="4705237"/>
            <a:ext cx="216024" cy="1728192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Geschweifte Klammer rechts 63"/>
          <p:cNvSpPr/>
          <p:nvPr/>
        </p:nvSpPr>
        <p:spPr>
          <a:xfrm rot="5400000">
            <a:off x="7157443" y="4711922"/>
            <a:ext cx="209376" cy="1708174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feld 64"/>
          <p:cNvSpPr txBox="1"/>
          <p:nvPr/>
        </p:nvSpPr>
        <p:spPr>
          <a:xfrm>
            <a:off x="1783706" y="573167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1</a:t>
            </a:r>
          </a:p>
        </p:txBody>
      </p:sp>
      <p:sp>
        <p:nvSpPr>
          <p:cNvPr id="40" name="Textfeld 66"/>
          <p:cNvSpPr txBox="1"/>
          <p:nvPr/>
        </p:nvSpPr>
        <p:spPr>
          <a:xfrm>
            <a:off x="7112298" y="567734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baseline="-25000" dirty="0" err="1"/>
              <a:t>k</a:t>
            </a:r>
            <a:endParaRPr lang="en-US" baseline="-25000" dirty="0"/>
          </a:p>
        </p:txBody>
      </p:sp>
      <p:sp>
        <p:nvSpPr>
          <p:cNvPr id="41" name="Geschweifte Klammer rechts 65"/>
          <p:cNvSpPr/>
          <p:nvPr/>
        </p:nvSpPr>
        <p:spPr>
          <a:xfrm rot="5400000">
            <a:off x="4448236" y="-450884"/>
            <a:ext cx="272926" cy="8496941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srgbClr val="00090C"/>
              </a:solidFill>
            </a:endParaRPr>
          </a:p>
        </p:txBody>
      </p:sp>
      <p:cxnSp>
        <p:nvCxnSpPr>
          <p:cNvPr id="43" name="Straight Arrow Connector 42"/>
          <p:cNvCxnSpPr>
            <a:stCxn id="41" idx="1"/>
            <a:endCxn id="25" idx="0"/>
          </p:cNvCxnSpPr>
          <p:nvPr/>
        </p:nvCxnSpPr>
        <p:spPr>
          <a:xfrm>
            <a:off x="4584699" y="3934052"/>
            <a:ext cx="0" cy="263807"/>
          </a:xfrm>
          <a:prstGeom prst="straightConnector1">
            <a:avLst/>
          </a:prstGeom>
          <a:ln w="15875">
            <a:solidFill>
              <a:srgbClr val="0009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eschweifte Klammer rechts 65"/>
          <p:cNvSpPr/>
          <p:nvPr/>
        </p:nvSpPr>
        <p:spPr>
          <a:xfrm rot="16200000">
            <a:off x="4448547" y="1570973"/>
            <a:ext cx="262739" cy="7072612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srgbClr val="00090C"/>
              </a:solidFill>
            </a:endParaRPr>
          </a:p>
        </p:txBody>
      </p:sp>
      <p:cxnSp>
        <p:nvCxnSpPr>
          <p:cNvPr id="45" name="Straight Arrow Connector 44"/>
          <p:cNvCxnSpPr>
            <a:stCxn id="25" idx="2"/>
            <a:endCxn id="44" idx="1"/>
          </p:cNvCxnSpPr>
          <p:nvPr/>
        </p:nvCxnSpPr>
        <p:spPr>
          <a:xfrm flipH="1">
            <a:off x="4579915" y="4701915"/>
            <a:ext cx="4784" cy="273997"/>
          </a:xfrm>
          <a:prstGeom prst="straightConnector1">
            <a:avLst/>
          </a:prstGeom>
          <a:ln w="15875">
            <a:solidFill>
              <a:srgbClr val="0009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hteck 42"/>
          <p:cNvSpPr/>
          <p:nvPr/>
        </p:nvSpPr>
        <p:spPr>
          <a:xfrm>
            <a:off x="5652120" y="1847260"/>
            <a:ext cx="936104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*</a:t>
            </a:r>
            <a:endParaRPr lang="en-US" sz="1400" b="1" baseline="-25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762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HORS</a:t>
            </a:r>
            <a:endParaRPr lang="en-US" sz="24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44" y="1439571"/>
            <a:ext cx="8136706" cy="454183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100" dirty="0"/>
              <a:t>Message M, OWF H, CRHF H’                       = n bit</a:t>
            </a:r>
          </a:p>
          <a:p>
            <a:pPr>
              <a:buNone/>
            </a:pPr>
            <a:r>
              <a:rPr lang="en-US" sz="3100" dirty="0" smtClean="0"/>
              <a:t>Parameters t=2</a:t>
            </a:r>
            <a:r>
              <a:rPr lang="en-US" sz="3100" baseline="30000" dirty="0" smtClean="0"/>
              <a:t>a</a:t>
            </a:r>
            <a:r>
              <a:rPr lang="en-US" sz="3100" dirty="0" smtClean="0"/>
              <a:t>,k, with m = ka (typical a=16, k=32)</a:t>
            </a:r>
          </a:p>
          <a:p>
            <a:pPr>
              <a:buNone/>
            </a:pPr>
            <a:endParaRPr lang="de-DE" sz="4400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sz="5100" dirty="0" smtClean="0"/>
          </a:p>
          <a:p>
            <a:pPr>
              <a:buNone/>
            </a:pPr>
            <a:endParaRPr lang="en-US" sz="5100" dirty="0"/>
          </a:p>
          <a:p>
            <a:pPr>
              <a:buNone/>
            </a:pPr>
            <a:endParaRPr lang="en-US" sz="5100" dirty="0" smtClean="0"/>
          </a:p>
          <a:p>
            <a:pPr>
              <a:buNone/>
            </a:pPr>
            <a:endParaRPr lang="en-US" sz="5100" dirty="0"/>
          </a:p>
          <a:p>
            <a:pPr>
              <a:buNone/>
            </a:pPr>
            <a:r>
              <a:rPr lang="en-US" sz="5100" dirty="0" smtClean="0"/>
              <a:t>	</a:t>
            </a:r>
            <a:endParaRPr lang="en-US" sz="5100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81</a:t>
            </a:fld>
            <a:endParaRPr lang="nl-NL"/>
          </a:p>
        </p:txBody>
      </p:sp>
      <p:pic>
        <p:nvPicPr>
          <p:cNvPr id="6" name="Picture 18" descr="C:\Users\huelsing\AppData\Local\Microsoft\Windows\Temporary Internet Files\Content.IE5\OYDSBIUA\MC900333394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2250" y="2147003"/>
            <a:ext cx="389327" cy="552424"/>
          </a:xfrm>
          <a:prstGeom prst="rect">
            <a:avLst/>
          </a:prstGeom>
          <a:noFill/>
        </p:spPr>
      </p:pic>
      <p:sp>
        <p:nvSpPr>
          <p:cNvPr id="7" name="Rechteck 6"/>
          <p:cNvSpPr/>
          <p:nvPr/>
        </p:nvSpPr>
        <p:spPr>
          <a:xfrm>
            <a:off x="1321848" y="2779700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Rechteck 7"/>
          <p:cNvSpPr/>
          <p:nvPr/>
        </p:nvSpPr>
        <p:spPr>
          <a:xfrm>
            <a:off x="2257952" y="2779700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2</a:t>
            </a:r>
          </a:p>
        </p:txBody>
      </p:sp>
      <p:sp>
        <p:nvSpPr>
          <p:cNvPr id="9" name="Rechteck 8"/>
          <p:cNvSpPr/>
          <p:nvPr/>
        </p:nvSpPr>
        <p:spPr>
          <a:xfrm>
            <a:off x="3194056" y="2779700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0" name="Rechteck 9"/>
          <p:cNvSpPr/>
          <p:nvPr/>
        </p:nvSpPr>
        <p:spPr>
          <a:xfrm>
            <a:off x="6002368" y="2779700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1" name="Rechteck 10"/>
          <p:cNvSpPr/>
          <p:nvPr/>
        </p:nvSpPr>
        <p:spPr>
          <a:xfrm>
            <a:off x="6938472" y="2779700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sk</a:t>
            </a:r>
            <a:r>
              <a:rPr lang="en-US" sz="1400" b="1" baseline="-25000" dirty="0">
                <a:solidFill>
                  <a:srgbClr val="101073"/>
                </a:solidFill>
              </a:rPr>
              <a:t>t-1</a:t>
            </a:r>
            <a:endParaRPr lang="en-US" dirty="0"/>
          </a:p>
        </p:txBody>
      </p:sp>
      <p:sp>
        <p:nvSpPr>
          <p:cNvPr id="12" name="Rechteck 11"/>
          <p:cNvSpPr/>
          <p:nvPr/>
        </p:nvSpPr>
        <p:spPr>
          <a:xfrm>
            <a:off x="7874576" y="2779700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 err="1">
                <a:solidFill>
                  <a:srgbClr val="101073"/>
                </a:solidFill>
              </a:rPr>
              <a:t>sk</a:t>
            </a:r>
            <a:r>
              <a:rPr lang="en-US" sz="1400" b="1" baseline="-25000" dirty="0" err="1">
                <a:solidFill>
                  <a:srgbClr val="101073"/>
                </a:solidFill>
              </a:rPr>
              <a:t>t</a:t>
            </a:r>
            <a:endParaRPr lang="en-US" sz="1400" b="1" baseline="-25000" dirty="0">
              <a:solidFill>
                <a:srgbClr val="101073"/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1321848" y="3859820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pk</a:t>
            </a:r>
            <a:r>
              <a:rPr lang="en-US" sz="1400" b="1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hteck 13"/>
          <p:cNvSpPr/>
          <p:nvPr/>
        </p:nvSpPr>
        <p:spPr>
          <a:xfrm>
            <a:off x="2257952" y="3859820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1</a:t>
            </a:r>
          </a:p>
        </p:txBody>
      </p:sp>
      <p:sp>
        <p:nvSpPr>
          <p:cNvPr id="15" name="Rechteck 14"/>
          <p:cNvSpPr/>
          <p:nvPr/>
        </p:nvSpPr>
        <p:spPr>
          <a:xfrm>
            <a:off x="3194056" y="3859820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6" name="Rechteck 15"/>
          <p:cNvSpPr/>
          <p:nvPr/>
        </p:nvSpPr>
        <p:spPr>
          <a:xfrm>
            <a:off x="6002368" y="3859820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17" name="Rechteck 16"/>
          <p:cNvSpPr/>
          <p:nvPr/>
        </p:nvSpPr>
        <p:spPr>
          <a:xfrm>
            <a:off x="6938472" y="3859820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rgbClr val="101073"/>
                </a:solidFill>
              </a:rPr>
              <a:t>pk</a:t>
            </a:r>
            <a:r>
              <a:rPr lang="en-US" sz="1400" b="1" baseline="-25000" dirty="0">
                <a:solidFill>
                  <a:srgbClr val="101073"/>
                </a:solidFill>
              </a:rPr>
              <a:t>t-1</a:t>
            </a:r>
            <a:endParaRPr lang="en-US" dirty="0"/>
          </a:p>
        </p:txBody>
      </p:sp>
      <p:sp>
        <p:nvSpPr>
          <p:cNvPr id="18" name="Rechteck 17"/>
          <p:cNvSpPr/>
          <p:nvPr/>
        </p:nvSpPr>
        <p:spPr>
          <a:xfrm>
            <a:off x="7874576" y="3859820"/>
            <a:ext cx="936104" cy="21602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lvl="0" algn="ctr"/>
            <a:r>
              <a:rPr lang="en-US" sz="1400" b="1" dirty="0" err="1">
                <a:solidFill>
                  <a:srgbClr val="101073"/>
                </a:solidFill>
              </a:rPr>
              <a:t>pk</a:t>
            </a:r>
            <a:r>
              <a:rPr lang="en-US" sz="1400" b="1" baseline="-25000" dirty="0" err="1">
                <a:solidFill>
                  <a:srgbClr val="101073"/>
                </a:solidFill>
              </a:rPr>
              <a:t>t</a:t>
            </a:r>
            <a:endParaRPr lang="en-US" sz="1400" b="1" baseline="-25000" dirty="0">
              <a:solidFill>
                <a:srgbClr val="101073"/>
              </a:solidFill>
            </a:endParaRPr>
          </a:p>
        </p:txBody>
      </p:sp>
      <p:cxnSp>
        <p:nvCxnSpPr>
          <p:cNvPr id="19" name="Gerade Verbindung mit Pfeil 18"/>
          <p:cNvCxnSpPr>
            <a:stCxn id="7" idx="2"/>
            <a:endCxn id="13" idx="0"/>
          </p:cNvCxnSpPr>
          <p:nvPr/>
        </p:nvCxnSpPr>
        <p:spPr>
          <a:xfrm>
            <a:off x="1789900" y="2995724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/>
          <p:cNvCxnSpPr>
            <a:stCxn id="8" idx="2"/>
            <a:endCxn id="14" idx="0"/>
          </p:cNvCxnSpPr>
          <p:nvPr/>
        </p:nvCxnSpPr>
        <p:spPr>
          <a:xfrm>
            <a:off x="2726004" y="2995724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>
            <a:stCxn id="9" idx="2"/>
            <a:endCxn id="15" idx="0"/>
          </p:cNvCxnSpPr>
          <p:nvPr/>
        </p:nvCxnSpPr>
        <p:spPr>
          <a:xfrm>
            <a:off x="3662108" y="2995724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/>
          <p:cNvSpPr/>
          <p:nvPr/>
        </p:nvSpPr>
        <p:spPr>
          <a:xfrm>
            <a:off x="4490200" y="2851708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3" name="Ellipse 22"/>
          <p:cNvSpPr/>
          <p:nvPr/>
        </p:nvSpPr>
        <p:spPr>
          <a:xfrm>
            <a:off x="4994256" y="2851708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4" name="Ellipse 23"/>
          <p:cNvSpPr/>
          <p:nvPr/>
        </p:nvSpPr>
        <p:spPr>
          <a:xfrm>
            <a:off x="5498312" y="2851708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5" name="Ellipse 24"/>
          <p:cNvSpPr/>
          <p:nvPr/>
        </p:nvSpPr>
        <p:spPr>
          <a:xfrm>
            <a:off x="4515367" y="3931828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6" name="Ellipse 25"/>
          <p:cNvSpPr/>
          <p:nvPr/>
        </p:nvSpPr>
        <p:spPr>
          <a:xfrm>
            <a:off x="5019423" y="3931828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27" name="Ellipse 26"/>
          <p:cNvSpPr/>
          <p:nvPr/>
        </p:nvSpPr>
        <p:spPr>
          <a:xfrm>
            <a:off x="5523479" y="3931828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cxnSp>
        <p:nvCxnSpPr>
          <p:cNvPr id="28" name="Gerade Verbindung mit Pfeil 27"/>
          <p:cNvCxnSpPr>
            <a:stCxn id="10" idx="2"/>
            <a:endCxn id="16" idx="0"/>
          </p:cNvCxnSpPr>
          <p:nvPr/>
        </p:nvCxnSpPr>
        <p:spPr>
          <a:xfrm>
            <a:off x="6470420" y="2995724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>
            <a:stCxn id="11" idx="2"/>
            <a:endCxn id="17" idx="0"/>
          </p:cNvCxnSpPr>
          <p:nvPr/>
        </p:nvCxnSpPr>
        <p:spPr>
          <a:xfrm>
            <a:off x="7406524" y="2995724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12" idx="2"/>
            <a:endCxn id="18" idx="0"/>
          </p:cNvCxnSpPr>
          <p:nvPr/>
        </p:nvCxnSpPr>
        <p:spPr>
          <a:xfrm>
            <a:off x="8342628" y="2995724"/>
            <a:ext cx="0" cy="86409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/>
          <p:cNvSpPr txBox="1"/>
          <p:nvPr/>
        </p:nvSpPr>
        <p:spPr>
          <a:xfrm>
            <a:off x="1825904" y="3211750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2762008" y="3211750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3" name="Textfeld 32"/>
          <p:cNvSpPr txBox="1"/>
          <p:nvPr/>
        </p:nvSpPr>
        <p:spPr>
          <a:xfrm>
            <a:off x="3698112" y="3211750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4" name="Textfeld 33"/>
          <p:cNvSpPr txBox="1"/>
          <p:nvPr/>
        </p:nvSpPr>
        <p:spPr>
          <a:xfrm>
            <a:off x="6506424" y="3211750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5" name="Textfeld 34"/>
          <p:cNvSpPr txBox="1"/>
          <p:nvPr/>
        </p:nvSpPr>
        <p:spPr>
          <a:xfrm>
            <a:off x="7442528" y="3211750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6" name="Textfeld 35"/>
          <p:cNvSpPr txBox="1"/>
          <p:nvPr/>
        </p:nvSpPr>
        <p:spPr>
          <a:xfrm>
            <a:off x="8378632" y="3211750"/>
            <a:ext cx="144016" cy="395869"/>
          </a:xfrm>
          <a:prstGeom prst="rect">
            <a:avLst/>
          </a:prstGeom>
          <a:noFill/>
        </p:spPr>
        <p:txBody>
          <a:bodyPr wrap="square" bIns="72000" rtlCol="0">
            <a:spAutoFit/>
          </a:bodyPr>
          <a:lstStyle/>
          <a:p>
            <a:r>
              <a:rPr lang="en-US" dirty="0"/>
              <a:t>H</a:t>
            </a:r>
          </a:p>
        </p:txBody>
      </p:sp>
      <p:cxnSp>
        <p:nvCxnSpPr>
          <p:cNvPr id="37" name="Gerade Verbindung mit Pfeil 36"/>
          <p:cNvCxnSpPr>
            <a:stCxn id="6" idx="1"/>
            <a:endCxn id="7" idx="0"/>
          </p:cNvCxnSpPr>
          <p:nvPr/>
        </p:nvCxnSpPr>
        <p:spPr>
          <a:xfrm flipH="1">
            <a:off x="1789900" y="2423217"/>
            <a:ext cx="3132348" cy="35648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/>
          <p:cNvCxnSpPr>
            <a:stCxn id="6" idx="1"/>
            <a:endCxn id="8" idx="0"/>
          </p:cNvCxnSpPr>
          <p:nvPr/>
        </p:nvCxnSpPr>
        <p:spPr>
          <a:xfrm flipH="1">
            <a:off x="2726004" y="2423217"/>
            <a:ext cx="2196244" cy="35648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>
            <a:stCxn id="6" idx="1"/>
            <a:endCxn id="9" idx="0"/>
          </p:cNvCxnSpPr>
          <p:nvPr/>
        </p:nvCxnSpPr>
        <p:spPr>
          <a:xfrm flipH="1">
            <a:off x="3662108" y="2423217"/>
            <a:ext cx="1260140" cy="35648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/>
          <p:cNvCxnSpPr>
            <a:stCxn id="6" idx="3"/>
            <a:endCxn id="10" idx="0"/>
          </p:cNvCxnSpPr>
          <p:nvPr/>
        </p:nvCxnSpPr>
        <p:spPr>
          <a:xfrm>
            <a:off x="5311577" y="2423217"/>
            <a:ext cx="1158845" cy="35648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6" idx="3"/>
            <a:endCxn id="11" idx="0"/>
          </p:cNvCxnSpPr>
          <p:nvPr/>
        </p:nvCxnSpPr>
        <p:spPr>
          <a:xfrm>
            <a:off x="5311577" y="2423217"/>
            <a:ext cx="2094949" cy="35648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/>
          <p:cNvCxnSpPr>
            <a:stCxn id="6" idx="3"/>
            <a:endCxn id="12" idx="0"/>
          </p:cNvCxnSpPr>
          <p:nvPr/>
        </p:nvCxnSpPr>
        <p:spPr>
          <a:xfrm>
            <a:off x="5311577" y="2423217"/>
            <a:ext cx="3031053" cy="35648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hteck 42"/>
          <p:cNvSpPr/>
          <p:nvPr/>
        </p:nvSpPr>
        <p:spPr>
          <a:xfrm>
            <a:off x="4659383" y="1465819"/>
            <a:ext cx="936104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*</a:t>
            </a:r>
            <a:endParaRPr lang="en-US" sz="1400" b="1" baseline="-25000" dirty="0">
              <a:solidFill>
                <a:schemeClr val="tx1"/>
              </a:solidFill>
            </a:endParaRPr>
          </a:p>
        </p:txBody>
      </p:sp>
      <p:sp>
        <p:nvSpPr>
          <p:cNvPr id="44" name="Rechteck 43"/>
          <p:cNvSpPr/>
          <p:nvPr/>
        </p:nvSpPr>
        <p:spPr>
          <a:xfrm>
            <a:off x="1331640" y="4749083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en-US" sz="1400" b="1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Ellipse 49"/>
          <p:cNvSpPr/>
          <p:nvPr/>
        </p:nvSpPr>
        <p:spPr>
          <a:xfrm>
            <a:off x="4499992" y="482109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51" name="Ellipse 50"/>
          <p:cNvSpPr/>
          <p:nvPr/>
        </p:nvSpPr>
        <p:spPr>
          <a:xfrm>
            <a:off x="5004048" y="482109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52" name="Ellipse 51"/>
          <p:cNvSpPr/>
          <p:nvPr/>
        </p:nvSpPr>
        <p:spPr>
          <a:xfrm>
            <a:off x="5508104" y="4821091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53" name="Rechteck 52"/>
          <p:cNvSpPr/>
          <p:nvPr/>
        </p:nvSpPr>
        <p:spPr>
          <a:xfrm>
            <a:off x="1763688" y="4749083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en-US" sz="1400" b="1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4" name="Rechteck 53"/>
          <p:cNvSpPr/>
          <p:nvPr/>
        </p:nvSpPr>
        <p:spPr>
          <a:xfrm>
            <a:off x="2195736" y="4749083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 sz="1400" b="1" baseline="-25000" dirty="0">
              <a:solidFill>
                <a:schemeClr val="tx1"/>
              </a:solidFill>
            </a:endParaRPr>
          </a:p>
        </p:txBody>
      </p:sp>
      <p:sp>
        <p:nvSpPr>
          <p:cNvPr id="55" name="Rechteck 54"/>
          <p:cNvSpPr/>
          <p:nvPr/>
        </p:nvSpPr>
        <p:spPr>
          <a:xfrm>
            <a:off x="2627784" y="4749083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en-US" sz="1400" b="1" baseline="-250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6" name="Rechteck 55"/>
          <p:cNvSpPr/>
          <p:nvPr/>
        </p:nvSpPr>
        <p:spPr>
          <a:xfrm>
            <a:off x="3059832" y="4749083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en-US" sz="1400" b="1" baseline="-25000" dirty="0">
                <a:solidFill>
                  <a:schemeClr val="tx1"/>
                </a:solidFill>
              </a:rPr>
              <a:t>a+1</a:t>
            </a:r>
          </a:p>
        </p:txBody>
      </p:sp>
      <p:sp>
        <p:nvSpPr>
          <p:cNvPr id="57" name="Rechteck 56"/>
          <p:cNvSpPr/>
          <p:nvPr/>
        </p:nvSpPr>
        <p:spPr>
          <a:xfrm>
            <a:off x="3491880" y="4749083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 sz="1200" b="1" baseline="-25000" dirty="0">
              <a:solidFill>
                <a:schemeClr val="tx1"/>
              </a:solidFill>
            </a:endParaRPr>
          </a:p>
        </p:txBody>
      </p:sp>
      <p:sp>
        <p:nvSpPr>
          <p:cNvPr id="58" name="Rechteck 57"/>
          <p:cNvSpPr/>
          <p:nvPr/>
        </p:nvSpPr>
        <p:spPr>
          <a:xfrm>
            <a:off x="6228184" y="4749083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 sz="1400" b="1" baseline="-25000" dirty="0">
              <a:solidFill>
                <a:schemeClr val="tx1"/>
              </a:solidFill>
            </a:endParaRPr>
          </a:p>
        </p:txBody>
      </p:sp>
      <p:sp>
        <p:nvSpPr>
          <p:cNvPr id="59" name="Rechteck 58"/>
          <p:cNvSpPr/>
          <p:nvPr/>
        </p:nvSpPr>
        <p:spPr>
          <a:xfrm>
            <a:off x="6660232" y="4749083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 sz="1400" b="1" baseline="-25000" dirty="0">
              <a:solidFill>
                <a:schemeClr val="tx1"/>
              </a:solidFill>
            </a:endParaRPr>
          </a:p>
        </p:txBody>
      </p:sp>
      <p:sp>
        <p:nvSpPr>
          <p:cNvPr id="60" name="Rechteck 59"/>
          <p:cNvSpPr/>
          <p:nvPr/>
        </p:nvSpPr>
        <p:spPr>
          <a:xfrm>
            <a:off x="7092280" y="4749083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 sz="1400" b="1" baseline="-25000" dirty="0">
              <a:solidFill>
                <a:schemeClr val="tx1"/>
              </a:solidFill>
            </a:endParaRPr>
          </a:p>
        </p:txBody>
      </p:sp>
      <p:sp>
        <p:nvSpPr>
          <p:cNvPr id="61" name="Rechteck 60"/>
          <p:cNvSpPr/>
          <p:nvPr/>
        </p:nvSpPr>
        <p:spPr>
          <a:xfrm>
            <a:off x="7524328" y="4749083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en-US" sz="1400" b="1" baseline="-25000" dirty="0">
                <a:solidFill>
                  <a:schemeClr val="tx1"/>
                </a:solidFill>
              </a:rPr>
              <a:t>ka-2</a:t>
            </a:r>
          </a:p>
        </p:txBody>
      </p:sp>
      <p:sp>
        <p:nvSpPr>
          <p:cNvPr id="62" name="Rechteck 61"/>
          <p:cNvSpPr/>
          <p:nvPr/>
        </p:nvSpPr>
        <p:spPr>
          <a:xfrm>
            <a:off x="7956376" y="4749083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en-US" sz="1400" b="1" baseline="-25000" dirty="0">
                <a:solidFill>
                  <a:schemeClr val="tx1"/>
                </a:solidFill>
              </a:rPr>
              <a:t>ka-1</a:t>
            </a:r>
          </a:p>
        </p:txBody>
      </p:sp>
      <p:sp>
        <p:nvSpPr>
          <p:cNvPr id="63" name="Rechteck 62"/>
          <p:cNvSpPr/>
          <p:nvPr/>
        </p:nvSpPr>
        <p:spPr>
          <a:xfrm>
            <a:off x="8388424" y="4749083"/>
            <a:ext cx="432048" cy="2160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72000"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b</a:t>
            </a:r>
            <a:r>
              <a:rPr lang="en-US" sz="1200" b="1" baseline="-25000" dirty="0" err="1">
                <a:solidFill>
                  <a:schemeClr val="tx1"/>
                </a:solidFill>
              </a:rPr>
              <a:t>ka</a:t>
            </a:r>
            <a:endParaRPr lang="en-US" sz="1200" b="1" baseline="-25000" dirty="0">
              <a:solidFill>
                <a:schemeClr val="tx1"/>
              </a:solidFill>
            </a:endParaRPr>
          </a:p>
        </p:txBody>
      </p:sp>
      <p:sp>
        <p:nvSpPr>
          <p:cNvPr id="64" name="Geschweifte Klammer rechts 63"/>
          <p:cNvSpPr/>
          <p:nvPr/>
        </p:nvSpPr>
        <p:spPr>
          <a:xfrm rot="5400000">
            <a:off x="2087724" y="4209023"/>
            <a:ext cx="216024" cy="1728192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feld 64"/>
          <p:cNvSpPr txBox="1"/>
          <p:nvPr/>
        </p:nvSpPr>
        <p:spPr>
          <a:xfrm>
            <a:off x="2043331" y="525313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1</a:t>
            </a:r>
          </a:p>
        </p:txBody>
      </p:sp>
      <p:sp>
        <p:nvSpPr>
          <p:cNvPr id="66" name="Geschweifte Klammer rechts 65"/>
          <p:cNvSpPr/>
          <p:nvPr/>
        </p:nvSpPr>
        <p:spPr>
          <a:xfrm rot="5400000">
            <a:off x="7848364" y="4209023"/>
            <a:ext cx="216024" cy="1728192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feld 66"/>
          <p:cNvSpPr txBox="1"/>
          <p:nvPr/>
        </p:nvSpPr>
        <p:spPr>
          <a:xfrm>
            <a:off x="7803971" y="52615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baseline="-25000" dirty="0" err="1"/>
              <a:t>k</a:t>
            </a:r>
            <a:endParaRPr lang="en-US" baseline="-25000" dirty="0"/>
          </a:p>
        </p:txBody>
      </p:sp>
      <p:sp>
        <p:nvSpPr>
          <p:cNvPr id="68" name="Rechteck 67"/>
          <p:cNvSpPr/>
          <p:nvPr/>
        </p:nvSpPr>
        <p:spPr>
          <a:xfrm>
            <a:off x="2594915" y="6058512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sk</a:t>
            </a:r>
            <a:r>
              <a:rPr lang="en-US" sz="1400" b="1" baseline="-25000" dirty="0">
                <a:solidFill>
                  <a:schemeClr val="tx1"/>
                </a:solidFill>
              </a:rPr>
              <a:t>i1</a:t>
            </a:r>
          </a:p>
        </p:txBody>
      </p:sp>
      <p:sp>
        <p:nvSpPr>
          <p:cNvPr id="69" name="Geschweifte Klammer rechts 68"/>
          <p:cNvSpPr/>
          <p:nvPr/>
        </p:nvSpPr>
        <p:spPr>
          <a:xfrm rot="5400000">
            <a:off x="4963851" y="-628097"/>
            <a:ext cx="207635" cy="7488832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hteck 69"/>
          <p:cNvSpPr/>
          <p:nvPr/>
        </p:nvSpPr>
        <p:spPr>
          <a:xfrm>
            <a:off x="6477764" y="6053616"/>
            <a:ext cx="936104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sk</a:t>
            </a:r>
            <a:r>
              <a:rPr lang="en-US" sz="1400" b="1" baseline="-25000" dirty="0" err="1">
                <a:solidFill>
                  <a:schemeClr val="tx1"/>
                </a:solidFill>
              </a:rPr>
              <a:t>ik</a:t>
            </a:r>
            <a:endParaRPr lang="en-US" sz="1400" b="1" baseline="-25000" dirty="0">
              <a:solidFill>
                <a:schemeClr val="tx1"/>
              </a:solidFill>
            </a:endParaRPr>
          </a:p>
        </p:txBody>
      </p:sp>
      <p:sp>
        <p:nvSpPr>
          <p:cNvPr id="71" name="Flussdiagramm: Manuelle Verarbeitung 70"/>
          <p:cNvSpPr/>
          <p:nvPr/>
        </p:nvSpPr>
        <p:spPr>
          <a:xfrm>
            <a:off x="2627784" y="5189520"/>
            <a:ext cx="864096" cy="504056"/>
          </a:xfrm>
          <a:prstGeom prst="flowChartManualOpe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Mux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2" name="Flussdiagramm: Manuelle Verarbeitung 71"/>
          <p:cNvSpPr/>
          <p:nvPr/>
        </p:nvSpPr>
        <p:spPr>
          <a:xfrm>
            <a:off x="6516216" y="5189520"/>
            <a:ext cx="864096" cy="504056"/>
          </a:xfrm>
          <a:prstGeom prst="flowChartManualOpe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Mux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3" name="Gerade Verbindung mit Pfeil 72"/>
          <p:cNvCxnSpPr>
            <a:stCxn id="65" idx="3"/>
            <a:endCxn id="71" idx="1"/>
          </p:cNvCxnSpPr>
          <p:nvPr/>
        </p:nvCxnSpPr>
        <p:spPr>
          <a:xfrm>
            <a:off x="2475381" y="5437807"/>
            <a:ext cx="238815" cy="3743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/>
          <p:cNvCxnSpPr>
            <a:stCxn id="67" idx="1"/>
            <a:endCxn id="72" idx="3"/>
          </p:cNvCxnSpPr>
          <p:nvPr/>
        </p:nvCxnSpPr>
        <p:spPr>
          <a:xfrm flipH="1" flipV="1">
            <a:off x="7293904" y="5441548"/>
            <a:ext cx="510069" cy="464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/>
          <p:cNvCxnSpPr>
            <a:endCxn id="71" idx="0"/>
          </p:cNvCxnSpPr>
          <p:nvPr/>
        </p:nvCxnSpPr>
        <p:spPr>
          <a:xfrm flipH="1">
            <a:off x="3059832" y="3236917"/>
            <a:ext cx="2016224" cy="195260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/>
          <p:cNvCxnSpPr>
            <a:endCxn id="72" idx="0"/>
          </p:cNvCxnSpPr>
          <p:nvPr/>
        </p:nvCxnSpPr>
        <p:spPr>
          <a:xfrm>
            <a:off x="5076056" y="3236917"/>
            <a:ext cx="1872208" cy="1952605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/>
          <p:cNvCxnSpPr>
            <a:stCxn id="71" idx="2"/>
            <a:endCxn id="68" idx="0"/>
          </p:cNvCxnSpPr>
          <p:nvPr/>
        </p:nvCxnSpPr>
        <p:spPr>
          <a:xfrm>
            <a:off x="3059834" y="5693576"/>
            <a:ext cx="3135" cy="36493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mit Pfeil 86"/>
          <p:cNvCxnSpPr>
            <a:stCxn id="72" idx="2"/>
            <a:endCxn id="70" idx="0"/>
          </p:cNvCxnSpPr>
          <p:nvPr/>
        </p:nvCxnSpPr>
        <p:spPr>
          <a:xfrm flipH="1">
            <a:off x="6945816" y="5693576"/>
            <a:ext cx="2448" cy="360040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Ellipse 90"/>
          <p:cNvSpPr/>
          <p:nvPr/>
        </p:nvSpPr>
        <p:spPr>
          <a:xfrm>
            <a:off x="4499992" y="6117235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92" name="Ellipse 91"/>
          <p:cNvSpPr/>
          <p:nvPr/>
        </p:nvSpPr>
        <p:spPr>
          <a:xfrm>
            <a:off x="5004048" y="6117235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93" name="Ellipse 92"/>
          <p:cNvSpPr/>
          <p:nvPr/>
        </p:nvSpPr>
        <p:spPr>
          <a:xfrm>
            <a:off x="5508104" y="6117235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475849" y="2699427"/>
            <a:ext cx="839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699" y="3748750"/>
            <a:ext cx="839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9135" y="4636425"/>
            <a:ext cx="724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dirty="0" smtClean="0"/>
              <a:t>H’(M)</a:t>
            </a:r>
          </a:p>
        </p:txBody>
      </p:sp>
    </p:spTree>
    <p:extLst>
      <p:ext uri="{BB962C8B-B14F-4D97-AF65-F5344CB8AC3E}">
        <p14:creationId xmlns:p14="http://schemas.microsoft.com/office/powerpoint/2010/main" val="336681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85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7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88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1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4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6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7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9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0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3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5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6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8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9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1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2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4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5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7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8" dur="indefinite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0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1" dur="indefinite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3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4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6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7" dur="indefinite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9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0" dur="indefinite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2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3" dur="indefinite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5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6" dur="indefinite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8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9" dur="indefinite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1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2" dur="indefinite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4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5" dur="indefinite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2" grpId="0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  <p:bldP spid="44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/>
      <p:bldP spid="66" grpId="0" animBg="1"/>
      <p:bldP spid="67" grpId="0"/>
      <p:bldP spid="68" grpId="0" animBg="1"/>
      <p:bldP spid="69" grpId="0" animBg="1"/>
      <p:bldP spid="70" grpId="0" animBg="1"/>
      <p:bldP spid="71" grpId="0" animBg="1"/>
      <p:bldP spid="72" grpId="0" animBg="1"/>
      <p:bldP spid="91" grpId="0" animBg="1"/>
      <p:bldP spid="92" grpId="0" animBg="1"/>
      <p:bldP spid="9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HORS Security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mapped to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element index 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{1,…,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de-DE" baseline="30000" dirty="0"/>
              </a:p>
              <a:p>
                <a:r>
                  <a:rPr lang="de-DE" dirty="0"/>
                  <a:t>Each signature publishes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dirty="0"/>
                  <a:t> out of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dirty="0"/>
                  <a:t> secrets</a:t>
                </a:r>
                <a:r>
                  <a:rPr lang="en-US" dirty="0"/>
                  <a:t>  </a:t>
                </a:r>
              </a:p>
              <a:p>
                <a:r>
                  <a:rPr lang="en-US" dirty="0"/>
                  <a:t>Either break one-</a:t>
                </a:r>
                <a:r>
                  <a:rPr lang="en-US" dirty="0" err="1"/>
                  <a:t>wayness</a:t>
                </a:r>
                <a:r>
                  <a:rPr lang="en-US" dirty="0"/>
                  <a:t> or…</a:t>
                </a:r>
              </a:p>
              <a:p>
                <a:endParaRPr lang="en-US" dirty="0"/>
              </a:p>
              <a:p>
                <a:r>
                  <a:rPr lang="en-US" dirty="0"/>
                  <a:t>r-Subset-Resilience: After seeing index sets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baseline="30000" dirty="0"/>
                  <a:t>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𝑚𝑠𝑔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, 1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hard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𝑚𝑠𝑔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𝑚𝑠𝑔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 ≤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endParaRPr lang="en-US" baseline="-25000" dirty="0"/>
              </a:p>
              <a:p>
                <a:r>
                  <a:rPr lang="en-US" dirty="0"/>
                  <a:t>Best generic attack: </a:t>
                </a:r>
                <a:r>
                  <a:rPr lang="en-US" dirty="0" err="1"/>
                  <a:t>Succ</a:t>
                </a:r>
                <a:r>
                  <a:rPr lang="en-US" baseline="-25000" dirty="0" err="1"/>
                  <a:t>r</a:t>
                </a:r>
                <a:r>
                  <a:rPr lang="en-US" baseline="-25000" dirty="0"/>
                  <a:t>-SSR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i="1" dirty="0">
                                    <a:latin typeface="Cambria Math" panose="02040503050406030204" pitchFamily="18" charset="0"/>
                                  </a:rPr>
                                  <m:t>𝑟𝑘</m:t>
                                </m:r>
                              </m:num>
                              <m:den>
                                <m:r>
                                  <a:rPr lang="de-DE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baseline="30000" dirty="0"/>
              </a:p>
              <a:p>
                <a:pPr>
                  <a:buNone/>
                </a:pPr>
                <a:r>
                  <a:rPr lang="en-US" dirty="0">
                    <a:latin typeface="Times New Roman"/>
                    <a:cs typeface="Times New Roman"/>
                  </a:rPr>
                  <a:t>→ </a:t>
                </a:r>
                <a:r>
                  <a:rPr lang="en-US" dirty="0"/>
                  <a:t>Security shrinks with each signature!</a:t>
                </a:r>
              </a:p>
              <a:p>
                <a:pPr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82</a:t>
            </a:fld>
            <a:endParaRPr lang="nl-NL"/>
          </a:p>
        </p:txBody>
      </p:sp>
      <p:sp>
        <p:nvSpPr>
          <p:cNvPr id="7" name="Pfeil nach rechts 6"/>
          <p:cNvSpPr/>
          <p:nvPr/>
        </p:nvSpPr>
        <p:spPr>
          <a:xfrm rot="6118310">
            <a:off x="5690393" y="4471598"/>
            <a:ext cx="485607" cy="3642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2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HORST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Using HORS with MSS requires adding PK (</a:t>
            </a:r>
            <a:r>
              <a:rPr lang="en-US" dirty="0" err="1" smtClean="0"/>
              <a:t>tn</a:t>
            </a:r>
            <a:r>
              <a:rPr lang="en-US" dirty="0" smtClean="0"/>
              <a:t>) to MSS signature.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HORST: </a:t>
            </a:r>
            <a:r>
              <a:rPr lang="en-US" dirty="0" err="1" smtClean="0"/>
              <a:t>Merkle</a:t>
            </a:r>
            <a:r>
              <a:rPr lang="en-US" dirty="0" smtClean="0"/>
              <a:t> Tree on top of HORS-PK</a:t>
            </a:r>
          </a:p>
          <a:p>
            <a:r>
              <a:rPr lang="en-US" dirty="0" smtClean="0"/>
              <a:t>New PK = Root</a:t>
            </a:r>
          </a:p>
          <a:p>
            <a:r>
              <a:rPr lang="en-US" dirty="0" smtClean="0"/>
              <a:t>Publish Authentication Paths for HORS signature values</a:t>
            </a:r>
          </a:p>
          <a:p>
            <a:r>
              <a:rPr lang="en-US" dirty="0" smtClean="0"/>
              <a:t>PK can be computed from Sig</a:t>
            </a:r>
          </a:p>
          <a:p>
            <a:r>
              <a:rPr lang="en-US" dirty="0" smtClean="0"/>
              <a:t>With optimizations: </a:t>
            </a:r>
            <a:r>
              <a:rPr lang="en-US" dirty="0" err="1" smtClean="0"/>
              <a:t>tn</a:t>
            </a:r>
            <a:r>
              <a:rPr lang="en-US" dirty="0" smtClean="0"/>
              <a:t> </a:t>
            </a:r>
            <a:r>
              <a:rPr lang="en-US" dirty="0" smtClean="0">
                <a:latin typeface="Times New Roman"/>
                <a:cs typeface="Times New Roman"/>
              </a:rPr>
              <a:t>→ </a:t>
            </a:r>
            <a:r>
              <a:rPr lang="pt-BR" dirty="0" smtClean="0"/>
              <a:t>(k(log t − x + 1) + 2</a:t>
            </a:r>
            <a:r>
              <a:rPr lang="pt-BR" baseline="30000" dirty="0" smtClean="0"/>
              <a:t>x</a:t>
            </a:r>
            <a:r>
              <a:rPr lang="pt-BR" dirty="0" smtClean="0"/>
              <a:t>)n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E.g. SPHINCS-256: 2 MB </a:t>
            </a:r>
            <a:r>
              <a:rPr lang="en-US" dirty="0" smtClean="0">
                <a:latin typeface="Times New Roman"/>
                <a:cs typeface="Times New Roman"/>
              </a:rPr>
              <a:t>→</a:t>
            </a:r>
            <a:r>
              <a:rPr lang="en-US" dirty="0" smtClean="0">
                <a:cs typeface="Times New Roman"/>
              </a:rPr>
              <a:t> </a:t>
            </a:r>
            <a:r>
              <a:rPr lang="en-US" dirty="0" smtClean="0"/>
              <a:t>16 KB</a:t>
            </a:r>
          </a:p>
          <a:p>
            <a:r>
              <a:rPr lang="de-DE" dirty="0" smtClean="0"/>
              <a:t>Use randomized message hash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83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484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SPHINCS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smtClean="0"/>
              <a:t>Stateless Scheme</a:t>
            </a:r>
          </a:p>
          <a:p>
            <a:r>
              <a:rPr lang="de-DE" dirty="0" smtClean="0"/>
              <a:t>XMSS</a:t>
            </a:r>
            <a:r>
              <a:rPr lang="de-DE" baseline="30000" dirty="0" smtClean="0"/>
              <a:t>MT </a:t>
            </a:r>
            <a:r>
              <a:rPr lang="de-DE" dirty="0" smtClean="0"/>
              <a:t>+ HORST </a:t>
            </a:r>
            <a:br>
              <a:rPr lang="de-DE" dirty="0" smtClean="0"/>
            </a:br>
            <a:r>
              <a:rPr lang="de-DE" dirty="0" smtClean="0"/>
              <a:t>+ (pseudo-)random index</a:t>
            </a:r>
          </a:p>
          <a:p>
            <a:r>
              <a:rPr lang="de-DE" dirty="0" smtClean="0"/>
              <a:t>Collision-resilient</a:t>
            </a:r>
          </a:p>
          <a:p>
            <a:r>
              <a:rPr lang="de-DE" dirty="0"/>
              <a:t>D</a:t>
            </a:r>
            <a:r>
              <a:rPr lang="de-DE" dirty="0" smtClean="0"/>
              <a:t>eterministic signing</a:t>
            </a:r>
          </a:p>
          <a:p>
            <a:r>
              <a:rPr lang="de-DE" dirty="0" smtClean="0"/>
              <a:t>SPHINCS-256:</a:t>
            </a:r>
          </a:p>
          <a:p>
            <a:pPr lvl="1"/>
            <a:r>
              <a:rPr lang="de-DE" dirty="0" smtClean="0"/>
              <a:t>128-bit post-quantum secure</a:t>
            </a:r>
          </a:p>
          <a:p>
            <a:pPr lvl="1"/>
            <a:r>
              <a:rPr lang="de-DE" dirty="0" smtClean="0"/>
              <a:t>Hundrest of signatures / sec</a:t>
            </a:r>
          </a:p>
          <a:p>
            <a:pPr lvl="1"/>
            <a:r>
              <a:rPr lang="de-DE" dirty="0" smtClean="0"/>
              <a:t>41 kb signature</a:t>
            </a:r>
          </a:p>
          <a:p>
            <a:pPr lvl="1"/>
            <a:r>
              <a:rPr lang="de-DE" dirty="0" smtClean="0"/>
              <a:t>1 kb keys</a:t>
            </a:r>
          </a:p>
          <a:p>
            <a:endParaRPr lang="en-US" baseline="30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71795" y="996678"/>
            <a:ext cx="2882315" cy="566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429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Open research topics 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More efficient few-time signatures</a:t>
            </a:r>
          </a:p>
          <a:p>
            <a:r>
              <a:rPr lang="de-DE" dirty="0" smtClean="0"/>
              <a:t>Different constructions?</a:t>
            </a:r>
          </a:p>
          <a:p>
            <a:r>
              <a:rPr lang="de-DE" dirty="0" smtClean="0"/>
              <a:t>...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86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196754"/>
            <a:ext cx="7993062" cy="2813869"/>
          </a:xfrm>
        </p:spPr>
        <p:txBody>
          <a:bodyPr/>
          <a:lstStyle/>
          <a:p>
            <a:pPr algn="ctr">
              <a:buNone/>
            </a:pPr>
            <a:r>
              <a:rPr lang="en-US" sz="4400" dirty="0"/>
              <a:t>Thank you!</a:t>
            </a:r>
          </a:p>
          <a:p>
            <a:pPr algn="ctr">
              <a:buNone/>
            </a:pPr>
            <a:r>
              <a:rPr lang="en-US" sz="4400" dirty="0"/>
              <a:t>Questions?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A31A-19F3-4674-BE2B-B5E7D030595A}" type="datetime1">
              <a:rPr lang="nl-NL" smtClean="0"/>
              <a:pPr/>
              <a:t>23-2-2016</a:t>
            </a:fld>
            <a:endParaRPr lang="nl-NL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smtClean="0"/>
              <a:t>PAGE </a:t>
            </a:r>
            <a:fld id="{F6191C09-C392-4E8C-984F-AEB7D870D5B3}" type="slidenum">
              <a:rPr lang="nl-NL" smtClean="0"/>
              <a:pPr/>
              <a:t>86</a:t>
            </a:fld>
            <a:endParaRPr lang="nl-NL"/>
          </a:p>
        </p:txBody>
      </p:sp>
      <p:pic>
        <p:nvPicPr>
          <p:cNvPr id="6" name="Picture 2" descr="http://www.beratung-kreativ.de/images/Kommunikation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2780928"/>
            <a:ext cx="4067944" cy="262127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395536" y="5589242"/>
            <a:ext cx="842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For references &amp; further literature see </a:t>
            </a:r>
            <a:br>
              <a:rPr lang="de-DE" dirty="0"/>
            </a:br>
            <a:r>
              <a:rPr lang="de-DE" dirty="0"/>
              <a:t>https://huelsing.wordpress.com/hash-based-signature-schemes/literature/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52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127267E49BCD84FBB6AA6858DB34F1F" ma:contentTypeVersion="0" ma:contentTypeDescription="Utwórz nowy dokument." ma:contentTypeScope="" ma:versionID="af9a9cfaea384b70305cce348b577a8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9c3355694ef07f3b0049d7c3f9e2aa1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45C893-8DFE-45AB-BB97-F45AE8728D29}"/>
</file>

<file path=customXml/itemProps2.xml><?xml version="1.0" encoding="utf-8"?>
<ds:datastoreItem xmlns:ds="http://schemas.openxmlformats.org/officeDocument/2006/customXml" ds:itemID="{058B0543-523A-49AC-8E51-4389D964A7A8}"/>
</file>

<file path=customXml/itemProps3.xml><?xml version="1.0" encoding="utf-8"?>
<ds:datastoreItem xmlns:ds="http://schemas.openxmlformats.org/officeDocument/2006/customXml" ds:itemID="{7E8B4049-4FD3-42FA-86BA-E5A45EC3604F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11130</TotalTime>
  <Words>2530</Words>
  <Application>Microsoft Office PowerPoint</Application>
  <PresentationFormat>On-screen Show (4:3)</PresentationFormat>
  <Paragraphs>1161</Paragraphs>
  <Slides>86</Slides>
  <Notes>10</Notes>
  <HiddenSlides>3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86</vt:i4>
      </vt:variant>
    </vt:vector>
  </HeadingPairs>
  <TitlesOfParts>
    <vt:vector size="99" baseType="lpstr">
      <vt:lpstr>Arial</vt:lpstr>
      <vt:lpstr>Bitstream Charter</vt:lpstr>
      <vt:lpstr>Calibri</vt:lpstr>
      <vt:lpstr>Calibri Light</vt:lpstr>
      <vt:lpstr>Cambria Math</vt:lpstr>
      <vt:lpstr>French Script MT</vt:lpstr>
      <vt:lpstr>Stafford</vt:lpstr>
      <vt:lpstr>Times New Roman</vt:lpstr>
      <vt:lpstr>Verdana</vt:lpstr>
      <vt:lpstr>Wingdings</vt:lpstr>
      <vt:lpstr>Office Theme</vt:lpstr>
      <vt:lpstr>Formel</vt:lpstr>
      <vt:lpstr>Equation</vt:lpstr>
      <vt:lpstr>Hash-based Signatures  </vt:lpstr>
      <vt:lpstr>Post-Quantum Signatures</vt:lpstr>
      <vt:lpstr>Hash-based Signature Schemes [Mer89]</vt:lpstr>
      <vt:lpstr>RSA – DSA – EC-DSA...</vt:lpstr>
      <vt:lpstr>Hash function families</vt:lpstr>
      <vt:lpstr>(Hash) function families</vt:lpstr>
      <vt:lpstr>One-wayness</vt:lpstr>
      <vt:lpstr>Collision resistance</vt:lpstr>
      <vt:lpstr>Second-preimage resistance</vt:lpstr>
      <vt:lpstr>Undetectability</vt:lpstr>
      <vt:lpstr>Pseudorandomness</vt:lpstr>
      <vt:lpstr>Generic security </vt:lpstr>
      <vt:lpstr>Generic Security - OWF</vt:lpstr>
      <vt:lpstr>Generic Security - OWF</vt:lpstr>
      <vt:lpstr>Generic Security</vt:lpstr>
      <vt:lpstr>Hash-function properties </vt:lpstr>
      <vt:lpstr>Attacks on Hash Functions</vt:lpstr>
      <vt:lpstr>PowerPoint Presentation</vt:lpstr>
      <vt:lpstr>Lamport-Diffie OTS [Lam79]</vt:lpstr>
      <vt:lpstr>EU-CMA for OTS</vt:lpstr>
      <vt:lpstr>Security</vt:lpstr>
      <vt:lpstr>Reduction</vt:lpstr>
      <vt:lpstr>Reduction</vt:lpstr>
      <vt:lpstr>Reduction</vt:lpstr>
      <vt:lpstr>Reduction - Analysis</vt:lpstr>
      <vt:lpstr>Merkle’s Hash-based Signatures</vt:lpstr>
      <vt:lpstr>Security</vt:lpstr>
      <vt:lpstr>Reduction</vt:lpstr>
      <vt:lpstr>Reduction (Step 4, Extraction)</vt:lpstr>
      <vt:lpstr>Winternitz-OTS</vt:lpstr>
      <vt:lpstr>Recap LD-OTS [Lam79]</vt:lpstr>
      <vt:lpstr>LD-OTS in MSS</vt:lpstr>
      <vt:lpstr>Trivial Optimization</vt:lpstr>
      <vt:lpstr>Optimized LD-OTS in MSS</vt:lpstr>
      <vt:lpstr>Germans love their „Ordnung“!</vt:lpstr>
      <vt:lpstr>Optimized LD-OTS</vt:lpstr>
      <vt:lpstr>Function chains</vt:lpstr>
      <vt:lpstr>WOTS </vt:lpstr>
      <vt:lpstr>WOTS Signature generation</vt:lpstr>
      <vt:lpstr>WOTS Signature Verification</vt:lpstr>
      <vt:lpstr>WOTS Function Chains</vt:lpstr>
      <vt:lpstr>WOTS Security</vt:lpstr>
      <vt:lpstr>WOTS Sizes and Runtimes</vt:lpstr>
      <vt:lpstr>XMSS</vt:lpstr>
      <vt:lpstr>XMSS</vt:lpstr>
      <vt:lpstr>Multi-Tree XMSS</vt:lpstr>
      <vt:lpstr>Authentication path computation</vt:lpstr>
      <vt:lpstr>TreeHash (Mer89)</vt:lpstr>
      <vt:lpstr>TreeHash</vt:lpstr>
      <vt:lpstr>TreeHash</vt:lpstr>
      <vt:lpstr>TreeHash</vt:lpstr>
      <vt:lpstr>PowerPoint Presentation</vt:lpstr>
      <vt:lpstr>The BDS Algorithm [BDS08]</vt:lpstr>
      <vt:lpstr>PowerPoint Presentation</vt:lpstr>
      <vt:lpstr>Use a State</vt:lpstr>
      <vt:lpstr>Authentication Paths</vt:lpstr>
      <vt:lpstr>PowerPoint Presentation</vt:lpstr>
      <vt:lpstr>PowerPoint Presentation</vt:lpstr>
      <vt:lpstr>Computing Left Nodes</vt:lpstr>
      <vt:lpstr>PowerPoint Presentation</vt:lpstr>
      <vt:lpstr>PowerPoint Presentation</vt:lpstr>
      <vt:lpstr>Distribute Computation</vt:lpstr>
      <vt:lpstr>PowerPoint Presentation</vt:lpstr>
      <vt:lpstr>TreeHash with Updates</vt:lpstr>
      <vt:lpstr>PowerPoint Presentation</vt:lpstr>
      <vt:lpstr>PowerPoint Presentation</vt:lpstr>
      <vt:lpstr>PowerPoint Presentation</vt:lpstr>
      <vt:lpstr>XMSS in practice</vt:lpstr>
      <vt:lpstr>PowerPoint Presentation</vt:lpstr>
      <vt:lpstr>XMSS Internet-Draft (draft-irtf-cfrg-xmss-hash-based-signatures)</vt:lpstr>
      <vt:lpstr>PowerPoint Presentation</vt:lpstr>
      <vt:lpstr>Open research topics</vt:lpstr>
      <vt:lpstr>SPHINCS</vt:lpstr>
      <vt:lpstr>About the statefulness</vt:lpstr>
      <vt:lpstr>PowerPoint Presentation</vt:lpstr>
      <vt:lpstr>Protest?</vt:lpstr>
      <vt:lpstr>PowerPoint Presentation</vt:lpstr>
      <vt:lpstr>Recap LD-OTS</vt:lpstr>
      <vt:lpstr>HORS [RR02]</vt:lpstr>
      <vt:lpstr>HORS mapping function</vt:lpstr>
      <vt:lpstr>HORS</vt:lpstr>
      <vt:lpstr>HORS Security</vt:lpstr>
      <vt:lpstr>HORST</vt:lpstr>
      <vt:lpstr>SPHINCS</vt:lpstr>
      <vt:lpstr>Open research topics II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Hash-based Signatures</dc:title>
  <dc:creator>huelsing</dc:creator>
  <cp:lastModifiedBy>huelsing</cp:lastModifiedBy>
  <cp:revision>70</cp:revision>
  <dcterms:created xsi:type="dcterms:W3CDTF">2015-06-01T12:22:23Z</dcterms:created>
  <dcterms:modified xsi:type="dcterms:W3CDTF">2016-02-23T06:03:55Z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0x0101007127267E49BCD84FBB6AA6858DB34F1F</vt:lpwstr>
  </property>
</Properties>
</file>